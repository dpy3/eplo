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80" r:id="rId2"/>
    <p:sldId id="258" r:id="rId3"/>
    <p:sldId id="474" r:id="rId4"/>
    <p:sldId id="475" r:id="rId5"/>
    <p:sldId id="260" r:id="rId6"/>
    <p:sldId id="477" r:id="rId7"/>
    <p:sldId id="488" r:id="rId8"/>
    <p:sldId id="489" r:id="rId9"/>
    <p:sldId id="492" r:id="rId10"/>
    <p:sldId id="490" r:id="rId11"/>
    <p:sldId id="479" r:id="rId12"/>
    <p:sldId id="491" r:id="rId13"/>
    <p:sldId id="487" r:id="rId14"/>
    <p:sldId id="476" r:id="rId15"/>
    <p:sldId id="493" r:id="rId16"/>
    <p:sldId id="486" r:id="rId17"/>
    <p:sldId id="484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9B7"/>
    <a:srgbClr val="8C1515"/>
    <a:srgbClr val="B70031"/>
    <a:srgbClr val="6B02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AE505-B7CA-4E96-AE4D-61AFDB83C737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12726-83B8-45B8-96BB-E4D4FAD8F0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82200" y="-256656"/>
            <a:ext cx="2144905" cy="1286944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5033" y="642561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B521-2E2E-41B2-9433-69364D5DDA0F}" type="datetimeFigureOut">
              <a:rPr lang="zh-CN" altLang="en-US" smtClean="0"/>
              <a:t>2025/6/24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" b="7904"/>
          <a:stretch>
            <a:fillRect/>
          </a:stretch>
        </p:blipFill>
        <p:spPr bwMode="auto">
          <a:xfrm>
            <a:off x="0" y="2107758"/>
            <a:ext cx="12215445" cy="302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-12065" y="2107758"/>
            <a:ext cx="12215445" cy="3023423"/>
          </a:xfrm>
          <a:prstGeom prst="rect">
            <a:avLst/>
          </a:prstGeom>
          <a:solidFill>
            <a:schemeClr val="accent1">
              <a:lumMod val="100000"/>
              <a:alpha val="81961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655621" y="6073294"/>
            <a:ext cx="7205735" cy="338554"/>
            <a:chOff x="415917" y="6056049"/>
            <a:chExt cx="7205735" cy="338554"/>
          </a:xfrm>
        </p:grpSpPr>
        <p:sp>
          <p:nvSpPr>
            <p:cNvPr id="7" name="TextBox 14"/>
            <p:cNvSpPr txBox="1"/>
            <p:nvPr/>
          </p:nvSpPr>
          <p:spPr>
            <a:xfrm>
              <a:off x="415917" y="6056049"/>
              <a:ext cx="16052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汇报人：段芃宇</a:t>
              </a:r>
            </a:p>
          </p:txBody>
        </p:sp>
        <p:sp>
          <p:nvSpPr>
            <p:cNvPr id="8" name="TextBox 28"/>
            <p:cNvSpPr txBox="1"/>
            <p:nvPr/>
          </p:nvSpPr>
          <p:spPr>
            <a:xfrm>
              <a:off x="2741384" y="6056049"/>
              <a:ext cx="124333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PPT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制作：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 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13A89">
                    <a:lumMod val="10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9" name="TextBox 90"/>
            <p:cNvSpPr txBox="1"/>
            <p:nvPr/>
          </p:nvSpPr>
          <p:spPr>
            <a:xfrm>
              <a:off x="5295374" y="6056049"/>
              <a:ext cx="2326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日期：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2024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年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06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月</a:t>
              </a:r>
              <a:r>
                <a:rPr lang="en-US" altLang="zh-CN" sz="1600" b="1" dirty="0">
                  <a:solidFill>
                    <a:srgbClr val="013A89">
                      <a:lumMod val="100000"/>
                    </a:srgbClr>
                  </a:solidFill>
                  <a:latin typeface="Arial" panose="020B0604020202020204"/>
                  <a:ea typeface="微软雅黑" panose="020B0503020204020204" charset="-122"/>
                  <a:cs typeface="+mn-ea"/>
                </a:rPr>
                <a:t>28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A89">
                      <a:lumMod val="10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日</a:t>
              </a:r>
            </a:p>
          </p:txBody>
        </p:sp>
      </p:grpSp>
      <p:sp>
        <p:nvSpPr>
          <p:cNvPr id="11" name="Rectangle 9"/>
          <p:cNvSpPr/>
          <p:nvPr/>
        </p:nvSpPr>
        <p:spPr>
          <a:xfrm>
            <a:off x="1320800" y="2472055"/>
            <a:ext cx="95504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Arial" charset="0"/>
              </a:rPr>
              <a:t>会议论文汇报</a:t>
            </a:r>
            <a:endParaRPr lang="en-US" altLang="zh-CN" sz="40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Arial" charset="0"/>
            </a:endParaRPr>
          </a:p>
          <a:p>
            <a:pPr algn="ctr"/>
            <a:r>
              <a:rPr lang="zh-CN" altLang="en-US" sz="4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双导向自适应多策略动态燕麦优化算法（</a:t>
            </a: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DAOA</a:t>
            </a:r>
            <a:r>
              <a:rPr lang="zh-CN" altLang="en-US" sz="4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0" y="5517605"/>
            <a:ext cx="5049649" cy="17338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6970818" y="5517605"/>
            <a:ext cx="5329778" cy="0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</a:ln>
          <a:effectLst/>
        </p:spPr>
      </p:cxnSp>
      <p:sp>
        <p:nvSpPr>
          <p:cNvPr id="25" name="文本框 24"/>
          <p:cNvSpPr txBox="1"/>
          <p:nvPr/>
        </p:nvSpPr>
        <p:spPr>
          <a:xfrm>
            <a:off x="4480079" y="5278821"/>
            <a:ext cx="3184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3A89">
                    <a:lumMod val="100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惟真求新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13A89">
                  <a:lumMod val="100000"/>
                </a:srgb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3143" y="-769947"/>
            <a:ext cx="6249843" cy="374990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538345" y="4723130"/>
            <a:ext cx="3139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8" b="7128"/>
          <a:stretch>
            <a:fillRect/>
          </a:stretch>
        </p:blipFill>
        <p:spPr>
          <a:xfrm>
            <a:off x="0" y="-4272"/>
            <a:ext cx="12192000" cy="30732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4272"/>
            <a:ext cx="12191997" cy="3073231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3431702" y="5244185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5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ea"/>
              </a:rPr>
              <a:t>引言</a:t>
            </a:r>
            <a:endParaRPr lang="zh-CN" altLang="en-US" sz="5400" dirty="0">
              <a:solidFill>
                <a:srgbClr val="768394">
                  <a:lumMod val="75000"/>
                </a:srgbClr>
              </a:solidFill>
              <a:latin typeface="Arial" panose="020B0604020202020204"/>
              <a:ea typeface="微软雅黑" panose="020B0503020204020204" charset="-122"/>
              <a:cs typeface="+mn-ea"/>
            </a:endParaRPr>
          </a:p>
          <a:p>
            <a:pPr algn="l"/>
            <a:endParaRPr lang="zh-CN" altLang="en-US" sz="5400" dirty="0">
              <a:solidFill>
                <a:srgbClr val="768394">
                  <a:lumMod val="75000"/>
                </a:srgbClr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  <a:p>
            <a:pPr algn="l"/>
            <a:r>
              <a:rPr lang="zh-CN" altLang="en-US" sz="54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2208200" y="5490719"/>
            <a:ext cx="7776866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endParaRPr lang="zh-CN" altLang="en-US" sz="2000" dirty="0">
              <a:solidFill>
                <a:schemeClr val="accen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01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9646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引言 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193E073-65BF-BFA3-862D-0ACBB7E5D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246" y="3578909"/>
            <a:ext cx="3100754" cy="327909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A47FE63-CDF5-79A7-8086-6394991DE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9644" y="805681"/>
            <a:ext cx="1751281" cy="261441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AC8AD66-6E6F-3897-296A-B56F668B43D9}"/>
              </a:ext>
            </a:extLst>
          </p:cNvPr>
          <p:cNvSpPr txBox="1"/>
          <p:nvPr/>
        </p:nvSpPr>
        <p:spPr>
          <a:xfrm>
            <a:off x="362124" y="805681"/>
            <a:ext cx="70820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原始 </a:t>
            </a:r>
            <a:r>
              <a:rPr lang="en-US" altLang="zh-CN" b="1" dirty="0"/>
              <a:t>AOO </a:t>
            </a:r>
            <a:r>
              <a:rPr lang="zh-CN" altLang="en-US" b="1" dirty="0"/>
              <a:t>算法概述及局限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AOO</a:t>
            </a:r>
            <a:r>
              <a:rPr lang="zh-CN" altLang="en-US" dirty="0"/>
              <a:t>（</a:t>
            </a:r>
            <a:r>
              <a:rPr lang="en-US" altLang="zh-CN" dirty="0"/>
              <a:t>Animated Oat Optimization</a:t>
            </a:r>
            <a:r>
              <a:rPr lang="zh-CN" altLang="en-US" dirty="0"/>
              <a:t>）算法灵感：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来源于野燕麦种子湿度驱动的卷曲、滚动与能量弹射机制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探索：随机扩散；利用：卷动＋弹射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主要不足：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随机初始化种群多样性差，覆盖不均匀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探索</a:t>
            </a:r>
            <a:r>
              <a:rPr lang="en-US" altLang="zh-CN" dirty="0"/>
              <a:t>/</a:t>
            </a:r>
            <a:r>
              <a:rPr lang="zh-CN" altLang="en-US" dirty="0"/>
              <a:t>开发概率固定，早期易陷入局部，后期精度不足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Lévy </a:t>
            </a:r>
            <a:r>
              <a:rPr lang="zh-CN" altLang="en-US" dirty="0"/>
              <a:t>飞行与弹射步长过大，后期收敛不稳定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缺乏有效的跳出局部最优策略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仅利用全局最优，忽略种群整体趋势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8" b="7128"/>
          <a:stretch>
            <a:fillRect/>
          </a:stretch>
        </p:blipFill>
        <p:spPr>
          <a:xfrm>
            <a:off x="0" y="-4272"/>
            <a:ext cx="12192000" cy="30732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4272"/>
            <a:ext cx="12191997" cy="3073231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5390677" y="4974310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5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方法</a:t>
            </a:r>
          </a:p>
          <a:p>
            <a:pPr algn="l"/>
            <a:r>
              <a:rPr lang="zh-CN" altLang="en-US" sz="54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5984545" y="4664584"/>
            <a:ext cx="7776866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endParaRPr lang="zh-CN" altLang="en-US" sz="2000" dirty="0">
              <a:solidFill>
                <a:schemeClr val="accen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0253" y="2386575"/>
            <a:ext cx="167513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02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022081" y="500344"/>
              <a:ext cx="6439798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7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4200" dirty="0"/>
                <a:t>策略一：对立学习初始化</a:t>
              </a:r>
              <a:endParaRPr lang="en-US" altLang="zh-CN" sz="4200" dirty="0"/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 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F35A4C2-D3DE-516A-46DA-C9DD15611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22"/>
          <a:stretch>
            <a:fillRect/>
          </a:stretch>
        </p:blipFill>
        <p:spPr>
          <a:xfrm>
            <a:off x="392209" y="2510995"/>
            <a:ext cx="10351477" cy="205508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F5DBB07-90C5-B93A-790D-F589EDFD7950}"/>
              </a:ext>
            </a:extLst>
          </p:cNvPr>
          <p:cNvSpPr txBox="1"/>
          <p:nvPr/>
        </p:nvSpPr>
        <p:spPr>
          <a:xfrm>
            <a:off x="335360" y="806732"/>
            <a:ext cx="10279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随机初始化的局限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传统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AOO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仅在每个维度上从均匀分布中独立采样，生成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个个体。这种方式易在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高维空间出现局部聚簇或盲区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，导致早期全球探索能力不足，影响最终收敛质量。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27B9A75-C08B-7326-5984-E43106D35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09" y="5485509"/>
            <a:ext cx="6424760" cy="94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对立学习扩展了种群的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搜索半径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，使得初始解更均匀分布于可行域各处。在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复杂、多峰问题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中更不易陷入局部区域，为后续的动量更新与局部开发奠定更稳健基础。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143609-FB66-2769-03AC-1DCF86B1ECFB}"/>
              </a:ext>
            </a:extLst>
          </p:cNvPr>
          <p:cNvSpPr txBox="1"/>
          <p:nvPr/>
        </p:nvSpPr>
        <p:spPr>
          <a:xfrm>
            <a:off x="908385" y="449627"/>
            <a:ext cx="60970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策略二：动态探索</a:t>
            </a:r>
            <a:r>
              <a:rPr lang="en-US" altLang="zh-CN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开发调度</a:t>
            </a:r>
            <a:endParaRPr lang="en-US" altLang="zh-CN" sz="2000" b="1" dirty="0">
              <a:solidFill>
                <a:srgbClr val="02428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8A9EEEF-EDE5-168B-9BE9-BB56311E5E2B}"/>
              </a:ext>
            </a:extLst>
          </p:cNvPr>
          <p:cNvSpPr txBox="1"/>
          <p:nvPr/>
        </p:nvSpPr>
        <p:spPr>
          <a:xfrm>
            <a:off x="367840" y="952303"/>
            <a:ext cx="10437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原始 </a:t>
            </a:r>
            <a:r>
              <a:rPr lang="en-US" altLang="zh-CN" dirty="0"/>
              <a:t>AOO </a:t>
            </a:r>
            <a:r>
              <a:rPr lang="zh-CN" altLang="en-US" dirty="0"/>
              <a:t>对“卷动＋弹射”（开发）与“随机扩散”（探索）各分配 </a:t>
            </a:r>
            <a:r>
              <a:rPr lang="en-US" altLang="zh-CN" dirty="0"/>
              <a:t>50% </a:t>
            </a:r>
            <a:r>
              <a:rPr lang="zh-CN" altLang="en-US" dirty="0"/>
              <a:t>的固定概率，导致早期迭代过早进入开发，易陷入局部最优，后期迭代仍保持较高探索比例，影响收敛精度。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F66205-DF23-4F92-E65B-0A35555CCC97}"/>
              </a:ext>
            </a:extLst>
          </p:cNvPr>
          <p:cNvSpPr txBox="1"/>
          <p:nvPr/>
        </p:nvSpPr>
        <p:spPr>
          <a:xfrm>
            <a:off x="392209" y="2408311"/>
            <a:ext cx="743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定义“开发阶段”（卷动＋弹射）的概率为          ，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8D727E4-DDC1-9D5A-BB1E-43DF5C8CC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473" y="2435814"/>
            <a:ext cx="571500" cy="31432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20CC5E5-9445-2D5A-2596-A96665262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020" y="2331038"/>
            <a:ext cx="5734050" cy="5238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C0A3814-4B1A-CEA6-C21B-4C979247A15F}"/>
                  </a:ext>
                </a:extLst>
              </p:cNvPr>
              <p:cNvSpPr txBox="1"/>
              <p:nvPr/>
            </p:nvSpPr>
            <p:spPr>
              <a:xfrm>
                <a:off x="392208" y="3759048"/>
                <a:ext cx="1041315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在每次迭代内，对每个个体生成一个随机数 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ρ∼U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(0,1)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𝑑𝑒𝑣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，执行“开发阶段”（卷动或弹射）；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否则，执行“探索阶段”（随机扩散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Lévy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飞行）。</a:t>
                </a: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C0A3814-4B1A-CEA6-C21B-4C979247A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08" y="3759048"/>
                <a:ext cx="10413157" cy="923330"/>
              </a:xfrm>
              <a:prstGeom prst="rect">
                <a:avLst/>
              </a:prstGeom>
              <a:blipFill>
                <a:blip r:embed="rId5"/>
                <a:stretch>
                  <a:fillRect l="-468" t="-5298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1">
            <a:extLst>
              <a:ext uri="{FF2B5EF4-FFF2-40B4-BE49-F238E27FC236}">
                <a16:creationId xmlns:a16="http://schemas.microsoft.com/office/drawing/2014/main" id="{D8B6A427-126C-B7B7-8B8A-66B74C283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31449"/>
            <a:ext cx="120750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通过让“探索”与“开发”阶段的</a:t>
            </a:r>
            <a:r>
              <a:rPr lang="zh-CN" altLang="en-US" b="1" dirty="0"/>
              <a:t>执行概率随迭代进程自适应变化</a:t>
            </a:r>
            <a:r>
              <a:rPr lang="zh-CN" altLang="en-US" dirty="0"/>
              <a:t>，确保算法在早期更侧重全局搜索、后期更侧重局部优化，从而有效平衡多样性维护与收敛精度，这一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动态调整探索／开发概率，可实现平滑过渡。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1DC3-DBE8-1617-C745-8F7713091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7747981-3484-4385-6924-A0845266CD4B}"/>
              </a:ext>
            </a:extLst>
          </p:cNvPr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D6110DF-E378-D290-750E-D066C2216E07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458286B9-D546-49BF-DF4F-0BB37674D6CA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3B9D9FD9-5A63-F3FF-1CC7-A8B46B32346A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FB285A3-E258-3DC1-2E4F-002E88A0BF3F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>
              <a:extLst>
                <a:ext uri="{FF2B5EF4-FFF2-40B4-BE49-F238E27FC236}">
                  <a16:creationId xmlns:a16="http://schemas.microsoft.com/office/drawing/2014/main" id="{8AD9F0C8-F180-D144-BC13-A7727CA76C5D}"/>
                </a:ext>
              </a:extLst>
            </p:cNvPr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67D2A29-6184-BB98-5BAD-CA9698CE2D50}"/>
                </a:ext>
              </a:extLst>
            </p:cNvPr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61246F83-EF76-F094-A497-FB9A4259D6B8}"/>
              </a:ext>
            </a:extLst>
          </p:cNvPr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4046B9-B481-001C-FD32-00A36E1A637F}"/>
              </a:ext>
            </a:extLst>
          </p:cNvPr>
          <p:cNvSpPr txBox="1"/>
          <p:nvPr/>
        </p:nvSpPr>
        <p:spPr>
          <a:xfrm>
            <a:off x="908385" y="449627"/>
            <a:ext cx="6097044" cy="3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策略三：</a:t>
            </a:r>
            <a:r>
              <a:rPr lang="en-US" altLang="zh-CN" b="1" dirty="0"/>
              <a:t> </a:t>
            </a:r>
            <a:r>
              <a:rPr lang="en-US" altLang="zh-CN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Lévy </a:t>
            </a: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飞行步长收缩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A58F00-D6C8-E22E-EA8D-45CAFC1820AB}"/>
              </a:ext>
            </a:extLst>
          </p:cNvPr>
          <p:cNvSpPr txBox="1"/>
          <p:nvPr/>
        </p:nvSpPr>
        <p:spPr>
          <a:xfrm>
            <a:off x="335360" y="806732"/>
            <a:ext cx="11856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固定或弱衰减的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Lévy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步长在后期会导致过大跳跃，阻碍精细收敛。为此，策略三通过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Lévy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步长与迭代进程挂钩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，动态收缩其幅度，从而在不同阶段兼顾探索与精调。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228BDDB-EE3D-8025-AE29-709E0C4D4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950" y="1862439"/>
            <a:ext cx="4972050" cy="2743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93B6EC4-F12B-5901-F51C-2B7F28637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550" y="4573436"/>
            <a:ext cx="4686300" cy="7048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9B38655-A410-969A-B34B-7E42F07F857F}"/>
              </a:ext>
            </a:extLst>
          </p:cNvPr>
          <p:cNvSpPr txBox="1"/>
          <p:nvPr/>
        </p:nvSpPr>
        <p:spPr>
          <a:xfrm>
            <a:off x="1208314" y="2012056"/>
            <a:ext cx="5352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Lévy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飞行生成（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Mantegna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构造）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DF7F94-74E3-5DCD-F26E-B2C3C6C6434E}"/>
              </a:ext>
            </a:extLst>
          </p:cNvPr>
          <p:cNvSpPr txBox="1"/>
          <p:nvPr/>
        </p:nvSpPr>
        <p:spPr>
          <a:xfrm>
            <a:off x="2045804" y="3925708"/>
            <a:ext cx="2392974" cy="64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计算标准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Lévy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步长比率：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1F657B7-837D-0435-C326-BC76B5ED2D12}"/>
              </a:ext>
            </a:extLst>
          </p:cNvPr>
          <p:cNvSpPr txBox="1"/>
          <p:nvPr/>
        </p:nvSpPr>
        <p:spPr>
          <a:xfrm>
            <a:off x="2185435" y="4887633"/>
            <a:ext cx="613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自适应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Lévy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5B002B0-9122-472F-93A6-DB02C5723484}"/>
              </a:ext>
            </a:extLst>
          </p:cNvPr>
          <p:cNvSpPr txBox="1"/>
          <p:nvPr/>
        </p:nvSpPr>
        <p:spPr>
          <a:xfrm>
            <a:off x="4112390" y="5613421"/>
            <a:ext cx="43025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Lévy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飞行步长与迭代进程相结合，引入收缩系数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λ(t)=1−t/T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，实现了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从大尺度全局跳跃到小尺度局部精调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的动态过渡。</a:t>
            </a:r>
          </a:p>
        </p:txBody>
      </p:sp>
    </p:spTree>
    <p:extLst>
      <p:ext uri="{BB962C8B-B14F-4D97-AF65-F5344CB8AC3E}">
        <p14:creationId xmlns:p14="http://schemas.microsoft.com/office/powerpoint/2010/main" val="110051537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3D78-C70A-D6FB-75EA-6AFE315B0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0CB521D-8671-5035-2CD3-1680B7A9BABC}"/>
              </a:ext>
            </a:extLst>
          </p:cNvPr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F59A084-9E69-48DE-DF96-4B73C26C30DA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F8000710-E62A-7EBD-E2CF-BDAE0DB00A5B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A12AB785-063D-A307-2334-FA92124ADA81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FEC4E21-04D1-CBD5-50E1-6A58DAD35A53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>
              <a:extLst>
                <a:ext uri="{FF2B5EF4-FFF2-40B4-BE49-F238E27FC236}">
                  <a16:creationId xmlns:a16="http://schemas.microsoft.com/office/drawing/2014/main" id="{0A0AF1CB-1E42-5F17-FBC7-653F047D2663}"/>
                </a:ext>
              </a:extLst>
            </p:cNvPr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941CAC1-7F16-58F7-9DD9-3BE985D39DF0}"/>
                </a:ext>
              </a:extLst>
            </p:cNvPr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E529BEF7-7B5B-0FAC-55E6-61E5F787C5C9}"/>
              </a:ext>
            </a:extLst>
          </p:cNvPr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F92F14-6061-38E5-02DC-ADC4EE1E8A58}"/>
              </a:ext>
            </a:extLst>
          </p:cNvPr>
          <p:cNvSpPr txBox="1"/>
          <p:nvPr/>
        </p:nvSpPr>
        <p:spPr>
          <a:xfrm>
            <a:off x="908385" y="449627"/>
            <a:ext cx="6097044" cy="3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策略四：</a:t>
            </a:r>
            <a:r>
              <a:rPr lang="en-US" altLang="zh-CN" b="1" dirty="0"/>
              <a:t> </a:t>
            </a: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滚动</a:t>
            </a:r>
            <a:r>
              <a:rPr lang="en-US" altLang="zh-CN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弹射幅度递减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2608B3-F831-0C58-18A7-930FF19FBB27}"/>
              </a:ext>
            </a:extLst>
          </p:cNvPr>
          <p:cNvSpPr txBox="1"/>
          <p:nvPr/>
        </p:nvSpPr>
        <p:spPr>
          <a:xfrm>
            <a:off x="0" y="1122318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卷动（</a:t>
            </a:r>
            <a:r>
              <a:rPr lang="en-US" altLang="zh-CN" dirty="0"/>
              <a:t>Rolling</a:t>
            </a:r>
            <a:r>
              <a:rPr lang="zh-CN" altLang="en-US" dirty="0"/>
              <a:t>）和弹射（</a:t>
            </a:r>
            <a:r>
              <a:rPr lang="en-US" altLang="zh-CN" dirty="0"/>
              <a:t>Ejection</a:t>
            </a:r>
            <a:r>
              <a:rPr lang="zh-CN" altLang="en-US" dirty="0"/>
              <a:t>）算子模拟野燕麦种子的被动滚动与主动弹射行为，若在后期迭代仍保持较大幅度，则容易造成过度跳动、搜索震荡，阻碍算法稳定收敛。策略四通过</a:t>
            </a:r>
            <a:r>
              <a:rPr lang="zh-CN" altLang="en-US" b="1" dirty="0"/>
              <a:t>引入迭代收缩因子 </a:t>
            </a:r>
            <a:r>
              <a:rPr lang="en-US" altLang="zh-CN" b="1" dirty="0"/>
              <a:t>(1−t/T)</a:t>
            </a:r>
            <a:r>
              <a:rPr lang="zh-CN" altLang="en-US" dirty="0"/>
              <a:t>，动态降低这两种算子的幅度，实现从粗粒度探索到细粒度开发的平滑过渡。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C31AE8C-178F-35D3-AD96-B1EF66983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833" y="2358291"/>
            <a:ext cx="4791075" cy="151447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33CD359-07D4-F6AD-AB3D-115B0F240EE4}"/>
              </a:ext>
            </a:extLst>
          </p:cNvPr>
          <p:cNvSpPr txBox="1"/>
          <p:nvPr/>
        </p:nvSpPr>
        <p:spPr>
          <a:xfrm>
            <a:off x="367840" y="2493611"/>
            <a:ext cx="613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卷动幅度递减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FDB8E9E-0098-0BF0-02BF-DCCC7F0388FD}"/>
              </a:ext>
            </a:extLst>
          </p:cNvPr>
          <p:cNvSpPr txBox="1"/>
          <p:nvPr/>
        </p:nvSpPr>
        <p:spPr>
          <a:xfrm>
            <a:off x="367840" y="3359585"/>
            <a:ext cx="613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弹射幅度递减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E3E1C822-D6B1-FABD-19B7-D9C91C2FB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21661"/>
            <a:ext cx="1148216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通过对“卷动”与“弹射”算子的幅度实施迭代衰减，确保 DAO﻿A 在探索后期能以极小步幅进行精细开发，与 Lévy 步长收缩共同构建了平滑且高效的收敛机制，大幅提升了算法在复杂优化任务中的精度与稳定性。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61759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E27F-ED3B-7D80-F53F-C3FC30458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6BBAD24-90BF-79D6-5169-DE39DB8E00D4}"/>
              </a:ext>
            </a:extLst>
          </p:cNvPr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41A82F0-7A6D-5786-6183-8327E9489453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DF82CD4D-A2DE-4E68-3C74-BAA825CD61CD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5CE06CF8-064A-4105-9EC8-D391A413A85D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F897871C-05FE-5A74-4166-4301BF190F52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>
              <a:extLst>
                <a:ext uri="{FF2B5EF4-FFF2-40B4-BE49-F238E27FC236}">
                  <a16:creationId xmlns:a16="http://schemas.microsoft.com/office/drawing/2014/main" id="{9FF1A75D-580A-A1DD-1499-38C95BAA2964}"/>
                </a:ext>
              </a:extLst>
            </p:cNvPr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C8455BB-D2CE-4F88-ACB3-52DB5794C689}"/>
                </a:ext>
              </a:extLst>
            </p:cNvPr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7E993B4F-6CFF-A408-13D5-44D9462A83C9}"/>
              </a:ext>
            </a:extLst>
          </p:cNvPr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058E16-9319-73C6-FCC9-7CE005D8BFB1}"/>
              </a:ext>
            </a:extLst>
          </p:cNvPr>
          <p:cNvSpPr txBox="1"/>
          <p:nvPr/>
        </p:nvSpPr>
        <p:spPr>
          <a:xfrm>
            <a:off x="908385" y="449627"/>
            <a:ext cx="609704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  <a:defRPr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策略五：</a:t>
            </a:r>
            <a:r>
              <a:rPr lang="en-US" altLang="zh-CN" b="1" dirty="0"/>
              <a:t> </a:t>
            </a: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高斯微扰逃逸</a:t>
            </a:r>
            <a:endParaRPr lang="en-US" altLang="zh-CN" sz="2000" b="1" dirty="0">
              <a:solidFill>
                <a:srgbClr val="02428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zh-CN" altLang="en-US" sz="2000" b="1" dirty="0">
              <a:solidFill>
                <a:srgbClr val="0242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D0B764-1F7B-41F1-581C-A5EFB7F4A74D}"/>
              </a:ext>
            </a:extLst>
          </p:cNvPr>
          <p:cNvSpPr txBox="1"/>
          <p:nvPr/>
        </p:nvSpPr>
        <p:spPr>
          <a:xfrm>
            <a:off x="0" y="1311926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</a:t>
            </a:r>
            <a:r>
              <a:rPr lang="zh-CN" altLang="en-US" b="1" dirty="0"/>
              <a:t>周期性向当前最优解施加微幅高斯扰动</a:t>
            </a:r>
            <a:r>
              <a:rPr lang="zh-CN" altLang="en-US" dirty="0"/>
              <a:t>，为算法提供“突然一跃”，以跨越局部障碍，提升全局搜索的鲁棒性。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282F33-1486-0CB6-9093-62D7FD33510C}"/>
              </a:ext>
            </a:extLst>
          </p:cNvPr>
          <p:cNvSpPr txBox="1"/>
          <p:nvPr/>
        </p:nvSpPr>
        <p:spPr>
          <a:xfrm>
            <a:off x="965233" y="3215404"/>
            <a:ext cx="6198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计算微扰量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6E0122F-FB74-05A5-3ABE-809BB2B66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7" y="3195283"/>
            <a:ext cx="7048500" cy="40957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1D0342C-315F-3431-1BB9-AA0F0D73A468}"/>
              </a:ext>
            </a:extLst>
          </p:cNvPr>
          <p:cNvSpPr txBox="1"/>
          <p:nvPr/>
        </p:nvSpPr>
        <p:spPr>
          <a:xfrm>
            <a:off x="0" y="572516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利用周期性高斯微扰对当前全局最优进行小范围跳动，使 </a:t>
            </a:r>
            <a:r>
              <a:rPr lang="en-US" altLang="zh-CN" dirty="0"/>
              <a:t>DAO﻿A </a:t>
            </a:r>
            <a:r>
              <a:rPr lang="zh-CN" altLang="en-US" dirty="0"/>
              <a:t>在复杂、多峰、易陷阱的高维优化任务中表现出更强的全局搜索与局部跳出能力。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BE19194-2FA0-C208-23AE-3D6059F4EF6F}"/>
              </a:ext>
            </a:extLst>
          </p:cNvPr>
          <p:cNvSpPr txBox="1"/>
          <p:nvPr/>
        </p:nvSpPr>
        <p:spPr>
          <a:xfrm>
            <a:off x="0" y="2432723"/>
            <a:ext cx="10655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恰逢扰动时机，则对当前全局最优向量            的第 </a:t>
            </a:r>
            <a:r>
              <a:rPr lang="en-US" altLang="zh-CN" dirty="0"/>
              <a:t>j </a:t>
            </a:r>
            <a:r>
              <a:rPr lang="zh-CN" altLang="en-US" dirty="0"/>
              <a:t>维施加高斯微扰：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0EA279F-2FA1-4679-C5ED-AE660BCAB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373" y="2428778"/>
            <a:ext cx="61912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18869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D6AB0-BB18-CD8F-38D9-229D0AE2F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5DBE22-86A0-4E27-D91A-5937507CFA93}"/>
              </a:ext>
            </a:extLst>
          </p:cNvPr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E8A3674-42B4-2B95-69C6-ECF55636F200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CB3659BE-D8AE-D889-F25C-067A5B50FF31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F5A898B6-4F79-85E3-5A8C-D7711DCD0DFE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247856E-5656-FB99-FE18-464CD4E286F6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>
              <a:extLst>
                <a:ext uri="{FF2B5EF4-FFF2-40B4-BE49-F238E27FC236}">
                  <a16:creationId xmlns:a16="http://schemas.microsoft.com/office/drawing/2014/main" id="{3A289B46-C5A0-95AE-D710-BADE330F633A}"/>
                </a:ext>
              </a:extLst>
            </p:cNvPr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995D551-1131-ABFA-8FDF-52BB0FBE8353}"/>
                </a:ext>
              </a:extLst>
            </p:cNvPr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CF3A4E59-3CDB-25C8-2DE3-08A529D06E0B}"/>
              </a:ext>
            </a:extLst>
          </p:cNvPr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5014C8-5C38-998F-7775-59553F03A08E}"/>
              </a:ext>
            </a:extLst>
          </p:cNvPr>
          <p:cNvSpPr txBox="1"/>
          <p:nvPr/>
        </p:nvSpPr>
        <p:spPr>
          <a:xfrm>
            <a:off x="908385" y="449627"/>
            <a:ext cx="6097044" cy="3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策略六：</a:t>
            </a:r>
            <a:r>
              <a:rPr lang="en-US" altLang="zh-CN" b="1" dirty="0"/>
              <a:t> </a:t>
            </a: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双导向信息融合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81D9BD-FE7A-BD64-E13D-9423021A1F44}"/>
              </a:ext>
            </a:extLst>
          </p:cNvPr>
          <p:cNvSpPr txBox="1"/>
          <p:nvPr/>
        </p:nvSpPr>
        <p:spPr>
          <a:xfrm>
            <a:off x="-10886" y="806732"/>
            <a:ext cx="12202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 </a:t>
            </a:r>
            <a:r>
              <a:rPr lang="en-US" altLang="zh-CN" dirty="0"/>
              <a:t>DAO﻿A </a:t>
            </a:r>
            <a:r>
              <a:rPr lang="zh-CN" altLang="en-US" dirty="0"/>
              <a:t>算法中，传统 </a:t>
            </a:r>
            <a:r>
              <a:rPr lang="en-US" altLang="zh-CN" dirty="0"/>
              <a:t>AOO </a:t>
            </a:r>
            <a:r>
              <a:rPr lang="zh-CN" altLang="en-US" dirty="0"/>
              <a:t>仅依赖全局最优解来指导个体更新，容易导致种群过度聚拢、丧失多样性。策略六通过同时利用</a:t>
            </a:r>
            <a:r>
              <a:rPr lang="zh-CN" altLang="en-US" b="1" dirty="0"/>
              <a:t>“全局最优”与“种群中心”</a:t>
            </a:r>
            <a:r>
              <a:rPr lang="zh-CN" altLang="en-US" dirty="0"/>
              <a:t>两类信息，以</a:t>
            </a:r>
            <a:r>
              <a:rPr lang="zh-CN" altLang="en-US" b="1" dirty="0"/>
              <a:t>线性加权</a:t>
            </a:r>
            <a:r>
              <a:rPr lang="zh-CN" altLang="en-US" dirty="0"/>
              <a:t>的方式融合指导信号，既能快速集中到优质区域，又能维持整体趋势，提升搜索稳定性与多样性平衡。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A26E3C1-6740-78E6-DEB4-7CD23E1DC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955" y="3429000"/>
            <a:ext cx="4610100" cy="20193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8ACC658-21FA-671D-EBCF-A1E7AE82F527}"/>
              </a:ext>
            </a:extLst>
          </p:cNvPr>
          <p:cNvSpPr txBox="1"/>
          <p:nvPr/>
        </p:nvSpPr>
        <p:spPr>
          <a:xfrm>
            <a:off x="1505298" y="3435592"/>
            <a:ext cx="6130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种群中心计算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F1A227-BF61-402F-2DEE-CD11143FBD69}"/>
              </a:ext>
            </a:extLst>
          </p:cNvPr>
          <p:cNvSpPr txBox="1"/>
          <p:nvPr/>
        </p:nvSpPr>
        <p:spPr>
          <a:xfrm>
            <a:off x="1505298" y="4180847"/>
            <a:ext cx="6130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线性加权更新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D45E89-348A-4EE5-3947-97BC96053E42}"/>
              </a:ext>
            </a:extLst>
          </p:cNvPr>
          <p:cNvSpPr txBox="1"/>
          <p:nvPr/>
        </p:nvSpPr>
        <p:spPr>
          <a:xfrm>
            <a:off x="1505298" y="5031423"/>
            <a:ext cx="6130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边界检查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359830-D631-A6CE-0644-AA6BBC89352B}"/>
              </a:ext>
            </a:extLst>
          </p:cNvPr>
          <p:cNvSpPr txBox="1"/>
          <p:nvPr/>
        </p:nvSpPr>
        <p:spPr>
          <a:xfrm>
            <a:off x="335360" y="1861848"/>
            <a:ext cx="10123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其全局最优为         </a:t>
            </a:r>
            <a:r>
              <a:rPr lang="en-US" altLang="zh-CN" dirty="0"/>
              <a:t>​</a:t>
            </a:r>
            <a:r>
              <a:rPr lang="zh-CN" altLang="en-US" dirty="0"/>
              <a:t>，种群中心        和个体        在第 </a:t>
            </a:r>
            <a:r>
              <a:rPr lang="en-US" altLang="zh-CN" dirty="0"/>
              <a:t>j</a:t>
            </a:r>
            <a:r>
              <a:rPr lang="zh-CN" altLang="en-US" dirty="0"/>
              <a:t>维的更新公式如下：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9EDBE6D-8DEF-2340-515C-AABCF11D2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167" y="1883291"/>
            <a:ext cx="500071" cy="35448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5C04F0C-FAA7-0421-A088-9A3DE7CF9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3520" y="1916949"/>
            <a:ext cx="433387" cy="27468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11B5721-B331-5DF3-7D4F-F370C89D7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33" y="1916949"/>
            <a:ext cx="411373" cy="27192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0A05F68-8A47-16AE-BF58-8C57DEC2E3C6}"/>
              </a:ext>
            </a:extLst>
          </p:cNvPr>
          <p:cNvSpPr txBox="1"/>
          <p:nvPr/>
        </p:nvSpPr>
        <p:spPr>
          <a:xfrm>
            <a:off x="3523520" y="5594622"/>
            <a:ext cx="6127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通过“</a:t>
            </a:r>
            <a:r>
              <a:rPr lang="zh-CN" altLang="en-US" b="1" dirty="0"/>
              <a:t>全局最优＋种群中心＋个体自身</a:t>
            </a:r>
            <a:r>
              <a:rPr lang="zh-CN" altLang="en-US" dirty="0"/>
              <a:t>”三者线性加权融合，</a:t>
            </a:r>
            <a:r>
              <a:rPr lang="en-US" altLang="zh-CN" dirty="0"/>
              <a:t>DAO﻿A </a:t>
            </a:r>
            <a:r>
              <a:rPr lang="zh-CN" altLang="en-US" dirty="0"/>
              <a:t>在复杂、多峰问题中提供了更稳定、高效的搜索动力。</a:t>
            </a:r>
          </a:p>
        </p:txBody>
      </p:sp>
    </p:spTree>
    <p:extLst>
      <p:ext uri="{BB962C8B-B14F-4D97-AF65-F5344CB8AC3E}">
        <p14:creationId xmlns:p14="http://schemas.microsoft.com/office/powerpoint/2010/main" val="25524076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8" b="7128"/>
          <a:stretch>
            <a:fillRect/>
          </a:stretch>
        </p:blipFill>
        <p:spPr>
          <a:xfrm>
            <a:off x="0" y="-4272"/>
            <a:ext cx="12192000" cy="30732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4272"/>
            <a:ext cx="12191997" cy="3073231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5349113" y="4497597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5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测试</a:t>
            </a:r>
            <a:r>
              <a:rPr lang="zh-CN" altLang="en-US" sz="54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5984545" y="4664584"/>
            <a:ext cx="7776866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endParaRPr lang="zh-CN" altLang="en-US" sz="2000" dirty="0">
              <a:solidFill>
                <a:schemeClr val="accen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0253" y="2386575"/>
            <a:ext cx="167513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02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466E-4C4B-14F8-A21D-DD5BCC0AB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85EF3DE-AB98-D56C-9A34-0CC8AE31881B}"/>
              </a:ext>
            </a:extLst>
          </p:cNvPr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AFD1237-1690-1215-BDBB-5188B57DEBF2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54A27C44-9351-729D-0ADC-76805DAFA67A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268BC40E-C40C-5EC4-C80B-9A648DE87642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CB5E7D6-A066-18E1-3EEF-11DB044333C0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>
              <a:extLst>
                <a:ext uri="{FF2B5EF4-FFF2-40B4-BE49-F238E27FC236}">
                  <a16:creationId xmlns:a16="http://schemas.microsoft.com/office/drawing/2014/main" id="{83B8695E-572E-4D5B-3050-E7368588B039}"/>
                </a:ext>
              </a:extLst>
            </p:cNvPr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F7075BA-EF2B-5D1A-9242-A28082029F7F}"/>
                </a:ext>
              </a:extLst>
            </p:cNvPr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21EF9E81-D325-3D95-B606-FDE324E6B202}"/>
              </a:ext>
            </a:extLst>
          </p:cNvPr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F9966E-4735-D9B4-421E-C48BF3E5DC1F}"/>
              </a:ext>
            </a:extLst>
          </p:cNvPr>
          <p:cNvSpPr txBox="1"/>
          <p:nvPr/>
        </p:nvSpPr>
        <p:spPr>
          <a:xfrm>
            <a:off x="908385" y="449627"/>
            <a:ext cx="6097044" cy="3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8BCC40-F032-6BD1-3D98-7E4F1B48D071}"/>
              </a:ext>
            </a:extLst>
          </p:cNvPr>
          <p:cNvSpPr txBox="1"/>
          <p:nvPr/>
        </p:nvSpPr>
        <p:spPr>
          <a:xfrm>
            <a:off x="335361" y="1048432"/>
            <a:ext cx="61068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实验设置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典型函数：Sphere, Rosenbrock, Rastrigin, Ackley；CEC2022 20D 专题套件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对比算法：AOO、PSO、GWO、HHO、WOA、MFO 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参数统一：种群规模＝30，搜索范围 [–100,100]，评估次数 30000，独立运行 30 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指标：平均收敛曲线、最优/平均/最差适应度、Wilcoxon 显著性检验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30B688A-BEB8-1C52-800C-982FF2D82F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785"/>
          <a:stretch>
            <a:fillRect/>
          </a:stretch>
        </p:blipFill>
        <p:spPr>
          <a:xfrm>
            <a:off x="6650836" y="1567543"/>
            <a:ext cx="5205803" cy="46781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C30A22D-B6B1-14A0-CDFA-3EC6EAE98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1" y="3595513"/>
            <a:ext cx="60579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15321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测试</a:t>
              </a:r>
              <a:r>
                <a:rPr lang="zh-CN" altLang="en-US" dirty="0"/>
                <a:t>性能对比结果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10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838573-4D98-EA95-8E0C-7BDC4D10FC98}"/>
              </a:ext>
            </a:extLst>
          </p:cNvPr>
          <p:cNvSpPr txBox="1"/>
          <p:nvPr/>
        </p:nvSpPr>
        <p:spPr>
          <a:xfrm>
            <a:off x="-30188" y="887005"/>
            <a:ext cx="9135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CN" altLang="en-US" dirty="0"/>
              <a:t>二维 </a:t>
            </a:r>
            <a:r>
              <a:rPr lang="en-US" altLang="zh-CN" dirty="0"/>
              <a:t>(2D) </a:t>
            </a:r>
            <a:r>
              <a:rPr lang="zh-CN" altLang="en-US" dirty="0"/>
              <a:t>测试结果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最优获胜数：</a:t>
            </a:r>
            <a:r>
              <a:rPr lang="en-US" altLang="zh-CN" dirty="0"/>
              <a:t>DAOA </a:t>
            </a:r>
            <a:r>
              <a:rPr lang="zh-CN" altLang="en-US" dirty="0"/>
              <a:t>在 </a:t>
            </a:r>
            <a:r>
              <a:rPr lang="en-US" altLang="zh-CN" dirty="0"/>
              <a:t>12 </a:t>
            </a:r>
            <a:r>
              <a:rPr lang="zh-CN" altLang="en-US" dirty="0"/>
              <a:t>个经典函数中获 </a:t>
            </a:r>
            <a:r>
              <a:rPr lang="en-US" altLang="zh-CN" dirty="0"/>
              <a:t>11 </a:t>
            </a:r>
            <a:r>
              <a:rPr lang="zh-CN" altLang="en-US" dirty="0"/>
              <a:t>次最优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收敛速率：前 </a:t>
            </a:r>
            <a:r>
              <a:rPr lang="en-US" altLang="zh-CN" dirty="0"/>
              <a:t>200 </a:t>
            </a:r>
            <a:r>
              <a:rPr lang="zh-CN" altLang="en-US" dirty="0"/>
              <a:t>代即出现陡降，表明算法在早期探索效果卓越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最终精度：</a:t>
            </a:r>
            <a:r>
              <a:rPr lang="en-US" altLang="zh-CN" dirty="0"/>
              <a:t>DAOA </a:t>
            </a:r>
            <a:r>
              <a:rPr lang="zh-CN" altLang="en-US" dirty="0"/>
              <a:t>后期曲线平稳逼近理论最优值，震荡幅度最小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9F26C61-A69A-8269-D995-E9231C2C8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19" y="2500913"/>
            <a:ext cx="11378041" cy="384748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应用 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7DE3748-3221-B634-2CE8-FC9873454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" y="2164664"/>
            <a:ext cx="12192000" cy="33373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96539EB-DF2C-BC6D-B54D-541C731EC31A}"/>
              </a:ext>
            </a:extLst>
          </p:cNvPr>
          <p:cNvSpPr txBox="1"/>
          <p:nvPr/>
        </p:nvSpPr>
        <p:spPr>
          <a:xfrm>
            <a:off x="335361" y="887005"/>
            <a:ext cx="99108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CN" altLang="en-US" dirty="0"/>
              <a:t>十维 </a:t>
            </a:r>
            <a:r>
              <a:rPr lang="en-US" altLang="zh-CN" dirty="0"/>
              <a:t>(10D) </a:t>
            </a:r>
            <a:r>
              <a:rPr lang="zh-CN" altLang="en-US" dirty="0"/>
              <a:t>测试结果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最优获胜数：</a:t>
            </a:r>
            <a:r>
              <a:rPr lang="en-US" altLang="zh-CN" dirty="0"/>
              <a:t>10/12</a:t>
            </a:r>
            <a:r>
              <a:rPr lang="zh-CN" altLang="en-US" dirty="0"/>
              <a:t>，尤其在多峰函数（</a:t>
            </a:r>
            <a:r>
              <a:rPr lang="en-US" altLang="zh-CN" dirty="0" err="1"/>
              <a:t>Rastrigin</a:t>
            </a:r>
            <a:r>
              <a:rPr lang="zh-CN" altLang="en-US" dirty="0"/>
              <a:t>、</a:t>
            </a:r>
            <a:r>
              <a:rPr lang="en-US" altLang="zh-CN" dirty="0"/>
              <a:t>Ackley</a:t>
            </a:r>
            <a:r>
              <a:rPr lang="zh-CN" altLang="en-US" dirty="0"/>
              <a:t>）上优势明显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均值与标准差：均值优于对比算法 </a:t>
            </a:r>
            <a:r>
              <a:rPr lang="en-US" altLang="zh-CN" dirty="0"/>
              <a:t>5%~20%</a:t>
            </a:r>
            <a:r>
              <a:rPr lang="zh-CN" altLang="en-US" dirty="0"/>
              <a:t>，标准差小于 </a:t>
            </a:r>
            <a:r>
              <a:rPr lang="en-US" altLang="zh-CN" dirty="0"/>
              <a:t>10%</a:t>
            </a:r>
            <a:r>
              <a:rPr lang="zh-CN" altLang="en-US" dirty="0"/>
              <a:t>，结果更稳定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跳出能力：</a:t>
            </a:r>
            <a:r>
              <a:rPr lang="en-US" altLang="zh-CN" dirty="0"/>
              <a:t>DAOA </a:t>
            </a:r>
            <a:r>
              <a:rPr lang="zh-CN" altLang="en-US" dirty="0"/>
              <a:t>的局部跳出次数显著高于 </a:t>
            </a:r>
            <a:r>
              <a:rPr lang="en-US" altLang="zh-CN" dirty="0"/>
              <a:t>PSO</a:t>
            </a:r>
            <a:r>
              <a:rPr lang="zh-CN" altLang="en-US" dirty="0"/>
              <a:t>、</a:t>
            </a:r>
            <a:r>
              <a:rPr lang="en-US" altLang="zh-CN" dirty="0"/>
              <a:t>GWO </a:t>
            </a:r>
            <a:r>
              <a:rPr lang="zh-CN" altLang="en-US" dirty="0"/>
              <a:t>等，降低陷入局部概率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3164E9-5CA3-B130-9BD4-37DEF6E82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37607"/>
            <a:ext cx="12192000" cy="78338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AA68-A2BD-9E49-D6AE-A15085C1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C42916A-2504-2B2A-122B-B2D0320B9D6F}"/>
              </a:ext>
            </a:extLst>
          </p:cNvPr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35235F9-F8E7-0C48-0F9E-79487C345BAB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0914DE67-00A4-A175-2757-2D7BB1053678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893E7CC7-618B-2251-10ED-C86295B77731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84E03EC-85CF-A1F0-CB95-1729FEAC9F11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>
              <a:extLst>
                <a:ext uri="{FF2B5EF4-FFF2-40B4-BE49-F238E27FC236}">
                  <a16:creationId xmlns:a16="http://schemas.microsoft.com/office/drawing/2014/main" id="{FFD31A22-95BB-8A17-F795-59992EE45C4B}"/>
                </a:ext>
              </a:extLst>
            </p:cNvPr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应用 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6DD1C79-AAE0-A6FF-0466-D3EB4E494E40}"/>
                </a:ext>
              </a:extLst>
            </p:cNvPr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242CF67D-A6CA-9F76-2825-01340B956BD6}"/>
              </a:ext>
            </a:extLst>
          </p:cNvPr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69A4A3-4836-EC28-C9E4-0A4F5FBE9CD1}"/>
              </a:ext>
            </a:extLst>
          </p:cNvPr>
          <p:cNvSpPr txBox="1"/>
          <p:nvPr/>
        </p:nvSpPr>
        <p:spPr>
          <a:xfrm>
            <a:off x="335361" y="942051"/>
            <a:ext cx="97151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CN" altLang="en-US" dirty="0"/>
              <a:t>二十维 </a:t>
            </a:r>
            <a:r>
              <a:rPr lang="en-US" altLang="zh-CN" dirty="0"/>
              <a:t>(20D) </a:t>
            </a:r>
            <a:r>
              <a:rPr lang="zh-CN" altLang="en-US" dirty="0"/>
              <a:t>测试结果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最优获胜数：</a:t>
            </a:r>
            <a:r>
              <a:rPr lang="en-US" altLang="zh-CN" dirty="0"/>
              <a:t>9/12</a:t>
            </a:r>
            <a:r>
              <a:rPr lang="zh-CN" altLang="en-US" dirty="0"/>
              <a:t>，展现良好可扩展性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鲁棒性：极端值（最差值）波动范围最小，表明抗干扰能力强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C5D8C83-76A8-17BF-3841-3319EB1C7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0027"/>
            <a:ext cx="12192000" cy="415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39157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8" b="7128"/>
          <a:stretch>
            <a:fillRect/>
          </a:stretch>
        </p:blipFill>
        <p:spPr>
          <a:xfrm>
            <a:off x="0" y="-4272"/>
            <a:ext cx="12192000" cy="30732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4272"/>
            <a:ext cx="12191997" cy="3073231"/>
          </a:xfrm>
          <a:prstGeom prst="rect">
            <a:avLst/>
          </a:prstGeom>
          <a:solidFill>
            <a:schemeClr val="accent1">
              <a:lumMod val="100000"/>
              <a:alpha val="8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5390677" y="4974310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5400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结论</a:t>
            </a:r>
          </a:p>
          <a:p>
            <a:pPr algn="l"/>
            <a:r>
              <a:rPr lang="zh-CN" altLang="en-US" sz="54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575720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100000"/>
              </a:schemeClr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5984545" y="4664584"/>
            <a:ext cx="7776866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endParaRPr lang="zh-CN" altLang="en-US" sz="2000" dirty="0">
              <a:solidFill>
                <a:schemeClr val="accent1">
                  <a:lumMod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0253" y="2386575"/>
            <a:ext cx="167513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02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21279" cy="6582552"/>
            <a:chOff x="335361" y="116633"/>
            <a:chExt cx="11521279" cy="6582552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1">
                    <a:lumMod val="10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100000"/>
                </a:schemeClr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结论 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309880" cy="2705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5033" y="6425619"/>
            <a:ext cx="27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</a:t>
            </a:r>
            <a:endParaRPr lang="zh-CN" alt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669BF04-DBF5-14F1-1432-10587B799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385" y="2551836"/>
            <a:ext cx="99768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DAOA 通过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对立初始化、动态调度、步长与幅度自适应收缩、高斯微扰和双导向融合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等六大策略，实现了从广域探索到精细开发的平滑过渡；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在经典函数与CEC2022测试中，DAOA较原始AOO及主流算法表现出更快的收敛速度、更高的解精度与更强的跳出局部能力；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算法框架具备良好的可扩展性，可进一步推广到多目标、动态环境及离散组合优化，为后续研究和实际应用提供了高效、通用的元启发式设计范式。</a:t>
            </a:r>
          </a:p>
        </p:txBody>
      </p:sp>
    </p:spTree>
  </p:cSld>
  <p:clrMapOvr>
    <a:masterClrMapping/>
  </p:clrMapOvr>
  <p:transition spd="slow">
    <p:cover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e0846f1-ed17-4361-9edb-ce2a44ec6a20"/>
  <p:tag name="COMMONDATA" val="eyJoZGlkIjoiMWJmYmVhMGQ2YWQwOTc0ZDFkYmVkZTE0NzFkNThlYz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3A89"/>
      </a:accent1>
      <a:accent2>
        <a:srgbClr val="ED7D31"/>
      </a:accent2>
      <a:accent3>
        <a:srgbClr val="00A2E9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B0261">
            <a:alpha val="82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kern="0" dirty="0">
            <a:solidFill>
              <a:srgbClr val="FFFFFF"/>
            </a:solidFill>
            <a:latin typeface="Arial" panose="020B0604020202020204"/>
            <a:ea typeface="微软雅黑" panose="020B0503020204020204" charset="-122"/>
            <a:cs typeface="+mn-ea"/>
            <a:sym typeface="+mn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00A2E9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1283</Words>
  <Application>Microsoft Office PowerPoint</Application>
  <PresentationFormat>宽屏</PresentationFormat>
  <Paragraphs>101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等线</vt:lpstr>
      <vt:lpstr>等线 Light</vt:lpstr>
      <vt:lpstr>华文行楷</vt:lpstr>
      <vt:lpstr>宋体</vt:lpstr>
      <vt:lpstr>微软雅黑</vt:lpstr>
      <vt:lpstr>Arial</vt:lpstr>
      <vt:lpstr>Arial Black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py d</cp:lastModifiedBy>
  <cp:revision>61</cp:revision>
  <dcterms:created xsi:type="dcterms:W3CDTF">2020-08-12T02:12:00Z</dcterms:created>
  <dcterms:modified xsi:type="dcterms:W3CDTF">2025-06-25T02:58:45Z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A5605FB062984F88B7937C783FC7BD61</vt:lpwstr>
  </property>
  <property fmtid="{D5CDD505-2E9C-101B-9397-08002B2CF9AE}" pid="3" name="KSOProductBuildVer">
    <vt:lpwstr>2052-11.1.0.12165</vt:lpwstr>
  </property>
</Properties>
</file>