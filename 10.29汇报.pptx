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3"/>
  </p:notesMasterIdLst>
  <p:sldIdLst>
    <p:sldId id="380" r:id="rId3"/>
    <p:sldId id="257" r:id="rId4"/>
    <p:sldId id="258" r:id="rId5"/>
    <p:sldId id="419" r:id="rId6"/>
    <p:sldId id="546" r:id="rId7"/>
    <p:sldId id="547" r:id="rId8"/>
    <p:sldId id="422" r:id="rId9"/>
    <p:sldId id="548" r:id="rId10"/>
    <p:sldId id="559" r:id="rId11"/>
    <p:sldId id="549" r:id="rId12"/>
    <p:sldId id="550" r:id="rId13"/>
    <p:sldId id="551" r:id="rId14"/>
    <p:sldId id="263" r:id="rId15"/>
    <p:sldId id="552" r:id="rId16"/>
    <p:sldId id="553" r:id="rId17"/>
    <p:sldId id="556" r:id="rId18"/>
    <p:sldId id="555" r:id="rId19"/>
    <p:sldId id="554" r:id="rId20"/>
    <p:sldId id="557" r:id="rId21"/>
    <p:sldId id="545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9B7"/>
    <a:srgbClr val="8C1515"/>
    <a:srgbClr val="B70031"/>
    <a:srgbClr val="6B02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AE505-B7CA-4E96-AE4D-61AFDB83C737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12726-83B8-45B8-96BB-E4D4FAD8F0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12726-83B8-45B8-96BB-E4D4FAD8F01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82200" y="-256656"/>
            <a:ext cx="2144905" cy="128694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82200" y="-256656"/>
            <a:ext cx="2144905" cy="128694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5.jpeg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" b="7904"/>
          <a:stretch>
            <a:fillRect/>
          </a:stretch>
        </p:blipFill>
        <p:spPr bwMode="auto">
          <a:xfrm>
            <a:off x="0" y="2107758"/>
            <a:ext cx="12215445" cy="302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-23495" y="2108393"/>
            <a:ext cx="12215445" cy="3023423"/>
          </a:xfrm>
          <a:prstGeom prst="rect">
            <a:avLst/>
          </a:prstGeom>
          <a:solidFill>
            <a:schemeClr val="accent1">
              <a:lumMod val="100000"/>
              <a:alpha val="81961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3450" y="6083573"/>
            <a:ext cx="11156315" cy="338554"/>
            <a:chOff x="415917" y="6056049"/>
            <a:chExt cx="7185777" cy="338554"/>
          </a:xfrm>
        </p:grpSpPr>
        <p:sp>
          <p:nvSpPr>
            <p:cNvPr id="7" name="TextBox 14"/>
            <p:cNvSpPr txBox="1"/>
            <p:nvPr/>
          </p:nvSpPr>
          <p:spPr>
            <a:xfrm>
              <a:off x="415917" y="6056049"/>
              <a:ext cx="33926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小组成员：段芃宇 张力元</a:t>
              </a:r>
            </a:p>
          </p:txBody>
        </p:sp>
        <p:sp>
          <p:nvSpPr>
            <p:cNvPr id="8" name="TextBox 28"/>
            <p:cNvSpPr txBox="1"/>
            <p:nvPr/>
          </p:nvSpPr>
          <p:spPr>
            <a:xfrm>
              <a:off x="2741384" y="6056049"/>
              <a:ext cx="2423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 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9" name="TextBox 90"/>
            <p:cNvSpPr txBox="1"/>
            <p:nvPr/>
          </p:nvSpPr>
          <p:spPr>
            <a:xfrm>
              <a:off x="6029486" y="6056049"/>
              <a:ext cx="157220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日期：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2024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年</a:t>
              </a:r>
              <a:r>
                <a:rPr lang="en-US" altLang="zh-CN" sz="1600" b="1" dirty="0">
                  <a:solidFill>
                    <a:srgbClr val="013A89">
                      <a:lumMod val="100000"/>
                    </a:srgbClr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10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月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29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日</a:t>
              </a:r>
            </a:p>
          </p:txBody>
        </p:sp>
      </p:grpSp>
      <p:grpSp>
        <p:nvGrpSpPr>
          <p:cNvPr id="10" name="Group 15"/>
          <p:cNvGrpSpPr/>
          <p:nvPr/>
        </p:nvGrpSpPr>
        <p:grpSpPr>
          <a:xfrm>
            <a:off x="-46891" y="2471759"/>
            <a:ext cx="12238891" cy="2428589"/>
            <a:chOff x="-1545836" y="2557284"/>
            <a:chExt cx="10844926" cy="2428589"/>
          </a:xfrm>
        </p:grpSpPr>
        <p:sp>
          <p:nvSpPr>
            <p:cNvPr id="11" name="Rectangle 9"/>
            <p:cNvSpPr/>
            <p:nvPr/>
          </p:nvSpPr>
          <p:spPr>
            <a:xfrm>
              <a:off x="-333920" y="2557284"/>
              <a:ext cx="8462644" cy="7067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10.29</a:t>
              </a: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日</a:t>
              </a: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FPGA</a:t>
              </a: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（</a:t>
              </a: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CDE</a:t>
              </a: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）小组工作汇报</a:t>
              </a:r>
            </a:p>
          </p:txBody>
        </p:sp>
        <p:sp>
          <p:nvSpPr>
            <p:cNvPr id="12" name="Rectangle 10"/>
            <p:cNvSpPr/>
            <p:nvPr/>
          </p:nvSpPr>
          <p:spPr>
            <a:xfrm>
              <a:off x="-1545836" y="4616541"/>
              <a:ext cx="108449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SHANDONG UNIVERSITY OF SCIENCE AND TECHNOLOGY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GRADUATION REPLY GENERAL TEMPLATE</a:t>
              </a:r>
            </a:p>
          </p:txBody>
        </p:sp>
      </p:grpSp>
      <p:cxnSp>
        <p:nvCxnSpPr>
          <p:cNvPr id="20" name="直接连接符 19"/>
          <p:cNvCxnSpPr/>
          <p:nvPr/>
        </p:nvCxnSpPr>
        <p:spPr>
          <a:xfrm flipV="1">
            <a:off x="0" y="5517605"/>
            <a:ext cx="5049649" cy="17338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6970818" y="5517605"/>
            <a:ext cx="5329778" cy="0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/>
        </p:nvSpPr>
        <p:spPr>
          <a:xfrm>
            <a:off x="4480079" y="5278821"/>
            <a:ext cx="3184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惟真求新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3A89">
                  <a:lumMod val="100000"/>
                </a:srgb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7723" y="-757440"/>
            <a:ext cx="6249843" cy="3749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6" t="-179" r="21676" b="179"/>
          <a:stretch>
            <a:fillRect/>
          </a:stretch>
        </p:blipFill>
        <p:spPr>
          <a:xfrm>
            <a:off x="0" y="7950"/>
            <a:ext cx="5208645" cy="6872989"/>
          </a:xfrm>
          <a:custGeom>
            <a:avLst/>
            <a:gdLst>
              <a:gd name="connsiteX0" fmla="*/ 0 w 5204840"/>
              <a:gd name="connsiteY0" fmla="*/ 0 h 6858000"/>
              <a:gd name="connsiteX1" fmla="*/ 5204840 w 5204840"/>
              <a:gd name="connsiteY1" fmla="*/ 0 h 6858000"/>
              <a:gd name="connsiteX2" fmla="*/ 5204840 w 5204840"/>
              <a:gd name="connsiteY2" fmla="*/ 6858000 h 6858000"/>
              <a:gd name="connsiteX3" fmla="*/ 0 w 5204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4840" h="6858000">
                <a:moveTo>
                  <a:pt x="0" y="0"/>
                </a:moveTo>
                <a:lnTo>
                  <a:pt x="5204840" y="0"/>
                </a:lnTo>
                <a:lnTo>
                  <a:pt x="52048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PA-矩形 8"/>
          <p:cNvSpPr/>
          <p:nvPr>
            <p:custDataLst>
              <p:tags r:id="rId3"/>
            </p:custDataLst>
          </p:nvPr>
        </p:nvSpPr>
        <p:spPr>
          <a:xfrm>
            <a:off x="0" y="0"/>
            <a:ext cx="5208645" cy="6872990"/>
          </a:xfrm>
          <a:prstGeom prst="rect">
            <a:avLst/>
          </a:prstGeom>
          <a:solidFill>
            <a:schemeClr val="accent1">
              <a:lumMod val="10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" name="PA-组合 20"/>
          <p:cNvGrpSpPr/>
          <p:nvPr>
            <p:custDataLst>
              <p:tags r:id="rId4"/>
            </p:custDataLst>
          </p:nvPr>
        </p:nvGrpSpPr>
        <p:grpSpPr>
          <a:xfrm>
            <a:off x="6442812" y="296863"/>
            <a:ext cx="672405" cy="923330"/>
            <a:chOff x="7138670" y="983651"/>
            <a:chExt cx="672405" cy="923330"/>
          </a:xfrm>
        </p:grpSpPr>
        <p:sp>
          <p:nvSpPr>
            <p:cNvPr id="5" name="PA-任意多边形 9"/>
            <p:cNvSpPr/>
            <p:nvPr>
              <p:custDataLst>
                <p:tags r:id="rId35"/>
              </p:custDataLst>
            </p:nvPr>
          </p:nvSpPr>
          <p:spPr>
            <a:xfrm>
              <a:off x="7138670" y="1555752"/>
              <a:ext cx="360050" cy="202528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1 h 6858000"/>
                <a:gd name="connsiteX3" fmla="*/ 8438627 w 12192000"/>
                <a:gd name="connsiteY3" fmla="*/ 1 h 6858000"/>
                <a:gd name="connsiteX4" fmla="*/ 12192000 w 12192000"/>
                <a:gd name="connsiteY4" fmla="*/ 5623285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"/>
                  </a:lnTo>
                  <a:lnTo>
                    <a:pt x="8438627" y="1"/>
                  </a:lnTo>
                  <a:lnTo>
                    <a:pt x="12192000" y="5623285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100000"/>
                  </a:schemeClr>
                </a:gs>
                <a:gs pos="72000">
                  <a:schemeClr val="accent1">
                    <a:lumMod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8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" name="PA-文本框 13"/>
            <p:cNvSpPr txBox="1"/>
            <p:nvPr>
              <p:custDataLst>
                <p:tags r:id="rId36"/>
              </p:custDataLst>
            </p:nvPr>
          </p:nvSpPr>
          <p:spPr>
            <a:xfrm>
              <a:off x="7186365" y="983651"/>
              <a:ext cx="6247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5400" b="1" i="1" kern="0" dirty="0">
                  <a:solidFill>
                    <a:schemeClr val="accent1">
                      <a:lumMod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一</a:t>
              </a:r>
            </a:p>
          </p:txBody>
        </p:sp>
      </p:grpSp>
      <p:grpSp>
        <p:nvGrpSpPr>
          <p:cNvPr id="7" name="PA-组合 19"/>
          <p:cNvGrpSpPr/>
          <p:nvPr>
            <p:custDataLst>
              <p:tags r:id="rId5"/>
            </p:custDataLst>
          </p:nvPr>
        </p:nvGrpSpPr>
        <p:grpSpPr>
          <a:xfrm>
            <a:off x="6449071" y="1415442"/>
            <a:ext cx="672405" cy="830997"/>
            <a:chOff x="7138670" y="2490624"/>
            <a:chExt cx="672405" cy="830997"/>
          </a:xfrm>
        </p:grpSpPr>
        <p:sp>
          <p:nvSpPr>
            <p:cNvPr id="8" name="PA-任意多边形 10"/>
            <p:cNvSpPr/>
            <p:nvPr>
              <p:custDataLst>
                <p:tags r:id="rId33"/>
              </p:custDataLst>
            </p:nvPr>
          </p:nvSpPr>
          <p:spPr>
            <a:xfrm>
              <a:off x="7138670" y="2967858"/>
              <a:ext cx="360050" cy="202528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1 h 6858000"/>
                <a:gd name="connsiteX3" fmla="*/ 8438627 w 12192000"/>
                <a:gd name="connsiteY3" fmla="*/ 1 h 6858000"/>
                <a:gd name="connsiteX4" fmla="*/ 12192000 w 12192000"/>
                <a:gd name="connsiteY4" fmla="*/ 5623285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"/>
                  </a:lnTo>
                  <a:lnTo>
                    <a:pt x="8438627" y="1"/>
                  </a:lnTo>
                  <a:lnTo>
                    <a:pt x="12192000" y="5623285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100000"/>
                  </a:schemeClr>
                </a:gs>
                <a:gs pos="72000">
                  <a:schemeClr val="accent1">
                    <a:lumMod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8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PA-文本框 14"/>
            <p:cNvSpPr txBox="1"/>
            <p:nvPr>
              <p:custDataLst>
                <p:tags r:id="rId34"/>
              </p:custDataLst>
            </p:nvPr>
          </p:nvSpPr>
          <p:spPr>
            <a:xfrm>
              <a:off x="7186365" y="2490624"/>
              <a:ext cx="6247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4800" b="1" i="1" kern="0" dirty="0">
                  <a:solidFill>
                    <a:schemeClr val="accent1">
                      <a:lumMod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二</a:t>
              </a:r>
            </a:p>
          </p:txBody>
        </p:sp>
      </p:grpSp>
      <p:sp>
        <p:nvSpPr>
          <p:cNvPr id="10" name="PA-任意多边形 11"/>
          <p:cNvSpPr/>
          <p:nvPr>
            <p:custDataLst>
              <p:tags r:id="rId6"/>
            </p:custDataLst>
          </p:nvPr>
        </p:nvSpPr>
        <p:spPr>
          <a:xfrm>
            <a:off x="6317791" y="2959433"/>
            <a:ext cx="360050" cy="202528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8438627 w 12192000"/>
              <a:gd name="connsiteY3" fmla="*/ 1 h 6858000"/>
              <a:gd name="connsiteX4" fmla="*/ 12192000 w 12192000"/>
              <a:gd name="connsiteY4" fmla="*/ 5623285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8438627" y="1"/>
                </a:lnTo>
                <a:lnTo>
                  <a:pt x="12192000" y="5623285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100000"/>
                </a:schemeClr>
              </a:gs>
              <a:gs pos="72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84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PA-文本框 15"/>
          <p:cNvSpPr txBox="1"/>
          <p:nvPr>
            <p:custDataLst>
              <p:tags r:id="rId7"/>
            </p:custDataLst>
          </p:nvPr>
        </p:nvSpPr>
        <p:spPr>
          <a:xfrm>
            <a:off x="6472919" y="2396076"/>
            <a:ext cx="624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i="1" dirty="0">
                <a:solidFill>
                  <a:schemeClr val="accent1">
                    <a:lumMod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三</a:t>
            </a:r>
          </a:p>
        </p:txBody>
      </p:sp>
      <p:grpSp>
        <p:nvGrpSpPr>
          <p:cNvPr id="12" name="PA-组合 17"/>
          <p:cNvGrpSpPr/>
          <p:nvPr>
            <p:custDataLst>
              <p:tags r:id="rId8"/>
            </p:custDataLst>
          </p:nvPr>
        </p:nvGrpSpPr>
        <p:grpSpPr>
          <a:xfrm>
            <a:off x="6347510" y="3473177"/>
            <a:ext cx="672405" cy="830997"/>
            <a:chOff x="7138670" y="5303103"/>
            <a:chExt cx="672405" cy="830997"/>
          </a:xfrm>
        </p:grpSpPr>
        <p:sp>
          <p:nvSpPr>
            <p:cNvPr id="13" name="PA-任意多边形 12"/>
            <p:cNvSpPr/>
            <p:nvPr>
              <p:custDataLst>
                <p:tags r:id="rId31"/>
              </p:custDataLst>
            </p:nvPr>
          </p:nvSpPr>
          <p:spPr>
            <a:xfrm>
              <a:off x="7138670" y="5792070"/>
              <a:ext cx="360050" cy="202528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1 h 6858000"/>
                <a:gd name="connsiteX3" fmla="*/ 8438627 w 12192000"/>
                <a:gd name="connsiteY3" fmla="*/ 1 h 6858000"/>
                <a:gd name="connsiteX4" fmla="*/ 12192000 w 12192000"/>
                <a:gd name="connsiteY4" fmla="*/ 5623285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"/>
                  </a:lnTo>
                  <a:lnTo>
                    <a:pt x="8438627" y="1"/>
                  </a:lnTo>
                  <a:lnTo>
                    <a:pt x="12192000" y="5623285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100000"/>
                  </a:schemeClr>
                </a:gs>
                <a:gs pos="72000">
                  <a:schemeClr val="accent1">
                    <a:lumMod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8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PA-文本框 16"/>
            <p:cNvSpPr txBox="1"/>
            <p:nvPr>
              <p:custDataLst>
                <p:tags r:id="rId32"/>
              </p:custDataLst>
            </p:nvPr>
          </p:nvSpPr>
          <p:spPr>
            <a:xfrm>
              <a:off x="7186365" y="5303103"/>
              <a:ext cx="6247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4800" b="1" i="1" kern="0" dirty="0">
                  <a:solidFill>
                    <a:schemeClr val="accent1">
                      <a:lumMod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四</a:t>
              </a:r>
            </a:p>
          </p:txBody>
        </p:sp>
      </p:grpSp>
      <p:sp>
        <p:nvSpPr>
          <p:cNvPr id="15" name="PA-文本框 21"/>
          <p:cNvSpPr txBox="1"/>
          <p:nvPr>
            <p:custDataLst>
              <p:tags r:id="rId9"/>
            </p:custDataLst>
          </p:nvPr>
        </p:nvSpPr>
        <p:spPr>
          <a:xfrm>
            <a:off x="7245891" y="607887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呼吸灯实现</a:t>
            </a:r>
          </a:p>
        </p:txBody>
      </p:sp>
      <p:sp>
        <p:nvSpPr>
          <p:cNvPr id="17" name="PA-文本框 23"/>
          <p:cNvSpPr txBox="1"/>
          <p:nvPr>
            <p:custDataLst>
              <p:tags r:id="rId10"/>
            </p:custDataLst>
          </p:nvPr>
        </p:nvSpPr>
        <p:spPr>
          <a:xfrm>
            <a:off x="7366389" y="2621276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代码实现</a:t>
            </a:r>
          </a:p>
        </p:txBody>
      </p:sp>
      <p:cxnSp>
        <p:nvCxnSpPr>
          <p:cNvPr id="19" name="PA-直接连接符 25"/>
          <p:cNvCxnSpPr/>
          <p:nvPr>
            <p:custDataLst>
              <p:tags r:id="rId11"/>
            </p:custDataLst>
          </p:nvPr>
        </p:nvCxnSpPr>
        <p:spPr>
          <a:xfrm flipV="1">
            <a:off x="5565474" y="4867219"/>
            <a:ext cx="628650" cy="358139"/>
          </a:xfrm>
          <a:prstGeom prst="line">
            <a:avLst/>
          </a:prstGeom>
          <a:noFill/>
          <a:ln w="57150" cap="rnd" cmpd="sng" algn="ctr">
            <a:gradFill>
              <a:gsLst>
                <a:gs pos="0">
                  <a:srgbClr val="FFFFFF">
                    <a:alpha val="7700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0" name="PA-直接连接符 26"/>
          <p:cNvCxnSpPr/>
          <p:nvPr>
            <p:custDataLst>
              <p:tags r:id="rId12"/>
            </p:custDataLst>
          </p:nvPr>
        </p:nvCxnSpPr>
        <p:spPr>
          <a:xfrm flipV="1">
            <a:off x="6108366" y="5945110"/>
            <a:ext cx="1149834" cy="616027"/>
          </a:xfrm>
          <a:prstGeom prst="line">
            <a:avLst/>
          </a:prstGeom>
          <a:noFill/>
          <a:ln w="63500" cap="rnd" cmpd="sng" algn="ctr">
            <a:gradFill>
              <a:gsLst>
                <a:gs pos="0">
                  <a:srgbClr val="FFFFFF">
                    <a:alpha val="0"/>
                  </a:srgbClr>
                </a:gs>
                <a:gs pos="7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1" name="PA-直接连接符 31"/>
          <p:cNvCxnSpPr/>
          <p:nvPr>
            <p:custDataLst>
              <p:tags r:id="rId13"/>
            </p:custDataLst>
          </p:nvPr>
        </p:nvCxnSpPr>
        <p:spPr>
          <a:xfrm flipV="1">
            <a:off x="7460632" y="4071559"/>
            <a:ext cx="315585" cy="179789"/>
          </a:xfrm>
          <a:prstGeom prst="line">
            <a:avLst/>
          </a:prstGeom>
          <a:noFill/>
          <a:ln w="69850" cap="rnd" cmpd="sng" algn="ctr">
            <a:gradFill>
              <a:gsLst>
                <a:gs pos="0">
                  <a:srgbClr val="FFFFFF">
                    <a:alpha val="7700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2" name="PA-直接连接符 33"/>
          <p:cNvCxnSpPr/>
          <p:nvPr>
            <p:custDataLst>
              <p:tags r:id="rId14"/>
            </p:custDataLst>
          </p:nvPr>
        </p:nvCxnSpPr>
        <p:spPr>
          <a:xfrm flipV="1">
            <a:off x="6785274" y="5054411"/>
            <a:ext cx="574917" cy="277128"/>
          </a:xfrm>
          <a:prstGeom prst="line">
            <a:avLst/>
          </a:prstGeom>
          <a:noFill/>
          <a:ln w="47625" cap="rnd" cmpd="sng" algn="ctr"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grpSp>
        <p:nvGrpSpPr>
          <p:cNvPr id="23" name="组合 22"/>
          <p:cNvGrpSpPr/>
          <p:nvPr/>
        </p:nvGrpSpPr>
        <p:grpSpPr>
          <a:xfrm>
            <a:off x="357611" y="1592658"/>
            <a:ext cx="4378398" cy="3207306"/>
            <a:chOff x="1043940" y="2140627"/>
            <a:chExt cx="4000500" cy="2930484"/>
          </a:xfrm>
        </p:grpSpPr>
        <p:sp>
          <p:nvSpPr>
            <p:cNvPr id="24" name="PA-右中括号 1"/>
            <p:cNvSpPr/>
            <p:nvPr>
              <p:custDataLst>
                <p:tags r:id="rId17"/>
              </p:custDataLst>
            </p:nvPr>
          </p:nvSpPr>
          <p:spPr>
            <a:xfrm rot="16200000">
              <a:off x="2712720" y="1310047"/>
              <a:ext cx="662940" cy="2324100"/>
            </a:xfrm>
            <a:prstGeom prst="rightBracket">
              <a:avLst>
                <a:gd name="adj" fmla="val 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5" name="PA-右中括号 3"/>
            <p:cNvSpPr/>
            <p:nvPr>
              <p:custDataLst>
                <p:tags r:id="rId18"/>
              </p:custDataLst>
            </p:nvPr>
          </p:nvSpPr>
          <p:spPr>
            <a:xfrm rot="5400000" flipV="1">
              <a:off x="2712720" y="3577591"/>
              <a:ext cx="662940" cy="2324100"/>
            </a:xfrm>
            <a:prstGeom prst="rightBracket">
              <a:avLst>
                <a:gd name="adj" fmla="val 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6" name="PA-矩形 4"/>
            <p:cNvSpPr/>
            <p:nvPr>
              <p:custDataLst>
                <p:tags r:id="rId19"/>
              </p:custDataLst>
            </p:nvPr>
          </p:nvSpPr>
          <p:spPr>
            <a:xfrm>
              <a:off x="1043940" y="2951479"/>
              <a:ext cx="4000500" cy="108712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12700" cap="flat" cmpd="sng" algn="ctr">
              <a:gradFill>
                <a:gsLst>
                  <a:gs pos="0">
                    <a:srgbClr val="00723E">
                      <a:lumMod val="5000"/>
                      <a:lumOff val="95000"/>
                    </a:srgbClr>
                  </a:gs>
                  <a:gs pos="69400">
                    <a:srgbClr val="FAFFFD">
                      <a:alpha val="33000"/>
                    </a:srgbClr>
                  </a:gs>
                  <a:gs pos="32000">
                    <a:srgbClr val="F3FFFA">
                      <a:alpha val="0"/>
                    </a:srgbClr>
                  </a:gs>
                  <a:gs pos="100000">
                    <a:srgbClr val="FFFFFF">
                      <a:alpha val="94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PA-文本框 5"/>
            <p:cNvSpPr txBox="1"/>
            <p:nvPr>
              <p:custDataLst>
                <p:tags r:id="rId20"/>
              </p:custDataLst>
            </p:nvPr>
          </p:nvSpPr>
          <p:spPr>
            <a:xfrm>
              <a:off x="1993900" y="2986360"/>
              <a:ext cx="2100580" cy="1168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6600" b="1" kern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28" name="PA-文本框 6"/>
            <p:cNvSpPr txBox="1"/>
            <p:nvPr>
              <p:custDataLst>
                <p:tags r:id="rId21"/>
              </p:custDataLst>
            </p:nvPr>
          </p:nvSpPr>
          <p:spPr>
            <a:xfrm>
              <a:off x="2094230" y="4223504"/>
              <a:ext cx="1899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kern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CONTEXT</a:t>
              </a:r>
              <a:endParaRPr lang="zh-CN" altLang="en-US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cxnSp>
          <p:nvCxnSpPr>
            <p:cNvPr id="29" name="PA-直接连接符 42"/>
            <p:cNvCxnSpPr/>
            <p:nvPr>
              <p:custDataLst>
                <p:tags r:id="rId22"/>
              </p:custDataLst>
            </p:nvPr>
          </p:nvCxnSpPr>
          <p:spPr>
            <a:xfrm>
              <a:off x="2170176" y="4174352"/>
              <a:ext cx="1737360" cy="0"/>
            </a:xfrm>
            <a:prstGeom prst="line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grpSp>
          <p:nvGrpSpPr>
            <p:cNvPr id="30" name="PA-组合 54"/>
            <p:cNvGrpSpPr/>
            <p:nvPr>
              <p:custDataLst>
                <p:tags r:id="rId23"/>
              </p:custDataLst>
            </p:nvPr>
          </p:nvGrpSpPr>
          <p:grpSpPr>
            <a:xfrm>
              <a:off x="4200650" y="3381742"/>
              <a:ext cx="221996" cy="292636"/>
              <a:chOff x="4206240" y="3385284"/>
              <a:chExt cx="221996" cy="292636"/>
            </a:xfrm>
          </p:grpSpPr>
          <p:cxnSp>
            <p:nvCxnSpPr>
              <p:cNvPr id="35" name="PA-直接连接符 47"/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4206240" y="3385284"/>
                <a:ext cx="0" cy="292636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" name="PA-直接连接符 48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4322064" y="3429000"/>
                <a:ext cx="0" cy="198120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" name="PA-直接连接符 49"/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4428236" y="3459480"/>
                <a:ext cx="0" cy="144561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1" name="PA-组合 55"/>
            <p:cNvGrpSpPr/>
            <p:nvPr>
              <p:custDataLst>
                <p:tags r:id="rId24"/>
              </p:custDataLst>
            </p:nvPr>
          </p:nvGrpSpPr>
          <p:grpSpPr>
            <a:xfrm flipH="1">
              <a:off x="1665733" y="3381742"/>
              <a:ext cx="221996" cy="292636"/>
              <a:chOff x="4206240" y="3385284"/>
              <a:chExt cx="221996" cy="292636"/>
            </a:xfrm>
          </p:grpSpPr>
          <p:cxnSp>
            <p:nvCxnSpPr>
              <p:cNvPr id="32" name="PA-直接连接符 56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4206240" y="3385284"/>
                <a:ext cx="0" cy="292636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" name="PA-直接连接符 57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4322064" y="3429000"/>
                <a:ext cx="0" cy="198120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4" name="PA-直接连接符 58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4428236" y="3459480"/>
                <a:ext cx="0" cy="144561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39" name="文本框 38"/>
          <p:cNvSpPr txBox="1"/>
          <p:nvPr/>
        </p:nvSpPr>
        <p:spPr>
          <a:xfrm>
            <a:off x="6290898" y="4402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cxnSp>
        <p:nvCxnSpPr>
          <p:cNvPr id="38" name="PA-直接连接符 33"/>
          <p:cNvCxnSpPr/>
          <p:nvPr>
            <p:custDataLst>
              <p:tags r:id="rId15"/>
            </p:custDataLst>
          </p:nvPr>
        </p:nvCxnSpPr>
        <p:spPr>
          <a:xfrm flipV="1">
            <a:off x="6727975" y="5947454"/>
            <a:ext cx="574917" cy="277128"/>
          </a:xfrm>
          <a:prstGeom prst="line">
            <a:avLst/>
          </a:prstGeom>
          <a:noFill/>
          <a:ln w="47625" cap="rnd" cmpd="sng" algn="ctr"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E678E7A-E0CF-E242-434B-88590C4535DB}"/>
              </a:ext>
            </a:extLst>
          </p:cNvPr>
          <p:cNvSpPr txBox="1"/>
          <p:nvPr/>
        </p:nvSpPr>
        <p:spPr>
          <a:xfrm>
            <a:off x="7245891" y="1590473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DE,CDE</a:t>
            </a:r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算法学习</a:t>
            </a:r>
          </a:p>
        </p:txBody>
      </p:sp>
      <p:sp>
        <p:nvSpPr>
          <p:cNvPr id="53" name="PA-文本框 23">
            <a:extLst>
              <a:ext uri="{FF2B5EF4-FFF2-40B4-BE49-F238E27FC236}">
                <a16:creationId xmlns:a16="http://schemas.microsoft.com/office/drawing/2014/main" id="{AC9C0FC4-A747-960A-FFC0-A27D18734C2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357271" y="3669918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对极光优化算法的改进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4272"/>
            <a:ext cx="12191997" cy="3073231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4329810" y="4497597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呼吸灯实现</a:t>
            </a:r>
            <a:r>
              <a:rPr lang="zh-CN" altLang="en-US" sz="54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2207565" y="5490719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endParaRPr lang="zh-CN" altLang="en-US" sz="2000" dirty="0">
              <a:solidFill>
                <a:schemeClr val="accen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37003" y="2386575"/>
            <a:ext cx="13179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6BFEC38-21DA-1F66-5F59-F56CBAFBD9ED}"/>
              </a:ext>
            </a:extLst>
          </p:cNvPr>
          <p:cNvSpPr txBox="1"/>
          <p:nvPr/>
        </p:nvSpPr>
        <p:spPr>
          <a:xfrm>
            <a:off x="834620" y="1521954"/>
            <a:ext cx="2301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HLS</a:t>
            </a:r>
            <a:r>
              <a:rPr lang="zh-CN" altLang="en-US" dirty="0"/>
              <a:t>中，导入</a:t>
            </a:r>
            <a:r>
              <a:rPr lang="en-US" altLang="zh-CN" dirty="0"/>
              <a:t>led</a:t>
            </a:r>
            <a:r>
              <a:rPr lang="zh-CN" altLang="en-US" dirty="0"/>
              <a:t>代码，然后进行仿真，综合然后打包</a:t>
            </a:r>
            <a:r>
              <a:rPr lang="en-US" altLang="zh-CN" dirty="0"/>
              <a:t>IP</a:t>
            </a:r>
            <a:r>
              <a:rPr lang="zh-CN" altLang="en-US" dirty="0"/>
              <a:t>核生成压缩包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4C296F-6B4E-0243-5A16-00776922D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60" y="877578"/>
            <a:ext cx="7970965" cy="5537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02D8-B8F3-0C8E-D582-1CCE62A9B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9326304-DC0D-52C1-9378-B5E1B81C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830" y="3374430"/>
            <a:ext cx="5969170" cy="34835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E5CC57-7254-7DB1-A64A-2C829BB9F54E}"/>
              </a:ext>
            </a:extLst>
          </p:cNvPr>
          <p:cNvSpPr txBox="1"/>
          <p:nvPr/>
        </p:nvSpPr>
        <p:spPr>
          <a:xfrm>
            <a:off x="1301024" y="4246743"/>
            <a:ext cx="3663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/>
              <a:t>IP</a:t>
            </a:r>
            <a:r>
              <a:rPr lang="zh-CN" altLang="en-US" dirty="0"/>
              <a:t>核导入到</a:t>
            </a:r>
            <a:r>
              <a:rPr lang="en-US" altLang="zh-CN" dirty="0" err="1"/>
              <a:t>vivado</a:t>
            </a:r>
            <a:r>
              <a:rPr lang="zh-CN" altLang="en-US" dirty="0"/>
              <a:t>，对</a:t>
            </a:r>
            <a:r>
              <a:rPr lang="en-US" altLang="zh-CN" dirty="0" err="1"/>
              <a:t>zynq</a:t>
            </a:r>
            <a:r>
              <a:rPr lang="zh-CN" altLang="en-US" dirty="0"/>
              <a:t>板子进行配置然后连线</a:t>
            </a:r>
            <a:r>
              <a:rPr lang="en-US" altLang="zh-CN" dirty="0"/>
              <a:t>BD</a:t>
            </a:r>
            <a:r>
              <a:rPr lang="zh-CN" altLang="en-US" dirty="0"/>
              <a:t>图，然后进行引脚配置，生成比特流，</a:t>
            </a:r>
            <a:r>
              <a:rPr lang="en-US" altLang="zh-CN" dirty="0"/>
              <a:t>Export hardware</a:t>
            </a:r>
            <a:r>
              <a:rPr lang="zh-CN" altLang="en-US" dirty="0"/>
              <a:t>，启动</a:t>
            </a:r>
            <a:r>
              <a:rPr lang="en-US" altLang="zh-CN" dirty="0"/>
              <a:t>SDK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4F367E-BDD2-57E3-FE75-9375F1909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28943" cy="328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8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52A2E-87DC-1FC8-1CAE-0C58A26F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028B318-2C63-DB64-E800-005C7F926FA5}"/>
              </a:ext>
            </a:extLst>
          </p:cNvPr>
          <p:cNvSpPr txBox="1"/>
          <p:nvPr/>
        </p:nvSpPr>
        <p:spPr>
          <a:xfrm>
            <a:off x="1324146" y="2782669"/>
            <a:ext cx="2887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连接端口，连线，然后</a:t>
            </a:r>
            <a:r>
              <a:rPr lang="en-US" altLang="zh-CN" dirty="0"/>
              <a:t>run as launch on</a:t>
            </a:r>
            <a:r>
              <a:rPr lang="zh-CN" altLang="en-US" dirty="0"/>
              <a:t> </a:t>
            </a:r>
            <a:r>
              <a:rPr lang="en-US" altLang="zh-CN" dirty="0"/>
              <a:t>hardware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BD305F-24C3-97E7-EC9E-06E51499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043" y="736269"/>
            <a:ext cx="7734634" cy="553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6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8" b="7188"/>
          <a:stretch>
            <a:fillRect/>
          </a:stretch>
        </p:blipFill>
        <p:spPr>
          <a:xfrm>
            <a:off x="0" y="0"/>
            <a:ext cx="12192000" cy="30689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1997" cy="3068959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3431702" y="4913783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5400" dirty="0" err="1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DE,cDE</a:t>
            </a:r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算法学习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0704512" y="6406826"/>
            <a:ext cx="309880" cy="270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chemeClr val="accent1">
                  <a:lumMod val="100000"/>
                  <a:alpha val="70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37003" y="2386575"/>
            <a:ext cx="13179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二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A055-A566-09E4-1332-4B1A7765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D2882BF-285B-54AD-6B96-E3675A5E8222}"/>
              </a:ext>
            </a:extLst>
          </p:cNvPr>
          <p:cNvSpPr txBox="1"/>
          <p:nvPr/>
        </p:nvSpPr>
        <p:spPr>
          <a:xfrm>
            <a:off x="341745" y="609600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差分进化（</a:t>
            </a:r>
            <a:r>
              <a:rPr lang="en-US" altLang="zh-CN" dirty="0"/>
              <a:t>DE</a:t>
            </a:r>
            <a:r>
              <a:rPr lang="zh-CN" altLang="en-US" dirty="0"/>
              <a:t>）算法原理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7F34C8-23B0-4234-EB35-525FBEC490F0}"/>
              </a:ext>
            </a:extLst>
          </p:cNvPr>
          <p:cNvSpPr txBox="1"/>
          <p:nvPr/>
        </p:nvSpPr>
        <p:spPr>
          <a:xfrm>
            <a:off x="341745" y="1136317"/>
            <a:ext cx="11314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差分进化（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Differential Evolution, DE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）算法是一种基于群体的优化算法，最初由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Storn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Price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在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1995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年提出。它主要应用于连续函数的优化问题。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DE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算法通过简单而有效的机制来实现搜索空间中的探索与开发，其核心思想是通过变异、交叉以及选择操作来指导种群的演化。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3B92AC-BBD8-E048-6755-E29AB8556DFB}"/>
              </a:ext>
            </a:extLst>
          </p:cNvPr>
          <p:cNvSpPr txBox="1"/>
          <p:nvPr/>
        </p:nvSpPr>
        <p:spPr>
          <a:xfrm>
            <a:off x="341746" y="2028364"/>
            <a:ext cx="72967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</a:t>
            </a:r>
            <a:r>
              <a:rPr lang="zh-CN" altLang="en-US" dirty="0"/>
              <a:t>算法的主要步骤如下：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初始化：随机生成一个初始种群。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变异：为每个个体选择三个不同的个体，并使用变异因子</a:t>
            </a:r>
            <a:r>
              <a:rPr lang="en-US" altLang="zh-CN" dirty="0"/>
              <a:t>F</a:t>
            </a:r>
            <a:r>
              <a:rPr lang="zh-CN" altLang="en-US" dirty="0"/>
              <a:t>来生成变异向量。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其中，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KaTeX_Main"/>
              </a:rPr>
              <a:t>Xig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KaTeX_Main"/>
              </a:rPr>
              <a:t>​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 是当前迭代中个体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KaTeX_Main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的位置，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KaTeX_Main"/>
              </a:rPr>
              <a:t>Xr1g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 和 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KaTeX_Main"/>
              </a:rPr>
              <a:t>Xr2g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 是两个随机选择的不同个体，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KaTeX_Main"/>
              </a:rPr>
              <a:t>Vig+1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是变异产生的新向量。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交叉：将变异向量与原个体进行交叉操作以生成试验向量。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其中，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KaTeX_Main"/>
              </a:rPr>
              <a:t>CR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是交叉率，控制着来自变异向量的值与原始个体的值之间的替换比例。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选择：基于适应度函数比较候选解与目标解，保留最优解。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AC0B0A3-E066-D1C0-8E2A-3F2641CB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397" y="3124996"/>
            <a:ext cx="3513426" cy="54971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7EE04DD-5496-976D-DF63-DCFC818A3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72" y="4610937"/>
            <a:ext cx="4192876" cy="72852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0CE5E32-47D9-1212-16A3-CA8DC1CE1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917" y="2317090"/>
            <a:ext cx="4492083" cy="408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6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7DF06-2B11-7034-C4C6-D0B237F2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B0721C0-B15C-1D33-10D4-7321A6AB9446}"/>
              </a:ext>
            </a:extLst>
          </p:cNvPr>
          <p:cNvSpPr txBox="1"/>
          <p:nvPr/>
        </p:nvSpPr>
        <p:spPr>
          <a:xfrm>
            <a:off x="379453" y="43049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代码运行结果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C2F59C-23FF-280F-5430-F976B92DCFD5}"/>
              </a:ext>
            </a:extLst>
          </p:cNvPr>
          <p:cNvSpPr txBox="1"/>
          <p:nvPr/>
        </p:nvSpPr>
        <p:spPr>
          <a:xfrm>
            <a:off x="949096" y="957699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目标函数：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82CE33-1974-5172-4345-8C67754D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936" y="837538"/>
            <a:ext cx="2487384" cy="6096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A627EB-5244-E108-E807-CB0ADD5E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714" y="869831"/>
            <a:ext cx="3095625" cy="4572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54F39EA-05BF-DA28-EF1B-4824F13F98FE}"/>
              </a:ext>
            </a:extLst>
          </p:cNvPr>
          <p:cNvSpPr txBox="1"/>
          <p:nvPr/>
        </p:nvSpPr>
        <p:spPr>
          <a:xfrm>
            <a:off x="3375720" y="211160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代结果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A6A450-670F-3B57-AD36-EE47AACFA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162" y="2758972"/>
            <a:ext cx="3334801" cy="312142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4199A76-62CA-BC6F-7C78-DD784C1550D3}"/>
              </a:ext>
            </a:extLst>
          </p:cNvPr>
          <p:cNvSpPr txBox="1"/>
          <p:nvPr/>
        </p:nvSpPr>
        <p:spPr>
          <a:xfrm>
            <a:off x="8163612" y="2111605"/>
            <a:ext cx="2620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100</a:t>
            </a:r>
            <a:r>
              <a:rPr lang="zh-CN" altLang="en-US" dirty="0"/>
              <a:t>代结果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D8160BE-567B-A5D8-3CC1-7D2E3F5B3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215" y="2758972"/>
            <a:ext cx="3950550" cy="32555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F776AED-B718-BCA9-40A9-D8D965E84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53" y="2755226"/>
            <a:ext cx="24860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1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785C-215C-75B8-EE4C-7998FF31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F739D39-A270-F134-DA81-94118557D433}"/>
              </a:ext>
            </a:extLst>
          </p:cNvPr>
          <p:cNvSpPr txBox="1"/>
          <p:nvPr/>
        </p:nvSpPr>
        <p:spPr>
          <a:xfrm>
            <a:off x="452581" y="1330695"/>
            <a:ext cx="104832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 Compact Differential Evolution (</a:t>
            </a:r>
            <a:r>
              <a:rPr lang="en-US" altLang="zh-CN" b="1" dirty="0" err="1"/>
              <a:t>cDE</a:t>
            </a:r>
            <a:r>
              <a:rPr lang="en-US" altLang="zh-CN" b="1" dirty="0"/>
              <a:t>) </a:t>
            </a:r>
            <a:r>
              <a:rPr lang="zh-CN" altLang="en-US" b="1" dirty="0"/>
              <a:t>算法</a:t>
            </a:r>
          </a:p>
          <a:p>
            <a:r>
              <a:rPr lang="en-US" altLang="zh-CN" dirty="0" err="1"/>
              <a:t>cDE</a:t>
            </a:r>
            <a:r>
              <a:rPr lang="zh-CN" altLang="en-US" dirty="0"/>
              <a:t>算法是</a:t>
            </a:r>
            <a:r>
              <a:rPr lang="en-US" altLang="zh-CN" dirty="0"/>
              <a:t>DE</a:t>
            </a:r>
            <a:r>
              <a:rPr lang="zh-CN" altLang="en-US" dirty="0"/>
              <a:t>算法的紧凑变体，旨在减少硬件实现时的资源需求。其核心思想在于用</a:t>
            </a:r>
            <a:r>
              <a:rPr lang="zh-CN" altLang="en-US" b="1" dirty="0"/>
              <a:t>概率模型</a:t>
            </a:r>
            <a:r>
              <a:rPr lang="zh-CN" altLang="en-US" dirty="0"/>
              <a:t>替代了</a:t>
            </a:r>
            <a:r>
              <a:rPr lang="en-US" altLang="zh-CN" dirty="0"/>
              <a:t>DE</a:t>
            </a:r>
            <a:r>
              <a:rPr lang="zh-CN" altLang="en-US" dirty="0"/>
              <a:t>算法中的种群，从而降低了内存需求和计算复杂度。这种方法在实现时只需要存储少量的概率分布信息，而不需要整个种群。具体来说，</a:t>
            </a:r>
            <a:r>
              <a:rPr lang="en-US" altLang="zh-CN" dirty="0" err="1"/>
              <a:t>cDE</a:t>
            </a:r>
            <a:r>
              <a:rPr lang="zh-CN" altLang="en-US" dirty="0"/>
              <a:t>算法的核心是以下几点：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概率分布表示</a:t>
            </a:r>
            <a:r>
              <a:rPr lang="zh-CN" altLang="en-US" dirty="0"/>
              <a:t>：</a:t>
            </a:r>
            <a:r>
              <a:rPr lang="en-US" altLang="zh-CN" dirty="0" err="1"/>
              <a:t>cDE</a:t>
            </a:r>
            <a:r>
              <a:rPr lang="zh-CN" altLang="en-US" dirty="0"/>
              <a:t>通过一个紧凑的概率向量（均值和方差）来表示整个种群的分布。种群中的个体不是存储在内存中，而是通过概率生成。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变异和交叉操作的简化</a:t>
            </a:r>
            <a:r>
              <a:rPr lang="zh-CN" altLang="en-US" dirty="0"/>
              <a:t>：</a:t>
            </a:r>
            <a:r>
              <a:rPr lang="en-US" altLang="zh-CN" dirty="0" err="1"/>
              <a:t>cDE</a:t>
            </a:r>
            <a:r>
              <a:rPr lang="zh-CN" altLang="en-US" dirty="0"/>
              <a:t>通过随机样本生成的方式进行变异和交叉，避免了大规模的数据存储与复制操作。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减少内存占用</a:t>
            </a:r>
            <a:r>
              <a:rPr lang="zh-CN" altLang="en-US" dirty="0"/>
              <a:t>：使用概率分布的方式减少了种群内个体的存储，从而降低了内存的消耗。</a:t>
            </a:r>
          </a:p>
        </p:txBody>
      </p:sp>
    </p:spTree>
    <p:extLst>
      <p:ext uri="{BB962C8B-B14F-4D97-AF65-F5344CB8AC3E}">
        <p14:creationId xmlns:p14="http://schemas.microsoft.com/office/powerpoint/2010/main" val="2728286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722D-8897-5F7E-58E1-E31EAAAE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F1493A-7471-84C4-1B69-2152E83E3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01" y="1058028"/>
            <a:ext cx="1145356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/>
              <a:t>3. FPGA 上的 cDE 实现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/>
              <a:t>在FPGA上实现cDE算法时，需要充分利用硬件资源和优化计算效率。本文档中，设计了一种名为cDE-emc-um的cDE算法变体，适用于FPGA的资源受限环境。cDE-emc-um的设计特点如下​：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zh-CN" altLang="zh-CN" dirty="0"/>
              <a:t>集合变异和交叉策略（ensemble mutation and crossover）：通过组合多种变异和交叉策略，提升算法的全局搜索能力。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zh-CN" altLang="zh-CN" dirty="0"/>
              <a:t>统一的硬件-软件架构：cDE-emc-um算法在FPGA和ARM处理器上实现了一个统一的架构，处理不同的优化问题。这一架构通过将问题的数据封装成一个不确定性矩阵，实现了通用性。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zh-CN" altLang="zh-CN" dirty="0"/>
              <a:t>随机扰动操作（uniform mutation operation）：引入随机扰动来避免局部最优陷阱，提高全局收敛性。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/>
              <a:t>4. cDE-emc-um 的主要步骤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/>
              <a:t>cDE-emc-um在实现过程中加入了新的机制以提升效率。其主要步骤如下：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zh-CN" altLang="zh-CN" dirty="0"/>
              <a:t>初始化概率向量（PV）：初始化均值和标准差作为概率向量的初始值，生成初始解。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zh-CN" altLang="zh-CN" dirty="0"/>
              <a:t>变异和交叉操作集成：cDE-emc-um将变异和交叉操作进行了集成，每一维度根据一个随机值判断是否进行交叉或变异操作，以减少冗余计算。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zh-CN" altLang="zh-CN" dirty="0"/>
              <a:t>更新概率向量：每一轮后，通过获胜解与失败解来调整概率向量的均值和方差，以引导搜索方向。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355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FE77-A32D-F5D0-B36D-B8BF2795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210DE50-D775-A05F-D51E-26AD1912585F}"/>
              </a:ext>
            </a:extLst>
          </p:cNvPr>
          <p:cNvSpPr txBox="1"/>
          <p:nvPr/>
        </p:nvSpPr>
        <p:spPr>
          <a:xfrm>
            <a:off x="665017" y="997527"/>
            <a:ext cx="114530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为了适应</a:t>
            </a:r>
            <a:r>
              <a:rPr lang="en-US" altLang="zh-CN" dirty="0"/>
              <a:t>FPGA</a:t>
            </a:r>
            <a:r>
              <a:rPr lang="zh-CN" altLang="en-US" dirty="0"/>
              <a:t>的资源限制，</a:t>
            </a:r>
            <a:r>
              <a:rPr lang="en-US" altLang="zh-CN" dirty="0" err="1"/>
              <a:t>cDE</a:t>
            </a:r>
            <a:r>
              <a:rPr lang="en-US" altLang="zh-CN" dirty="0"/>
              <a:t>-</a:t>
            </a:r>
            <a:r>
              <a:rPr lang="en-US" altLang="zh-CN" dirty="0" err="1"/>
              <a:t>emc</a:t>
            </a:r>
            <a:r>
              <a:rPr lang="en-US" altLang="zh-CN" dirty="0"/>
              <a:t>-um</a:t>
            </a:r>
            <a:r>
              <a:rPr lang="zh-CN" altLang="en-US" dirty="0"/>
              <a:t>在硬件实现时采用了如下优化：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近似误差函数实现：为降低硬件资源的占用，</a:t>
            </a:r>
            <a:r>
              <a:rPr lang="en-US" altLang="zh-CN" dirty="0" err="1"/>
              <a:t>cDE</a:t>
            </a:r>
            <a:r>
              <a:rPr lang="en-US" altLang="zh-CN" dirty="0"/>
              <a:t>-</a:t>
            </a:r>
            <a:r>
              <a:rPr lang="en-US" altLang="zh-CN" dirty="0" err="1"/>
              <a:t>emc</a:t>
            </a:r>
            <a:r>
              <a:rPr lang="en-US" altLang="zh-CN" dirty="0"/>
              <a:t>-um</a:t>
            </a:r>
            <a:r>
              <a:rPr lang="zh-CN" altLang="en-US" dirty="0"/>
              <a:t>对误差函数进行了近似替代，用多项式逼近的方法替代了复杂的误差函数运算。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随机数生成：</a:t>
            </a:r>
            <a:r>
              <a:rPr lang="en-US" altLang="zh-CN" dirty="0" err="1"/>
              <a:t>cDE</a:t>
            </a:r>
            <a:r>
              <a:rPr lang="en-US" altLang="zh-CN" dirty="0"/>
              <a:t>-</a:t>
            </a:r>
            <a:r>
              <a:rPr lang="en-US" altLang="zh-CN" dirty="0" err="1"/>
              <a:t>emc</a:t>
            </a:r>
            <a:r>
              <a:rPr lang="en-US" altLang="zh-CN" dirty="0"/>
              <a:t>-um</a:t>
            </a:r>
            <a:r>
              <a:rPr lang="zh-CN" altLang="en-US" dirty="0"/>
              <a:t>使用线性反馈移位寄存器（</a:t>
            </a:r>
            <a:r>
              <a:rPr lang="en-US" altLang="zh-CN" dirty="0"/>
              <a:t>LFSR</a:t>
            </a:r>
            <a:r>
              <a:rPr lang="zh-CN" altLang="en-US" dirty="0"/>
              <a:t>）生成随机数，代替传统的伪随机数生成器（</a:t>
            </a:r>
            <a:r>
              <a:rPr lang="en-US" altLang="zh-CN" dirty="0"/>
              <a:t>PRNG</a:t>
            </a:r>
            <a:r>
              <a:rPr lang="zh-CN" altLang="en-US" dirty="0"/>
              <a:t>），进一步节省了硬件资源。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简化运算：减少不必要的函数调用和重复运算，例如在变异中引入的简化公式降低了计算复杂度​。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7356C7-08D7-D8FF-B826-A2EB6CDB484F}"/>
              </a:ext>
            </a:extLst>
          </p:cNvPr>
          <p:cNvSpPr txBox="1"/>
          <p:nvPr/>
        </p:nvSpPr>
        <p:spPr>
          <a:xfrm>
            <a:off x="665017" y="3285201"/>
            <a:ext cx="6109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实验结果表明，</a:t>
            </a:r>
            <a:r>
              <a:rPr lang="en-US" altLang="zh-CN" dirty="0" err="1"/>
              <a:t>cDE</a:t>
            </a:r>
            <a:r>
              <a:rPr lang="en-US" altLang="zh-CN" dirty="0"/>
              <a:t>-</a:t>
            </a:r>
            <a:r>
              <a:rPr lang="en-US" altLang="zh-CN" dirty="0" err="1"/>
              <a:t>emc</a:t>
            </a:r>
            <a:r>
              <a:rPr lang="en-US" altLang="zh-CN" dirty="0"/>
              <a:t>-um</a:t>
            </a:r>
            <a:r>
              <a:rPr lang="zh-CN" altLang="en-US" dirty="0"/>
              <a:t>在</a:t>
            </a:r>
            <a:r>
              <a:rPr lang="en-US" altLang="zh-CN" dirty="0"/>
              <a:t>FPGA</a:t>
            </a:r>
            <a:r>
              <a:rPr lang="zh-CN" altLang="en-US" dirty="0"/>
              <a:t>上表现优越，既减少了计算资源，也在多种优化任务上达到了良好的性能。</a:t>
            </a:r>
            <a:r>
              <a:rPr lang="en-US" altLang="zh-CN" dirty="0" err="1"/>
              <a:t>cDE</a:t>
            </a:r>
            <a:r>
              <a:rPr lang="en-US" altLang="zh-CN" dirty="0"/>
              <a:t>-</a:t>
            </a:r>
            <a:r>
              <a:rPr lang="en-US" altLang="zh-CN" dirty="0" err="1"/>
              <a:t>emc</a:t>
            </a:r>
            <a:r>
              <a:rPr lang="en-US" altLang="zh-CN" dirty="0"/>
              <a:t>-um</a:t>
            </a:r>
            <a:r>
              <a:rPr lang="zh-CN" altLang="en-US" dirty="0"/>
              <a:t>的全局搜索能力和低资源占用使其在多种设备和任务中表现优异​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38EB39-03D7-5BFA-8B47-22DBA055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85530"/>
            <a:ext cx="5981922" cy="219580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337446-CD6B-C5D0-51C0-09BA5918F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34" y="4485530"/>
            <a:ext cx="52387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8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8" b="7188"/>
          <a:stretch>
            <a:fillRect/>
          </a:stretch>
        </p:blipFill>
        <p:spPr>
          <a:xfrm>
            <a:off x="0" y="0"/>
            <a:ext cx="12192000" cy="30689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1997" cy="3068959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4655839" y="4497597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代码实现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2207565" y="5490719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10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37003" y="2389516"/>
            <a:ext cx="13179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三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4CD9-C2E4-AD77-38D7-AC8A9274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1CC9BD-2708-1128-3924-5DB0079A1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0" y="254099"/>
            <a:ext cx="114535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CDE</a:t>
            </a:r>
            <a:r>
              <a:rPr lang="zh-CN" altLang="en-US" dirty="0"/>
              <a:t>代码来自培城师哥。</a:t>
            </a: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按照呼吸灯的方式对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CDE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代码进行操作。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1.</a:t>
            </a:r>
            <a:r>
              <a:rPr lang="zh-CN" altLang="en-US" dirty="0"/>
              <a:t>在</a:t>
            </a:r>
            <a:r>
              <a:rPr lang="en-US" altLang="zh-CN" dirty="0"/>
              <a:t>HLS</a:t>
            </a:r>
            <a:r>
              <a:rPr lang="zh-CN" altLang="en-US" dirty="0"/>
              <a:t>中，导入代码，然后进行仿真、综合，然后打包</a:t>
            </a:r>
            <a:r>
              <a:rPr lang="en-US" altLang="zh-CN" dirty="0"/>
              <a:t>IP</a:t>
            </a:r>
            <a:r>
              <a:rPr lang="zh-CN" altLang="en-US" dirty="0"/>
              <a:t>核生成压缩包。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3984BC-805A-3E0E-6A98-A297C60C7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1505238"/>
            <a:ext cx="9328728" cy="50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1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236F-4851-1193-C5B3-9C1B6E8E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C803A9-0BC4-4F19-BBC2-689ADBE2F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20" y="409051"/>
            <a:ext cx="61626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/>
              <a:t>IP</a:t>
            </a:r>
            <a:r>
              <a:rPr lang="zh-CN" altLang="en-US" dirty="0"/>
              <a:t>核导入到</a:t>
            </a:r>
            <a:r>
              <a:rPr lang="en-US" altLang="zh-CN" dirty="0" err="1"/>
              <a:t>vivado</a:t>
            </a:r>
            <a:r>
              <a:rPr lang="zh-CN" altLang="en-US" dirty="0"/>
              <a:t>，对板子进行配置然后连线</a:t>
            </a:r>
            <a:r>
              <a:rPr lang="en-US" altLang="zh-CN" dirty="0"/>
              <a:t>BD</a:t>
            </a:r>
            <a:r>
              <a:rPr lang="zh-CN" altLang="en-US" dirty="0"/>
              <a:t>图，然后进行引脚配置，编写约束文件，生成比特流，</a:t>
            </a:r>
            <a:r>
              <a:rPr lang="en-US" altLang="zh-CN" dirty="0"/>
              <a:t>Export hardware</a:t>
            </a:r>
            <a:r>
              <a:rPr lang="zh-CN" altLang="en-US" dirty="0"/>
              <a:t>，启动</a:t>
            </a:r>
            <a:r>
              <a:rPr lang="en-US" altLang="zh-CN" dirty="0"/>
              <a:t>SDK</a:t>
            </a:r>
            <a:endParaRPr lang="zh-CN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3CB477-BA44-5455-03E4-2FBBF502D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1338413"/>
            <a:ext cx="9173044" cy="535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6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59C08-9833-6990-8F67-2260E92D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ECCF74-31E3-5F10-D04A-D6BF212D6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20" y="547551"/>
            <a:ext cx="61626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/>
              <a:t>连接端口</a:t>
            </a:r>
            <a:r>
              <a:rPr lang="en-US" altLang="zh-CN" dirty="0"/>
              <a:t>COM7</a:t>
            </a:r>
            <a:r>
              <a:rPr lang="zh-CN" altLang="en-US" dirty="0"/>
              <a:t>，连线，然后</a:t>
            </a:r>
            <a:r>
              <a:rPr lang="en-US" altLang="zh-CN" dirty="0"/>
              <a:t>run as launch on</a:t>
            </a:r>
            <a:r>
              <a:rPr lang="zh-CN" altLang="en-US" dirty="0"/>
              <a:t> </a:t>
            </a:r>
            <a:r>
              <a:rPr lang="en-US" altLang="zh-CN" dirty="0"/>
              <a:t>hardware</a:t>
            </a:r>
            <a:r>
              <a:rPr lang="zh-CN" altLang="en-US" dirty="0"/>
              <a:t>，观察输出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E98CF8-A9ED-3035-9C94-45F0F535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4" y="1078572"/>
            <a:ext cx="9197846" cy="54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90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B118-4014-1F7A-96A6-D28F0799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>
            <a:extLst>
              <a:ext uri="{FF2B5EF4-FFF2-40B4-BE49-F238E27FC236}">
                <a16:creationId xmlns:a16="http://schemas.microsoft.com/office/drawing/2014/main" id="{842FA5E6-F63C-C188-0FB4-6B01F54EFB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8" b="7188"/>
          <a:stretch>
            <a:fillRect/>
          </a:stretch>
        </p:blipFill>
        <p:spPr>
          <a:xfrm>
            <a:off x="0" y="0"/>
            <a:ext cx="12192000" cy="306895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10572E6-B2AF-E5D7-09EE-31287491789A}"/>
              </a:ext>
            </a:extLst>
          </p:cNvPr>
          <p:cNvSpPr/>
          <p:nvPr/>
        </p:nvSpPr>
        <p:spPr>
          <a:xfrm>
            <a:off x="0" y="0"/>
            <a:ext cx="12191997" cy="3068959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>
            <a:extLst>
              <a:ext uri="{FF2B5EF4-FFF2-40B4-BE49-F238E27FC236}">
                <a16:creationId xmlns:a16="http://schemas.microsoft.com/office/drawing/2014/main" id="{BFE09774-86DE-9791-5267-80975D6027E2}"/>
              </a:ext>
            </a:extLst>
          </p:cNvPr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4ACE7617-F56F-F84F-F99D-13E391BFBEAD}"/>
              </a:ext>
            </a:extLst>
          </p:cNvPr>
          <p:cNvSpPr txBox="1"/>
          <p:nvPr/>
        </p:nvSpPr>
        <p:spPr>
          <a:xfrm>
            <a:off x="2743200" y="4497597"/>
            <a:ext cx="7241231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对极光优化算法的改进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10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9BAF14A-5111-D6D9-111E-0BEC00921348}"/>
              </a:ext>
            </a:extLst>
          </p:cNvPr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>
            <a:extLst>
              <a:ext uri="{FF2B5EF4-FFF2-40B4-BE49-F238E27FC236}">
                <a16:creationId xmlns:a16="http://schemas.microsoft.com/office/drawing/2014/main" id="{EC01C035-A045-B443-2C39-02FD773D8ADA}"/>
              </a:ext>
            </a:extLst>
          </p:cNvPr>
          <p:cNvSpPr txBox="1"/>
          <p:nvPr/>
        </p:nvSpPr>
        <p:spPr>
          <a:xfrm>
            <a:off x="2207565" y="5490719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10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13F849-F930-8CA8-C6A4-89FF9C026CBC}"/>
              </a:ext>
            </a:extLst>
          </p:cNvPr>
          <p:cNvSpPr txBox="1"/>
          <p:nvPr/>
        </p:nvSpPr>
        <p:spPr>
          <a:xfrm>
            <a:off x="5437003" y="2389516"/>
            <a:ext cx="13179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四</a:t>
            </a:r>
          </a:p>
        </p:txBody>
      </p:sp>
    </p:spTree>
    <p:extLst>
      <p:ext uri="{BB962C8B-B14F-4D97-AF65-F5344CB8AC3E}">
        <p14:creationId xmlns:p14="http://schemas.microsoft.com/office/powerpoint/2010/main" val="18046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AB20-5800-CE18-9FC6-0E3CB85E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D763DD-9EB6-7068-6292-8B1E35561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525981"/>
            <a:ext cx="6511636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600" dirty="0"/>
              <a:t>将极光优化算法代码运行（如右图），并运行比较了其他优化算法。</a:t>
            </a:r>
            <a:endParaRPr lang="en-US" altLang="zh-CN" sz="1600" dirty="0"/>
          </a:p>
          <a:p>
            <a:r>
              <a:rPr lang="zh-CN" altLang="en-US" sz="1600" dirty="0"/>
              <a:t>接下来我将会对极光优化算法进行改进，获取最低曲线数据图。</a:t>
            </a:r>
            <a:endParaRPr lang="en-US" altLang="zh-CN" sz="1600" dirty="0"/>
          </a:p>
          <a:p>
            <a:r>
              <a:rPr lang="zh-CN" altLang="en-US" sz="1600" dirty="0"/>
              <a:t>我现在设想的改进策略：基于岛屿模型的子群体并行化改进方案</a:t>
            </a:r>
            <a:br>
              <a:rPr lang="en-US" altLang="zh-CN" sz="1600" dirty="0"/>
            </a:br>
            <a:r>
              <a:rPr lang="en-US" altLang="zh-CN" sz="1600" b="1" dirty="0"/>
              <a:t>1. </a:t>
            </a:r>
            <a:r>
              <a:rPr lang="zh-CN" altLang="en-US" sz="1600" b="1" dirty="0"/>
              <a:t>子群体划分与初始化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群体划分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dirty="0"/>
              <a:t>将极光优化算法的候选解集划分为 </a:t>
            </a:r>
            <a:r>
              <a:rPr lang="en-US" altLang="zh-CN" sz="1600" dirty="0"/>
              <a:t>MMM </a:t>
            </a:r>
            <a:r>
              <a:rPr lang="zh-CN" altLang="en-US" sz="1600" dirty="0"/>
              <a:t>个子群体（岛屿），每个子群体独立运行在不同的计算节点或线程上。每个子群体初始化时，随机生成候选解的初始位置，并保留一个局部最优解的记录（即该子群体内部的最佳解）。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参数设置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dirty="0"/>
              <a:t>每个子群体设置不同的初始参数（如引导系数和扰动系数），从而保证子群体间的多样性，避免同质化的搜索行为。确定岛屿间交换信息的间隔迭代次数 </a:t>
            </a:r>
            <a:r>
              <a:rPr lang="en-US" altLang="zh-CN" sz="1600" dirty="0"/>
              <a:t>TTT </a:t>
            </a:r>
            <a:r>
              <a:rPr lang="zh-CN" altLang="en-US" sz="1600" dirty="0"/>
              <a:t>以及交换的解数量 </a:t>
            </a:r>
            <a:r>
              <a:rPr lang="en-US" altLang="zh-CN" sz="1600" dirty="0" err="1"/>
              <a:t>kkk</a:t>
            </a:r>
            <a:r>
              <a:rPr lang="zh-CN" altLang="en-US" sz="1600" dirty="0"/>
              <a:t>。</a:t>
            </a:r>
          </a:p>
          <a:p>
            <a:r>
              <a:rPr lang="en-US" altLang="zh-CN" sz="1600" b="1" dirty="0"/>
              <a:t>2. </a:t>
            </a:r>
            <a:r>
              <a:rPr lang="zh-CN" altLang="en-US" sz="1600" b="1" dirty="0"/>
              <a:t>独立并行优化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子群体内优化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dirty="0"/>
              <a:t>每个子群体在分配到的计算节点上独立运行极光优化算法，按照原算法的更新规则，进行磁场引导和随机扰动。每个子群体会基于其内部的解和参数，自主进行适应度评估和位置更新，确保局部收敛性。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局部最优维护</a:t>
            </a:r>
            <a:r>
              <a:rPr lang="zh-CN" altLang="en-US" sz="1600" dirty="0"/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/>
              <a:t>在每次迭代后，各子群体内部保存当前最优解，作为后续迭代过程的引导，同时为全局信息交换提供数据支持。</a:t>
            </a:r>
          </a:p>
          <a:p>
            <a:endParaRPr lang="en-US" altLang="zh-CN" sz="1600" dirty="0"/>
          </a:p>
          <a:p>
            <a:endParaRPr lang="en-US" altLang="zh-CN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3E4825-0A8C-E66B-5523-B8C33CD3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877" y="750738"/>
            <a:ext cx="5489285" cy="31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09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3F21-29C3-C971-F03B-71B49BBAF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343885-5A97-9BB0-C83D-4DDCA606E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02916"/>
            <a:ext cx="6797964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600" b="1" dirty="0"/>
              <a:t>3. </a:t>
            </a:r>
            <a:r>
              <a:rPr lang="zh-CN" altLang="en-US" sz="1600" b="1" dirty="0"/>
              <a:t>定期信息交换（迁移机制）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设定迁移触发条件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dirty="0"/>
              <a:t>每经过 </a:t>
            </a:r>
            <a:r>
              <a:rPr lang="en-US" altLang="zh-CN" sz="1600" dirty="0"/>
              <a:t>TTT </a:t>
            </a:r>
            <a:r>
              <a:rPr lang="zh-CN" altLang="en-US" sz="1600" dirty="0"/>
              <a:t>次迭代后，触发岛屿间的信息交换。信息交换的形式可以是将每个子群体的前 </a:t>
            </a:r>
            <a:r>
              <a:rPr lang="en-US" altLang="zh-CN" sz="1600" dirty="0" err="1"/>
              <a:t>kkk</a:t>
            </a:r>
            <a:r>
              <a:rPr lang="en-US" altLang="zh-CN" sz="1600" dirty="0"/>
              <a:t> </a:t>
            </a:r>
            <a:r>
              <a:rPr lang="zh-CN" altLang="en-US" sz="1600" dirty="0"/>
              <a:t>个最优解（即适应度最高的解）迁移到其他子群体中。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信息交换规则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b="1" dirty="0"/>
              <a:t>迁移方式</a:t>
            </a:r>
            <a:r>
              <a:rPr lang="zh-CN" altLang="en-US" sz="1600" dirty="0"/>
              <a:t>：将每个子群体中的前 </a:t>
            </a:r>
            <a:r>
              <a:rPr lang="en-US" altLang="zh-CN" sz="1600" dirty="0" err="1"/>
              <a:t>kkk</a:t>
            </a:r>
            <a:r>
              <a:rPr lang="en-US" altLang="zh-CN" sz="1600" dirty="0"/>
              <a:t> </a:t>
            </a:r>
            <a:r>
              <a:rPr lang="zh-CN" altLang="en-US" sz="1600" dirty="0"/>
              <a:t>个最优解随机分配给其他子群体，以替换对方的较差解，保持每个子群体的多样性。</a:t>
            </a:r>
          </a:p>
          <a:p>
            <a:pPr lvl="1"/>
            <a:r>
              <a:rPr lang="zh-CN" altLang="en-US" sz="1600" b="1" dirty="0"/>
              <a:t>异步交换</a:t>
            </a:r>
            <a:r>
              <a:rPr lang="zh-CN" altLang="en-US" sz="1600" dirty="0"/>
              <a:t>：为减少同步等待，各子群体可以以异步方式进行信息交换，即在不同步的情况下进行局部的最优解交换，提高并行计算的效率。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全局最优解共享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dirty="0"/>
              <a:t>在信息交换期间，可以同时共享当前全局最优解，供各子群体参考。每个子群体将该全局最优解纳入自己的搜索范围，以加速收敛到最优解。</a:t>
            </a:r>
          </a:p>
          <a:p>
            <a:r>
              <a:rPr lang="en-US" altLang="zh-CN" sz="1600" b="1" dirty="0"/>
              <a:t>4. </a:t>
            </a:r>
            <a:r>
              <a:rPr lang="zh-CN" altLang="en-US" sz="1600" b="1" dirty="0"/>
              <a:t>收敛检查与终止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收敛条件</a:t>
            </a:r>
            <a:r>
              <a:rPr lang="zh-CN" altLang="en-US" sz="1600" dirty="0"/>
              <a:t>：</a:t>
            </a:r>
          </a:p>
          <a:p>
            <a:pPr lvl="1"/>
            <a:r>
              <a:rPr lang="zh-CN" altLang="en-US" sz="1600" dirty="0"/>
              <a:t>当达到最大迭代次数，或各子群体的适应度值在多次迭代中变化较小，说明算法可能已收敛，终止计算。或者若全局最优解在多个信息交换周期内保持不变，可以认为算法已找到最优解。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输出结果</a:t>
            </a:r>
            <a:r>
              <a:rPr lang="zh-CN" altLang="en-US" sz="1600" dirty="0"/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/>
              <a:t>将所有子群体的最终解集进行评估，输出全局最优解及相应的适应度值。</a:t>
            </a:r>
          </a:p>
          <a:p>
            <a:endParaRPr lang="en-US" altLang="zh-CN" sz="1600" dirty="0"/>
          </a:p>
          <a:p>
            <a:endParaRPr lang="en-US" altLang="zh-CN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C8B5E0-FCB3-1DC8-FE73-BF21C25F2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829" y="683490"/>
            <a:ext cx="3416602" cy="608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05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630" y="1675130"/>
            <a:ext cx="6405245" cy="46228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en-US" altLang="zh-CN" sz="2400" kern="0" dirty="0">
              <a:solidFill>
                <a:srgbClr val="222222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45510" y="2685415"/>
            <a:ext cx="4570730" cy="13430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谢谢观看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e0846f1-ed17-4361-9edb-ce2a44ec6a20"/>
  <p:tag name="COMMONDATA" val="eyJoZGlkIjoiMWJmYmVhMGQ2YWQwOTc0ZDFkYmVkZTE0NzFkNThl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KSO_WM_DIAGRAM_VIRTUALLY_FRAME" val="{&quot;height&quot;:415.15905511811025,&quot;left&quot;:512.0675590551181,&quot;top&quot;:64.72543307086615,&quot;width&quot;:370.750000000000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00A2E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00A2E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1600</Words>
  <Application>Microsoft Office PowerPoint</Application>
  <PresentationFormat>宽屏</PresentationFormat>
  <Paragraphs>114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-apple-system</vt:lpstr>
      <vt:lpstr>KaTeX_Main</vt:lpstr>
      <vt:lpstr>等线</vt:lpstr>
      <vt:lpstr>等线 Light</vt:lpstr>
      <vt:lpstr>仿宋</vt:lpstr>
      <vt:lpstr>华文行楷</vt:lpstr>
      <vt:lpstr>微软雅黑</vt:lpstr>
      <vt:lpstr>微软雅黑 Light</vt:lpstr>
      <vt:lpstr>Arial</vt:lpstr>
      <vt:lpstr>Arial Black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py d</cp:lastModifiedBy>
  <cp:revision>72</cp:revision>
  <dcterms:created xsi:type="dcterms:W3CDTF">2020-08-12T02:12:00Z</dcterms:created>
  <dcterms:modified xsi:type="dcterms:W3CDTF">2024-10-29T10:40:27Z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0867A54E5ADA489B9AE79C04A371EFC9</vt:lpwstr>
  </property>
  <property fmtid="{D5CDD505-2E9C-101B-9397-08002B2CF9AE}" pid="3" name="KSOProductBuildVer">
    <vt:lpwstr>2052-11.1.0.12165</vt:lpwstr>
  </property>
</Properties>
</file>