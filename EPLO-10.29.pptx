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Override17.xml" ContentType="application/vnd.openxmlformats-officedocument.themeOverride+xml"/>
  <Override PartName="/ppt/theme/themeOverride18.xml" ContentType="application/vnd.openxmlformats-officedocument.themeOverride+xml"/>
  <Override PartName="/ppt/theme/themeOverride19.xml" ContentType="application/vnd.openxmlformats-officedocument.themeOverride+xml"/>
  <Override PartName="/ppt/theme/themeOverride2.xml" ContentType="application/vnd.openxmlformats-officedocument.themeOverride+xml"/>
  <Override PartName="/ppt/theme/themeOverride20.xml" ContentType="application/vnd.openxmlformats-officedocument.themeOverride+xml"/>
  <Override PartName="/ppt/theme/themeOverride21.xml" ContentType="application/vnd.openxmlformats-officedocument.themeOverride+xml"/>
  <Override PartName="/ppt/theme/themeOverride22.xml" ContentType="application/vnd.openxmlformats-officedocument.themeOverride+xml"/>
  <Override PartName="/ppt/theme/themeOverride23.xml" ContentType="application/vnd.openxmlformats-officedocument.themeOverride+xml"/>
  <Override PartName="/ppt/theme/themeOverride24.xml" ContentType="application/vnd.openxmlformats-officedocument.themeOverride+xml"/>
  <Override PartName="/ppt/theme/themeOverride25.xml" ContentType="application/vnd.openxmlformats-officedocument.themeOverride+xml"/>
  <Override PartName="/ppt/theme/themeOverride26.xml" ContentType="application/vnd.openxmlformats-officedocument.themeOverride+xml"/>
  <Override PartName="/ppt/theme/themeOverride27.xml" ContentType="application/vnd.openxmlformats-officedocument.themeOverride+xml"/>
  <Override PartName="/ppt/theme/themeOverride28.xml" ContentType="application/vnd.openxmlformats-officedocument.themeOverride+xml"/>
  <Override PartName="/ppt/theme/themeOverride29.xml" ContentType="application/vnd.openxmlformats-officedocument.themeOverride+xml"/>
  <Override PartName="/ppt/theme/themeOverride3.xml" ContentType="application/vnd.openxmlformats-officedocument.themeOverride+xml"/>
  <Override PartName="/ppt/theme/themeOverride30.xml" ContentType="application/vnd.openxmlformats-officedocument.themeOverride+xml"/>
  <Override PartName="/ppt/theme/themeOverride31.xml" ContentType="application/vnd.openxmlformats-officedocument.themeOverride+xml"/>
  <Override PartName="/ppt/theme/themeOverride32.xml" ContentType="application/vnd.openxmlformats-officedocument.themeOverride+xml"/>
  <Override PartName="/ppt/theme/themeOverride3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38"/>
  </p:notesMasterIdLst>
  <p:sldIdLst>
    <p:sldId id="380" r:id="rId4"/>
    <p:sldId id="257" r:id="rId5"/>
    <p:sldId id="258" r:id="rId6"/>
    <p:sldId id="260" r:id="rId7"/>
    <p:sldId id="263" r:id="rId8"/>
    <p:sldId id="381" r:id="rId9"/>
    <p:sldId id="382" r:id="rId10"/>
    <p:sldId id="268" r:id="rId11"/>
    <p:sldId id="383" r:id="rId12"/>
    <p:sldId id="408" r:id="rId13"/>
    <p:sldId id="384" r:id="rId14"/>
    <p:sldId id="273" r:id="rId15"/>
    <p:sldId id="385" r:id="rId16"/>
    <p:sldId id="386" r:id="rId17"/>
    <p:sldId id="393" r:id="rId18"/>
    <p:sldId id="388" r:id="rId19"/>
    <p:sldId id="387" r:id="rId20"/>
    <p:sldId id="390" r:id="rId21"/>
    <p:sldId id="391" r:id="rId22"/>
    <p:sldId id="392" r:id="rId23"/>
    <p:sldId id="389" r:id="rId24"/>
    <p:sldId id="394" r:id="rId25"/>
    <p:sldId id="395" r:id="rId26"/>
    <p:sldId id="396" r:id="rId27"/>
    <p:sldId id="397" r:id="rId28"/>
    <p:sldId id="398" r:id="rId29"/>
    <p:sldId id="400" r:id="rId30"/>
    <p:sldId id="401" r:id="rId31"/>
    <p:sldId id="402" r:id="rId32"/>
    <p:sldId id="403" r:id="rId33"/>
    <p:sldId id="404" r:id="rId34"/>
    <p:sldId id="405" r:id="rId35"/>
    <p:sldId id="406" r:id="rId36"/>
    <p:sldId id="292" r:id="rId3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49B7"/>
    <a:srgbClr val="8C1515"/>
    <a:srgbClr val="B70031"/>
    <a:srgbClr val="6B02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4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slide" Target="slides/slide1.xml"/><Relationship Id="rId39" Type="http://schemas.openxmlformats.org/officeDocument/2006/relationships/presProps" Target="presProps.xml"/><Relationship Id="rId38" Type="http://schemas.openxmlformats.org/officeDocument/2006/relationships/notesMaster" Target="notesMasters/notesMaster1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DAE505-B7CA-4E96-AE4D-61AFDB83C73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A12726-83B8-45B8-96BB-E4D4FAD8F01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</a:fld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982200" y="-256656"/>
            <a:ext cx="2144905" cy="1286944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25033" y="6425619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accent1">
                    <a:lumMod val="100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惟真求新</a:t>
            </a:r>
            <a:endParaRPr lang="zh-CN" altLang="en-US" dirty="0">
              <a:solidFill>
                <a:schemeClr val="accent1">
                  <a:lumMod val="10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</a:fld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982200" y="-256656"/>
            <a:ext cx="2144905" cy="1286944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25033" y="6425619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accent1">
                    <a:lumMod val="100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惟真求新</a:t>
            </a:r>
            <a:endParaRPr lang="zh-CN" altLang="en-US" dirty="0">
              <a:solidFill>
                <a:schemeClr val="accent1">
                  <a:lumMod val="10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81B521-2E2E-41B2-9433-69364D5DDA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1282D0-AAD4-45D4-BBB1-9C369370A4D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81B521-2E2E-41B2-9433-69364D5DDA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1282D0-AAD4-45D4-BBB1-9C369370A4D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1" Type="http://schemas.openxmlformats.org/officeDocument/2006/relationships/slideLayout" Target="../slideLayouts/slideLayout1.xml"/><Relationship Id="rId40" Type="http://schemas.openxmlformats.org/officeDocument/2006/relationships/themeOverride" Target="../theme/themeOverride1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image" Target="../media/image4.jpeg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hemeOverride" Target="../theme/themeOverride2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hemeOverride" Target="../theme/themeOverride4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hemeOverride" Target="../theme/themeOverride7.xml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hemeOverride" Target="../theme/themeOverride8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hemeOverride" Target="../theme/themeOverride9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hemeOverride" Target="../theme/themeOverride10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hemeOverride" Target="../theme/themeOverride11.xml"/><Relationship Id="rId1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hemeOverride" Target="../theme/themeOverride13.xml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4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2.xml"/><Relationship Id="rId5" Type="http://schemas.openxmlformats.org/officeDocument/2006/relationships/themeOverride" Target="../theme/themeOverride15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themeOverride" Target="../theme/themeOverride16.xml"/><Relationship Id="rId7" Type="http://schemas.openxmlformats.org/officeDocument/2006/relationships/image" Target="../media/image21.png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2.xml"/><Relationship Id="rId6" Type="http://schemas.openxmlformats.org/officeDocument/2006/relationships/themeOverride" Target="../theme/themeOverride1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2.xml"/><Relationship Id="rId5" Type="http://schemas.openxmlformats.org/officeDocument/2006/relationships/themeOverride" Target="../theme/themeOverride18.xml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7" Type="http://schemas.openxmlformats.org/officeDocument/2006/relationships/themeOverride" Target="../theme/themeOverride19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2.xml"/><Relationship Id="rId5" Type="http://schemas.openxmlformats.org/officeDocument/2006/relationships/themeOverride" Target="../theme/themeOverride20.xml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2.xml"/><Relationship Id="rId5" Type="http://schemas.openxmlformats.org/officeDocument/2006/relationships/themeOverride" Target="../theme/themeOverride21.xml"/><Relationship Id="rId4" Type="http://schemas.openxmlformats.org/officeDocument/2006/relationships/image" Target="../media/image44.png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2.xml"/><Relationship Id="rId5" Type="http://schemas.openxmlformats.org/officeDocument/2006/relationships/themeOverride" Target="../theme/themeOverride22.xml"/><Relationship Id="rId4" Type="http://schemas.openxmlformats.org/officeDocument/2006/relationships/image" Target="../media/image48.png"/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hemeOverride" Target="../theme/themeOverride23.xml"/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2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25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hemeOverride" Target="../theme/themeOverride26.xml"/><Relationship Id="rId2" Type="http://schemas.openxmlformats.org/officeDocument/2006/relationships/image" Target="../media/image53.png"/><Relationship Id="rId1" Type="http://schemas.openxmlformats.org/officeDocument/2006/relationships/image" Target="../media/image5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hemeOverride" Target="../theme/themeOverride27.xml"/><Relationship Id="rId1" Type="http://schemas.openxmlformats.org/officeDocument/2006/relationships/image" Target="../media/image54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hemeOverride" Target="../theme/themeOverride28.xml"/><Relationship Id="rId2" Type="http://schemas.openxmlformats.org/officeDocument/2006/relationships/image" Target="../media/image56.png"/><Relationship Id="rId1" Type="http://schemas.openxmlformats.org/officeDocument/2006/relationships/image" Target="../media/image55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hemeOverride" Target="../theme/themeOverride29.xml"/><Relationship Id="rId2" Type="http://schemas.openxmlformats.org/officeDocument/2006/relationships/image" Target="../media/image58.png"/><Relationship Id="rId1" Type="http://schemas.openxmlformats.org/officeDocument/2006/relationships/image" Target="../media/image57.png"/></Relationships>
</file>

<file path=ppt/slides/_rels/slide3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2.xml"/><Relationship Id="rId5" Type="http://schemas.openxmlformats.org/officeDocument/2006/relationships/themeOverride" Target="../theme/themeOverride30.xml"/><Relationship Id="rId4" Type="http://schemas.openxmlformats.org/officeDocument/2006/relationships/image" Target="../media/image61.png"/><Relationship Id="rId3" Type="http://schemas.openxmlformats.org/officeDocument/2006/relationships/image" Target="../media/image60.png"/><Relationship Id="rId2" Type="http://schemas.openxmlformats.org/officeDocument/2006/relationships/tags" Target="../tags/tag39.xml"/><Relationship Id="rId1" Type="http://schemas.openxmlformats.org/officeDocument/2006/relationships/image" Target="../media/image59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3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hemeOverride" Target="../theme/themeOverride32.xml"/><Relationship Id="rId1" Type="http://schemas.openxmlformats.org/officeDocument/2006/relationships/image" Target="../media/image6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04" b="7904"/>
          <a:stretch>
            <a:fillRect/>
          </a:stretch>
        </p:blipFill>
        <p:spPr bwMode="auto">
          <a:xfrm>
            <a:off x="0" y="2107758"/>
            <a:ext cx="12215445" cy="3023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/>
          <p:cNvSpPr/>
          <p:nvPr/>
        </p:nvSpPr>
        <p:spPr>
          <a:xfrm>
            <a:off x="0" y="2107758"/>
            <a:ext cx="12215445" cy="3023423"/>
          </a:xfrm>
          <a:prstGeom prst="rect">
            <a:avLst/>
          </a:prstGeom>
          <a:solidFill>
            <a:schemeClr val="accent1">
              <a:lumMod val="100000"/>
              <a:alpha val="81961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2661971" y="6066944"/>
            <a:ext cx="7205735" cy="338554"/>
            <a:chOff x="415917" y="6056049"/>
            <a:chExt cx="7205735" cy="338554"/>
          </a:xfrm>
        </p:grpSpPr>
        <p:sp>
          <p:nvSpPr>
            <p:cNvPr id="7" name="TextBox 14"/>
            <p:cNvSpPr txBox="1"/>
            <p:nvPr/>
          </p:nvSpPr>
          <p:spPr>
            <a:xfrm>
              <a:off x="415917" y="6056049"/>
              <a:ext cx="309880" cy="337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13A89">
                    <a:lumMod val="10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9" name="TextBox 90"/>
            <p:cNvSpPr txBox="1"/>
            <p:nvPr/>
          </p:nvSpPr>
          <p:spPr>
            <a:xfrm>
              <a:off x="5295374" y="6056049"/>
              <a:ext cx="232627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13A89">
                      <a:lumMod val="100000"/>
                    </a:srgb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</a:rPr>
                <a:t>日期：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13A89">
                      <a:lumMod val="100000"/>
                    </a:srgb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</a:rPr>
                <a:t>20xx</a:t>
              </a: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13A89">
                      <a:lumMod val="100000"/>
                    </a:srgb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</a:rPr>
                <a:t>年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13A89">
                      <a:lumMod val="100000"/>
                    </a:srgb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</a:rPr>
                <a:t>xx</a:t>
              </a: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13A89">
                      <a:lumMod val="100000"/>
                    </a:srgb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</a:rPr>
                <a:t>月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13A89">
                      <a:lumMod val="100000"/>
                    </a:srgb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</a:rPr>
                <a:t>xx</a:t>
              </a: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13A89">
                      <a:lumMod val="100000"/>
                    </a:srgb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</a:rPr>
                <a:t>日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13A89">
                    <a:lumMod val="10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</a:endParaRPr>
            </a:p>
          </p:txBody>
        </p:sp>
      </p:grpSp>
      <p:sp>
        <p:nvSpPr>
          <p:cNvPr id="11" name="Rectangle 9"/>
          <p:cNvSpPr/>
          <p:nvPr/>
        </p:nvSpPr>
        <p:spPr>
          <a:xfrm>
            <a:off x="1358900" y="2774315"/>
            <a:ext cx="9550400" cy="181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PPLO: A Parallel Polarization Learning Optimizer with Applications in Mechanical Design, Multi-UAV Path Planning, and 3D Wireless Sensor Network Localization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阿里巴巴普惠体 B" panose="00020600040101010101" pitchFamily="18" charset="-122"/>
            </a:endParaRPr>
          </a:p>
        </p:txBody>
      </p:sp>
      <p:cxnSp>
        <p:nvCxnSpPr>
          <p:cNvPr id="20" name="直接连接符 19"/>
          <p:cNvCxnSpPr/>
          <p:nvPr/>
        </p:nvCxnSpPr>
        <p:spPr>
          <a:xfrm flipV="1">
            <a:off x="0" y="5517605"/>
            <a:ext cx="5049649" cy="17338"/>
          </a:xfrm>
          <a:prstGeom prst="line">
            <a:avLst/>
          </a:prstGeom>
          <a:noFill/>
          <a:ln w="38100" cap="flat" cmpd="sng" algn="ctr">
            <a:solidFill>
              <a:schemeClr val="accent1">
                <a:lumMod val="100000"/>
              </a:schemeClr>
            </a:solidFill>
            <a:prstDash val="solid"/>
            <a:miter lim="800000"/>
          </a:ln>
          <a:effectLst/>
        </p:spPr>
      </p:cxnSp>
      <p:cxnSp>
        <p:nvCxnSpPr>
          <p:cNvPr id="21" name="直接连接符 20"/>
          <p:cNvCxnSpPr/>
          <p:nvPr/>
        </p:nvCxnSpPr>
        <p:spPr>
          <a:xfrm>
            <a:off x="6970818" y="5517605"/>
            <a:ext cx="5329778" cy="0"/>
          </a:xfrm>
          <a:prstGeom prst="line">
            <a:avLst/>
          </a:prstGeom>
          <a:noFill/>
          <a:ln w="38100" cap="flat" cmpd="sng" algn="ctr">
            <a:solidFill>
              <a:schemeClr val="accent1">
                <a:lumMod val="100000"/>
              </a:schemeClr>
            </a:solidFill>
            <a:prstDash val="solid"/>
            <a:miter lim="800000"/>
          </a:ln>
          <a:effectLst/>
        </p:spPr>
      </p:cxnSp>
      <p:sp>
        <p:nvSpPr>
          <p:cNvPr id="25" name="文本框 24"/>
          <p:cNvSpPr txBox="1"/>
          <p:nvPr/>
        </p:nvSpPr>
        <p:spPr>
          <a:xfrm>
            <a:off x="4480079" y="5278821"/>
            <a:ext cx="31849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13A89">
                    <a:lumMod val="100000"/>
                  </a:srgbClr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惟真求新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13A89">
                  <a:lumMod val="100000"/>
                </a:srgb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71078" y="-740102"/>
            <a:ext cx="6249843" cy="374990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76" t="-179" r="21676" b="179"/>
          <a:stretch>
            <a:fillRect/>
          </a:stretch>
        </p:blipFill>
        <p:spPr>
          <a:xfrm>
            <a:off x="0" y="7950"/>
            <a:ext cx="5208645" cy="6872989"/>
          </a:xfrm>
          <a:custGeom>
            <a:avLst/>
            <a:gdLst>
              <a:gd name="connsiteX0" fmla="*/ 0 w 5204840"/>
              <a:gd name="connsiteY0" fmla="*/ 0 h 6858000"/>
              <a:gd name="connsiteX1" fmla="*/ 5204840 w 5204840"/>
              <a:gd name="connsiteY1" fmla="*/ 0 h 6858000"/>
              <a:gd name="connsiteX2" fmla="*/ 5204840 w 5204840"/>
              <a:gd name="connsiteY2" fmla="*/ 6858000 h 6858000"/>
              <a:gd name="connsiteX3" fmla="*/ 0 w 520484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04840" h="6858000">
                <a:moveTo>
                  <a:pt x="0" y="0"/>
                </a:moveTo>
                <a:lnTo>
                  <a:pt x="5204840" y="0"/>
                </a:lnTo>
                <a:lnTo>
                  <a:pt x="520484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PA-矩形 8"/>
          <p:cNvSpPr/>
          <p:nvPr>
            <p:custDataLst>
              <p:tags r:id="rId3"/>
            </p:custDataLst>
          </p:nvPr>
        </p:nvSpPr>
        <p:spPr>
          <a:xfrm>
            <a:off x="0" y="0"/>
            <a:ext cx="5208645" cy="6872990"/>
          </a:xfrm>
          <a:prstGeom prst="rect">
            <a:avLst/>
          </a:prstGeom>
          <a:solidFill>
            <a:schemeClr val="accent1">
              <a:lumMod val="100000"/>
              <a:alpha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4" name="PA-组合 20"/>
          <p:cNvGrpSpPr/>
          <p:nvPr>
            <p:custDataLst>
              <p:tags r:id="rId4"/>
            </p:custDataLst>
          </p:nvPr>
        </p:nvGrpSpPr>
        <p:grpSpPr>
          <a:xfrm>
            <a:off x="6479128" y="691500"/>
            <a:ext cx="672405" cy="922020"/>
            <a:chOff x="7138670" y="1012807"/>
            <a:chExt cx="672405" cy="922020"/>
          </a:xfrm>
        </p:grpSpPr>
        <p:sp>
          <p:nvSpPr>
            <p:cNvPr id="5" name="PA-任意多边形 9"/>
            <p:cNvSpPr/>
            <p:nvPr>
              <p:custDataLst>
                <p:tags r:id="rId5"/>
              </p:custDataLst>
            </p:nvPr>
          </p:nvSpPr>
          <p:spPr>
            <a:xfrm>
              <a:off x="7138670" y="1555752"/>
              <a:ext cx="360050" cy="202528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1 h 6858000"/>
                <a:gd name="connsiteX3" fmla="*/ 8438627 w 12192000"/>
                <a:gd name="connsiteY3" fmla="*/ 1 h 6858000"/>
                <a:gd name="connsiteX4" fmla="*/ 12192000 w 12192000"/>
                <a:gd name="connsiteY4" fmla="*/ 5623285 h 6858000"/>
                <a:gd name="connsiteX5" fmla="*/ 12192000 w 12192000"/>
                <a:gd name="connsiteY5" fmla="*/ 6858000 h 6858000"/>
                <a:gd name="connsiteX6" fmla="*/ 0 w 12192000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1"/>
                  </a:lnTo>
                  <a:lnTo>
                    <a:pt x="8438627" y="1"/>
                  </a:lnTo>
                  <a:lnTo>
                    <a:pt x="12192000" y="5623285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gradFill flip="none" rotWithShape="1">
              <a:gsLst>
                <a:gs pos="2000">
                  <a:schemeClr val="accent1">
                    <a:lumMod val="100000"/>
                  </a:schemeClr>
                </a:gs>
                <a:gs pos="72000">
                  <a:schemeClr val="accent1">
                    <a:lumMod val="100000"/>
                  </a:schemeClr>
                </a:gs>
                <a:gs pos="100000">
                  <a:schemeClr val="accent1">
                    <a:lumMod val="100000"/>
                  </a:schemeClr>
                </a:gs>
              </a:gsLst>
              <a:lin ang="8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6" name="PA-文本框 13"/>
            <p:cNvSpPr txBox="1"/>
            <p:nvPr>
              <p:custDataLst>
                <p:tags r:id="rId6"/>
              </p:custDataLst>
            </p:nvPr>
          </p:nvSpPr>
          <p:spPr>
            <a:xfrm>
              <a:off x="7186365" y="1012807"/>
              <a:ext cx="624710" cy="922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altLang="zh-CN" sz="5400" b="1" i="1" kern="0" dirty="0">
                  <a:solidFill>
                    <a:schemeClr val="accent1">
                      <a:lumMod val="100000"/>
                    </a:schemeClr>
                  </a:solidFill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1</a:t>
              </a:r>
              <a:endParaRPr lang="zh-CN" altLang="en-US" sz="5400" b="1" i="1" kern="0" dirty="0">
                <a:solidFill>
                  <a:schemeClr val="accent1">
                    <a:lumMod val="100000"/>
                  </a:schemeClr>
                </a:solidFill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grpSp>
        <p:nvGrpSpPr>
          <p:cNvPr id="7" name="PA-组合 19"/>
          <p:cNvGrpSpPr/>
          <p:nvPr>
            <p:custDataLst>
              <p:tags r:id="rId7"/>
            </p:custDataLst>
          </p:nvPr>
        </p:nvGrpSpPr>
        <p:grpSpPr>
          <a:xfrm>
            <a:off x="6479128" y="1803108"/>
            <a:ext cx="672405" cy="829945"/>
            <a:chOff x="7138670" y="2490624"/>
            <a:chExt cx="672405" cy="829945"/>
          </a:xfrm>
        </p:grpSpPr>
        <p:sp>
          <p:nvSpPr>
            <p:cNvPr id="8" name="PA-任意多边形 10"/>
            <p:cNvSpPr/>
            <p:nvPr>
              <p:custDataLst>
                <p:tags r:id="rId8"/>
              </p:custDataLst>
            </p:nvPr>
          </p:nvSpPr>
          <p:spPr>
            <a:xfrm>
              <a:off x="7138670" y="2967858"/>
              <a:ext cx="360050" cy="202528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1 h 6858000"/>
                <a:gd name="connsiteX3" fmla="*/ 8438627 w 12192000"/>
                <a:gd name="connsiteY3" fmla="*/ 1 h 6858000"/>
                <a:gd name="connsiteX4" fmla="*/ 12192000 w 12192000"/>
                <a:gd name="connsiteY4" fmla="*/ 5623285 h 6858000"/>
                <a:gd name="connsiteX5" fmla="*/ 12192000 w 12192000"/>
                <a:gd name="connsiteY5" fmla="*/ 6858000 h 6858000"/>
                <a:gd name="connsiteX6" fmla="*/ 0 w 12192000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1"/>
                  </a:lnTo>
                  <a:lnTo>
                    <a:pt x="8438627" y="1"/>
                  </a:lnTo>
                  <a:lnTo>
                    <a:pt x="12192000" y="5623285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gradFill flip="none" rotWithShape="1">
              <a:gsLst>
                <a:gs pos="2000">
                  <a:schemeClr val="accent1">
                    <a:lumMod val="100000"/>
                  </a:schemeClr>
                </a:gs>
                <a:gs pos="72000">
                  <a:schemeClr val="accent1">
                    <a:lumMod val="100000"/>
                  </a:schemeClr>
                </a:gs>
                <a:gs pos="100000">
                  <a:schemeClr val="accent1">
                    <a:lumMod val="100000"/>
                  </a:schemeClr>
                </a:gs>
              </a:gsLst>
              <a:lin ang="8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9" name="PA-文本框 14"/>
            <p:cNvSpPr txBox="1"/>
            <p:nvPr>
              <p:custDataLst>
                <p:tags r:id="rId9"/>
              </p:custDataLst>
            </p:nvPr>
          </p:nvSpPr>
          <p:spPr>
            <a:xfrm>
              <a:off x="7186365" y="2490624"/>
              <a:ext cx="624710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altLang="zh-CN" sz="4800" b="1" i="1" kern="0" dirty="0">
                  <a:solidFill>
                    <a:schemeClr val="accent1">
                      <a:lumMod val="100000"/>
                    </a:schemeClr>
                  </a:solidFill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2</a:t>
              </a:r>
              <a:endParaRPr lang="zh-CN" altLang="en-US" sz="4800" b="1" i="1" kern="0" dirty="0">
                <a:solidFill>
                  <a:schemeClr val="accent1">
                    <a:lumMod val="100000"/>
                  </a:schemeClr>
                </a:solidFill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sp>
        <p:nvSpPr>
          <p:cNvPr id="10" name="PA-任意多边形 11"/>
          <p:cNvSpPr/>
          <p:nvPr>
            <p:custDataLst>
              <p:tags r:id="rId10"/>
            </p:custDataLst>
          </p:nvPr>
        </p:nvSpPr>
        <p:spPr>
          <a:xfrm>
            <a:off x="6479128" y="3317086"/>
            <a:ext cx="360050" cy="202528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1 h 6858000"/>
              <a:gd name="connsiteX3" fmla="*/ 8438627 w 12192000"/>
              <a:gd name="connsiteY3" fmla="*/ 1 h 6858000"/>
              <a:gd name="connsiteX4" fmla="*/ 12192000 w 12192000"/>
              <a:gd name="connsiteY4" fmla="*/ 5623285 h 6858000"/>
              <a:gd name="connsiteX5" fmla="*/ 12192000 w 12192000"/>
              <a:gd name="connsiteY5" fmla="*/ 6858000 h 6858000"/>
              <a:gd name="connsiteX6" fmla="*/ 0 w 1219200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1"/>
                </a:lnTo>
                <a:lnTo>
                  <a:pt x="8438627" y="1"/>
                </a:lnTo>
                <a:lnTo>
                  <a:pt x="12192000" y="5623285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2000">
                <a:schemeClr val="accent1">
                  <a:lumMod val="100000"/>
                </a:schemeClr>
              </a:gs>
              <a:gs pos="72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8400000" scaled="0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1" name="PA-文本框 15"/>
          <p:cNvSpPr txBox="1"/>
          <p:nvPr>
            <p:custDataLst>
              <p:tags r:id="rId11"/>
            </p:custDataLst>
          </p:nvPr>
        </p:nvSpPr>
        <p:spPr>
          <a:xfrm>
            <a:off x="6526823" y="2822382"/>
            <a:ext cx="62471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b="1" i="1" dirty="0">
                <a:solidFill>
                  <a:schemeClr val="accent1">
                    <a:lumMod val="100000"/>
                  </a:schemeClr>
                </a:solidFill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3</a:t>
            </a:r>
            <a:endParaRPr lang="zh-CN" altLang="en-US" sz="4800" b="1" i="1" dirty="0">
              <a:solidFill>
                <a:schemeClr val="accent1">
                  <a:lumMod val="100000"/>
                </a:schemeClr>
              </a:solidFill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12" name="PA-组合 17"/>
          <p:cNvGrpSpPr/>
          <p:nvPr>
            <p:custDataLst>
              <p:tags r:id="rId12"/>
            </p:custDataLst>
          </p:nvPr>
        </p:nvGrpSpPr>
        <p:grpSpPr>
          <a:xfrm>
            <a:off x="6479128" y="3841657"/>
            <a:ext cx="672405" cy="829945"/>
            <a:chOff x="7138670" y="5303103"/>
            <a:chExt cx="672405" cy="829945"/>
          </a:xfrm>
        </p:grpSpPr>
        <p:sp>
          <p:nvSpPr>
            <p:cNvPr id="13" name="PA-任意多边形 12"/>
            <p:cNvSpPr/>
            <p:nvPr>
              <p:custDataLst>
                <p:tags r:id="rId13"/>
              </p:custDataLst>
            </p:nvPr>
          </p:nvSpPr>
          <p:spPr>
            <a:xfrm>
              <a:off x="7138670" y="5792070"/>
              <a:ext cx="360050" cy="202528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1 h 6858000"/>
                <a:gd name="connsiteX3" fmla="*/ 8438627 w 12192000"/>
                <a:gd name="connsiteY3" fmla="*/ 1 h 6858000"/>
                <a:gd name="connsiteX4" fmla="*/ 12192000 w 12192000"/>
                <a:gd name="connsiteY4" fmla="*/ 5623285 h 6858000"/>
                <a:gd name="connsiteX5" fmla="*/ 12192000 w 12192000"/>
                <a:gd name="connsiteY5" fmla="*/ 6858000 h 6858000"/>
                <a:gd name="connsiteX6" fmla="*/ 0 w 12192000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1"/>
                  </a:lnTo>
                  <a:lnTo>
                    <a:pt x="8438627" y="1"/>
                  </a:lnTo>
                  <a:lnTo>
                    <a:pt x="12192000" y="5623285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gradFill flip="none" rotWithShape="1">
              <a:gsLst>
                <a:gs pos="2000">
                  <a:schemeClr val="accent1">
                    <a:lumMod val="100000"/>
                  </a:schemeClr>
                </a:gs>
                <a:gs pos="72000">
                  <a:schemeClr val="accent1">
                    <a:lumMod val="100000"/>
                  </a:schemeClr>
                </a:gs>
                <a:gs pos="100000">
                  <a:schemeClr val="accent1">
                    <a:lumMod val="100000"/>
                  </a:schemeClr>
                </a:gs>
              </a:gsLst>
              <a:lin ang="8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4" name="PA-文本框 16"/>
            <p:cNvSpPr txBox="1"/>
            <p:nvPr>
              <p:custDataLst>
                <p:tags r:id="rId14"/>
              </p:custDataLst>
            </p:nvPr>
          </p:nvSpPr>
          <p:spPr>
            <a:xfrm>
              <a:off x="7186365" y="5303103"/>
              <a:ext cx="624710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altLang="zh-CN" sz="4800" b="1" i="1" kern="0" dirty="0">
                  <a:solidFill>
                    <a:schemeClr val="accent1">
                      <a:lumMod val="100000"/>
                    </a:schemeClr>
                  </a:solidFill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4</a:t>
              </a:r>
              <a:endParaRPr lang="zh-CN" altLang="en-US" sz="4800" b="1" i="1" kern="0" dirty="0">
                <a:solidFill>
                  <a:schemeClr val="accent1">
                    <a:lumMod val="100000"/>
                  </a:schemeClr>
                </a:solidFill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sp>
        <p:nvSpPr>
          <p:cNvPr id="15" name="PA-文本框 21"/>
          <p:cNvSpPr txBox="1"/>
          <p:nvPr>
            <p:custDataLst>
              <p:tags r:id="rId15"/>
            </p:custDataLst>
          </p:nvPr>
        </p:nvSpPr>
        <p:spPr>
          <a:xfrm>
            <a:off x="7088034" y="1003612"/>
            <a:ext cx="361112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768394">
                    <a:lumMod val="75000"/>
                  </a:srgbClr>
                </a:solidFill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研究背景与动机</a:t>
            </a:r>
            <a:endParaRPr lang="zh-CN" altLang="en-US" sz="2400" dirty="0">
              <a:solidFill>
                <a:srgbClr val="768394">
                  <a:lumMod val="75000"/>
                </a:srgbClr>
              </a:solidFill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6" name="PA-文本框 22"/>
          <p:cNvSpPr txBox="1"/>
          <p:nvPr>
            <p:custDataLst>
              <p:tags r:id="rId16"/>
            </p:custDataLst>
          </p:nvPr>
        </p:nvSpPr>
        <p:spPr>
          <a:xfrm>
            <a:off x="7148994" y="1987773"/>
            <a:ext cx="361112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768394">
                    <a:lumMod val="75000"/>
                  </a:srgbClr>
                </a:solidFill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PLO</a:t>
            </a:r>
            <a:r>
              <a:rPr lang="zh-CN" altLang="en-US" sz="2400" dirty="0">
                <a:solidFill>
                  <a:srgbClr val="768394">
                    <a:lumMod val="75000"/>
                  </a:srgbClr>
                </a:solidFill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算法原理与局限性</a:t>
            </a:r>
            <a:endParaRPr lang="zh-CN" altLang="en-US" sz="2400" dirty="0">
              <a:solidFill>
                <a:srgbClr val="768394">
                  <a:lumMod val="75000"/>
                </a:srgbClr>
              </a:solidFill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7" name="PA-文本框 23"/>
          <p:cNvSpPr txBox="1"/>
          <p:nvPr>
            <p:custDataLst>
              <p:tags r:id="rId17"/>
            </p:custDataLst>
          </p:nvPr>
        </p:nvSpPr>
        <p:spPr>
          <a:xfrm>
            <a:off x="7148994" y="3010660"/>
            <a:ext cx="361112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768394">
                    <a:lumMod val="75000"/>
                  </a:srgbClr>
                </a:solidFill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PPLO</a:t>
            </a:r>
            <a:r>
              <a:rPr lang="zh-CN" altLang="en-US" sz="2400" dirty="0">
                <a:solidFill>
                  <a:srgbClr val="768394">
                    <a:lumMod val="75000"/>
                  </a:srgbClr>
                </a:solidFill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的创新框架</a:t>
            </a:r>
            <a:endParaRPr lang="zh-CN" altLang="en-US" sz="2400" dirty="0">
              <a:solidFill>
                <a:srgbClr val="768394">
                  <a:lumMod val="75000"/>
                </a:srgbClr>
              </a:solidFill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8" name="PA-文本框 24"/>
          <p:cNvSpPr txBox="1"/>
          <p:nvPr>
            <p:custDataLst>
              <p:tags r:id="rId18"/>
            </p:custDataLst>
          </p:nvPr>
        </p:nvSpPr>
        <p:spPr>
          <a:xfrm>
            <a:off x="7148993" y="4026322"/>
            <a:ext cx="361112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768394">
                    <a:lumMod val="75000"/>
                  </a:srgbClr>
                </a:solidFill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实验验证与结果分析</a:t>
            </a:r>
            <a:endParaRPr lang="zh-CN" altLang="en-US" sz="2400" dirty="0">
              <a:solidFill>
                <a:srgbClr val="768394">
                  <a:lumMod val="75000"/>
                </a:srgbClr>
              </a:solidFill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cxnSp>
        <p:nvCxnSpPr>
          <p:cNvPr id="19" name="PA-直接连接符 25"/>
          <p:cNvCxnSpPr/>
          <p:nvPr>
            <p:custDataLst>
              <p:tags r:id="rId19"/>
            </p:custDataLst>
          </p:nvPr>
        </p:nvCxnSpPr>
        <p:spPr>
          <a:xfrm flipV="1">
            <a:off x="5565474" y="4867219"/>
            <a:ext cx="628650" cy="358139"/>
          </a:xfrm>
          <a:prstGeom prst="line">
            <a:avLst/>
          </a:prstGeom>
          <a:noFill/>
          <a:ln w="57150" cap="rnd" cmpd="sng" algn="ctr">
            <a:gradFill>
              <a:gsLst>
                <a:gs pos="0">
                  <a:srgbClr val="FFFFFF">
                    <a:alpha val="77000"/>
                  </a:srgbClr>
                </a:gs>
                <a:gs pos="100000">
                  <a:srgbClr val="0C49B7"/>
                </a:gs>
              </a:gsLst>
              <a:lin ang="5400000" scaled="1"/>
            </a:gradFill>
            <a:prstDash val="solid"/>
            <a:round/>
          </a:ln>
          <a:effectLst/>
        </p:spPr>
      </p:cxnSp>
      <p:cxnSp>
        <p:nvCxnSpPr>
          <p:cNvPr id="20" name="PA-直接连接符 26"/>
          <p:cNvCxnSpPr/>
          <p:nvPr>
            <p:custDataLst>
              <p:tags r:id="rId20"/>
            </p:custDataLst>
          </p:nvPr>
        </p:nvCxnSpPr>
        <p:spPr>
          <a:xfrm flipV="1">
            <a:off x="6108366" y="5945110"/>
            <a:ext cx="1149834" cy="616027"/>
          </a:xfrm>
          <a:prstGeom prst="line">
            <a:avLst/>
          </a:prstGeom>
          <a:noFill/>
          <a:ln w="63500" cap="rnd" cmpd="sng" algn="ctr">
            <a:gradFill>
              <a:gsLst>
                <a:gs pos="0">
                  <a:srgbClr val="FFFFFF">
                    <a:alpha val="0"/>
                  </a:srgbClr>
                </a:gs>
                <a:gs pos="70000">
                  <a:srgbClr val="0C49B7"/>
                </a:gs>
              </a:gsLst>
              <a:lin ang="5400000" scaled="1"/>
            </a:gradFill>
            <a:prstDash val="solid"/>
            <a:round/>
          </a:ln>
          <a:effectLst/>
        </p:spPr>
      </p:cxnSp>
      <p:cxnSp>
        <p:nvCxnSpPr>
          <p:cNvPr id="21" name="PA-直接连接符 31"/>
          <p:cNvCxnSpPr/>
          <p:nvPr>
            <p:custDataLst>
              <p:tags r:id="rId21"/>
            </p:custDataLst>
          </p:nvPr>
        </p:nvCxnSpPr>
        <p:spPr>
          <a:xfrm flipV="1">
            <a:off x="7621969" y="3782004"/>
            <a:ext cx="315585" cy="179789"/>
          </a:xfrm>
          <a:prstGeom prst="line">
            <a:avLst/>
          </a:prstGeom>
          <a:noFill/>
          <a:ln w="69850" cap="rnd" cmpd="sng" algn="ctr">
            <a:gradFill>
              <a:gsLst>
                <a:gs pos="0">
                  <a:srgbClr val="FFFFFF">
                    <a:alpha val="77000"/>
                  </a:srgbClr>
                </a:gs>
                <a:gs pos="100000">
                  <a:srgbClr val="0C49B7"/>
                </a:gs>
              </a:gsLst>
              <a:lin ang="5400000" scaled="1"/>
            </a:gradFill>
            <a:prstDash val="solid"/>
            <a:round/>
          </a:ln>
          <a:effectLst/>
        </p:spPr>
      </p:cxnSp>
      <p:cxnSp>
        <p:nvCxnSpPr>
          <p:cNvPr id="22" name="PA-直接连接符 33"/>
          <p:cNvCxnSpPr/>
          <p:nvPr>
            <p:custDataLst>
              <p:tags r:id="rId22"/>
            </p:custDataLst>
          </p:nvPr>
        </p:nvCxnSpPr>
        <p:spPr>
          <a:xfrm flipV="1">
            <a:off x="6970741" y="5579561"/>
            <a:ext cx="574917" cy="277128"/>
          </a:xfrm>
          <a:prstGeom prst="line">
            <a:avLst/>
          </a:prstGeom>
          <a:noFill/>
          <a:ln w="47625" cap="rnd" cmpd="sng" algn="ctr">
            <a:gradFill>
              <a:gsLst>
                <a:gs pos="0">
                  <a:srgbClr val="FFFFFF">
                    <a:alpha val="0"/>
                  </a:srgbClr>
                </a:gs>
                <a:gs pos="100000">
                  <a:srgbClr val="0C49B7"/>
                </a:gs>
              </a:gsLst>
              <a:lin ang="5400000" scaled="1"/>
            </a:gradFill>
            <a:prstDash val="solid"/>
            <a:round/>
          </a:ln>
          <a:effectLst/>
        </p:spPr>
      </p:cxnSp>
      <p:grpSp>
        <p:nvGrpSpPr>
          <p:cNvPr id="23" name="组合 22"/>
          <p:cNvGrpSpPr/>
          <p:nvPr/>
        </p:nvGrpSpPr>
        <p:grpSpPr>
          <a:xfrm>
            <a:off x="357611" y="1592658"/>
            <a:ext cx="4378398" cy="3207306"/>
            <a:chOff x="1043940" y="2140627"/>
            <a:chExt cx="4000500" cy="2930484"/>
          </a:xfrm>
        </p:grpSpPr>
        <p:sp>
          <p:nvSpPr>
            <p:cNvPr id="24" name="PA-右中括号 1"/>
            <p:cNvSpPr/>
            <p:nvPr>
              <p:custDataLst>
                <p:tags r:id="rId23"/>
              </p:custDataLst>
            </p:nvPr>
          </p:nvSpPr>
          <p:spPr>
            <a:xfrm rot="16200000">
              <a:off x="2712720" y="1310047"/>
              <a:ext cx="662940" cy="2324100"/>
            </a:xfrm>
            <a:prstGeom prst="rightBracket">
              <a:avLst>
                <a:gd name="adj" fmla="val 0"/>
              </a:avLst>
            </a:prstGeom>
            <a:noFill/>
            <a:ln w="38100" cap="flat" cmpd="sng" algn="ctr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5" name="PA-右中括号 3"/>
            <p:cNvSpPr/>
            <p:nvPr>
              <p:custDataLst>
                <p:tags r:id="rId24"/>
              </p:custDataLst>
            </p:nvPr>
          </p:nvSpPr>
          <p:spPr>
            <a:xfrm rot="5400000" flipV="1">
              <a:off x="2712720" y="3577591"/>
              <a:ext cx="662940" cy="2324100"/>
            </a:xfrm>
            <a:prstGeom prst="rightBracket">
              <a:avLst>
                <a:gd name="adj" fmla="val 0"/>
              </a:avLst>
            </a:prstGeom>
            <a:noFill/>
            <a:ln w="38100" cap="flat" cmpd="sng" algn="ctr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6" name="PA-矩形 4"/>
            <p:cNvSpPr/>
            <p:nvPr>
              <p:custDataLst>
                <p:tags r:id="rId25"/>
              </p:custDataLst>
            </p:nvPr>
          </p:nvSpPr>
          <p:spPr>
            <a:xfrm>
              <a:off x="1043940" y="2951479"/>
              <a:ext cx="4000500" cy="1087120"/>
            </a:xfrm>
            <a:prstGeom prst="rect">
              <a:avLst/>
            </a:prstGeom>
            <a:solidFill>
              <a:srgbClr val="FFFFFF">
                <a:alpha val="55000"/>
              </a:srgbClr>
            </a:solidFill>
            <a:ln w="12700" cap="flat" cmpd="sng" algn="ctr">
              <a:gradFill>
                <a:gsLst>
                  <a:gs pos="0">
                    <a:srgbClr val="00723E">
                      <a:lumMod val="5000"/>
                      <a:lumOff val="95000"/>
                    </a:srgbClr>
                  </a:gs>
                  <a:gs pos="69400">
                    <a:srgbClr val="FAFFFD">
                      <a:alpha val="33000"/>
                    </a:srgbClr>
                  </a:gs>
                  <a:gs pos="32000">
                    <a:srgbClr val="F3FFFA">
                      <a:alpha val="0"/>
                    </a:srgbClr>
                  </a:gs>
                  <a:gs pos="100000">
                    <a:srgbClr val="FFFFFF">
                      <a:alpha val="9400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7" name="PA-文本框 5"/>
            <p:cNvSpPr txBox="1"/>
            <p:nvPr>
              <p:custDataLst>
                <p:tags r:id="rId26"/>
              </p:custDataLst>
            </p:nvPr>
          </p:nvSpPr>
          <p:spPr>
            <a:xfrm>
              <a:off x="1993900" y="2986360"/>
              <a:ext cx="2100580" cy="11684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>
                <a:defRPr/>
              </a:pPr>
              <a:r>
                <a:rPr lang="zh-CN" altLang="en-US" sz="6600" b="1" kern="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目录</a:t>
              </a:r>
              <a:endParaRPr lang="zh-CN" altLang="en-US" sz="6600" b="1" kern="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8" name="PA-文本框 6"/>
            <p:cNvSpPr txBox="1"/>
            <p:nvPr>
              <p:custDataLst>
                <p:tags r:id="rId27"/>
              </p:custDataLst>
            </p:nvPr>
          </p:nvSpPr>
          <p:spPr>
            <a:xfrm>
              <a:off x="2094230" y="4223504"/>
              <a:ext cx="18999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>
                <a:defRPr/>
              </a:pPr>
              <a:r>
                <a:rPr lang="en-US" altLang="zh-CN" kern="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CONTEXT</a:t>
              </a:r>
              <a:endParaRPr lang="zh-CN" altLang="en-US" kern="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cxnSp>
          <p:nvCxnSpPr>
            <p:cNvPr id="29" name="PA-直接连接符 42"/>
            <p:cNvCxnSpPr/>
            <p:nvPr>
              <p:custDataLst>
                <p:tags r:id="rId28"/>
              </p:custDataLst>
            </p:nvPr>
          </p:nvCxnSpPr>
          <p:spPr>
            <a:xfrm>
              <a:off x="2170176" y="4174352"/>
              <a:ext cx="1737360" cy="0"/>
            </a:xfrm>
            <a:prstGeom prst="line">
              <a:avLst/>
            </a:prstGeom>
            <a:noFill/>
            <a:ln w="9525" cap="flat" cmpd="sng" algn="ctr">
              <a:solidFill>
                <a:srgbClr val="FFFFFF"/>
              </a:solidFill>
              <a:prstDash val="solid"/>
              <a:miter lim="800000"/>
            </a:ln>
            <a:effectLst/>
          </p:spPr>
        </p:cxnSp>
        <p:grpSp>
          <p:nvGrpSpPr>
            <p:cNvPr id="30" name="PA-组合 54"/>
            <p:cNvGrpSpPr/>
            <p:nvPr>
              <p:custDataLst>
                <p:tags r:id="rId29"/>
              </p:custDataLst>
            </p:nvPr>
          </p:nvGrpSpPr>
          <p:grpSpPr>
            <a:xfrm>
              <a:off x="4200650" y="3381742"/>
              <a:ext cx="221996" cy="292636"/>
              <a:chOff x="4206240" y="3385284"/>
              <a:chExt cx="221996" cy="292636"/>
            </a:xfrm>
          </p:grpSpPr>
          <p:cxnSp>
            <p:nvCxnSpPr>
              <p:cNvPr id="35" name="PA-直接连接符 47"/>
              <p:cNvCxnSpPr/>
              <p:nvPr>
                <p:custDataLst>
                  <p:tags r:id="rId30"/>
                </p:custDataLst>
              </p:nvPr>
            </p:nvCxnSpPr>
            <p:spPr>
              <a:xfrm>
                <a:off x="4206240" y="3385284"/>
                <a:ext cx="0" cy="292636"/>
              </a:xfrm>
              <a:prstGeom prst="line">
                <a:avLst/>
              </a:prstGeom>
              <a:noFill/>
              <a:ln w="22225" cap="rnd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6" name="PA-直接连接符 48"/>
              <p:cNvCxnSpPr/>
              <p:nvPr>
                <p:custDataLst>
                  <p:tags r:id="rId31"/>
                </p:custDataLst>
              </p:nvPr>
            </p:nvCxnSpPr>
            <p:spPr>
              <a:xfrm>
                <a:off x="4322064" y="3429000"/>
                <a:ext cx="0" cy="198120"/>
              </a:xfrm>
              <a:prstGeom prst="line">
                <a:avLst/>
              </a:prstGeom>
              <a:noFill/>
              <a:ln w="22225" cap="rnd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7" name="PA-直接连接符 49"/>
              <p:cNvCxnSpPr/>
              <p:nvPr>
                <p:custDataLst>
                  <p:tags r:id="rId32"/>
                </p:custDataLst>
              </p:nvPr>
            </p:nvCxnSpPr>
            <p:spPr>
              <a:xfrm>
                <a:off x="4428236" y="3459480"/>
                <a:ext cx="0" cy="144561"/>
              </a:xfrm>
              <a:prstGeom prst="line">
                <a:avLst/>
              </a:prstGeom>
              <a:noFill/>
              <a:ln w="22225" cap="rnd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31" name="PA-组合 55"/>
            <p:cNvGrpSpPr/>
            <p:nvPr>
              <p:custDataLst>
                <p:tags r:id="rId33"/>
              </p:custDataLst>
            </p:nvPr>
          </p:nvGrpSpPr>
          <p:grpSpPr>
            <a:xfrm flipH="1">
              <a:off x="1665733" y="3381742"/>
              <a:ext cx="221996" cy="292636"/>
              <a:chOff x="4206240" y="3385284"/>
              <a:chExt cx="221996" cy="292636"/>
            </a:xfrm>
          </p:grpSpPr>
          <p:cxnSp>
            <p:nvCxnSpPr>
              <p:cNvPr id="32" name="PA-直接连接符 56"/>
              <p:cNvCxnSpPr/>
              <p:nvPr>
                <p:custDataLst>
                  <p:tags r:id="rId34"/>
                </p:custDataLst>
              </p:nvPr>
            </p:nvCxnSpPr>
            <p:spPr>
              <a:xfrm>
                <a:off x="4206240" y="3385284"/>
                <a:ext cx="0" cy="292636"/>
              </a:xfrm>
              <a:prstGeom prst="line">
                <a:avLst/>
              </a:prstGeom>
              <a:noFill/>
              <a:ln w="22225" cap="rnd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3" name="PA-直接连接符 57"/>
              <p:cNvCxnSpPr/>
              <p:nvPr>
                <p:custDataLst>
                  <p:tags r:id="rId35"/>
                </p:custDataLst>
              </p:nvPr>
            </p:nvCxnSpPr>
            <p:spPr>
              <a:xfrm>
                <a:off x="4322064" y="3429000"/>
                <a:ext cx="0" cy="198120"/>
              </a:xfrm>
              <a:prstGeom prst="line">
                <a:avLst/>
              </a:prstGeom>
              <a:noFill/>
              <a:ln w="22225" cap="rnd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4" name="PA-直接连接符 58"/>
              <p:cNvCxnSpPr/>
              <p:nvPr>
                <p:custDataLst>
                  <p:tags r:id="rId36"/>
                </p:custDataLst>
              </p:nvPr>
            </p:nvCxnSpPr>
            <p:spPr>
              <a:xfrm>
                <a:off x="4428236" y="3459480"/>
                <a:ext cx="0" cy="144561"/>
              </a:xfrm>
              <a:prstGeom prst="line">
                <a:avLst/>
              </a:prstGeom>
              <a:noFill/>
              <a:ln w="22225" cap="rnd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</p:cxnSp>
        </p:grpSp>
      </p:grpSp>
      <p:sp>
        <p:nvSpPr>
          <p:cNvPr id="38" name="PA-文本框 16"/>
          <p:cNvSpPr txBox="1"/>
          <p:nvPr>
            <p:custDataLst>
              <p:tags r:id="rId37"/>
            </p:custDataLst>
          </p:nvPr>
        </p:nvSpPr>
        <p:spPr>
          <a:xfrm>
            <a:off x="6524283" y="4824002"/>
            <a:ext cx="62471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4800" b="1" i="1" kern="0" dirty="0">
                <a:solidFill>
                  <a:schemeClr val="accent1">
                    <a:lumMod val="100000"/>
                  </a:schemeClr>
                </a:solidFill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5</a:t>
            </a:r>
            <a:endParaRPr lang="en-US" altLang="zh-CN" sz="4800" b="1" i="1" kern="0" dirty="0">
              <a:solidFill>
                <a:schemeClr val="accent1">
                  <a:lumMod val="100000"/>
                </a:schemeClr>
              </a:solidFill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9" name="PA-任意多边形 9"/>
          <p:cNvSpPr/>
          <p:nvPr>
            <p:custDataLst>
              <p:tags r:id="rId38"/>
            </p:custDataLst>
          </p:nvPr>
        </p:nvSpPr>
        <p:spPr>
          <a:xfrm>
            <a:off x="6479128" y="5344165"/>
            <a:ext cx="360050" cy="202528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1 h 6858000"/>
              <a:gd name="connsiteX3" fmla="*/ 8438627 w 12192000"/>
              <a:gd name="connsiteY3" fmla="*/ 1 h 6858000"/>
              <a:gd name="connsiteX4" fmla="*/ 12192000 w 12192000"/>
              <a:gd name="connsiteY4" fmla="*/ 5623285 h 6858000"/>
              <a:gd name="connsiteX5" fmla="*/ 12192000 w 12192000"/>
              <a:gd name="connsiteY5" fmla="*/ 6858000 h 6858000"/>
              <a:gd name="connsiteX6" fmla="*/ 0 w 1219200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1"/>
                </a:lnTo>
                <a:lnTo>
                  <a:pt x="8438627" y="1"/>
                </a:lnTo>
                <a:lnTo>
                  <a:pt x="12192000" y="5623285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2000">
                <a:schemeClr val="accent1">
                  <a:lumMod val="100000"/>
                </a:schemeClr>
              </a:gs>
              <a:gs pos="72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8400000" scaled="0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>
              <a:defRPr/>
            </a:pPr>
            <a:endParaRPr lang="zh-CN" altLang="en-US" kern="0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40" name="PA-文本框 24"/>
          <p:cNvSpPr txBox="1"/>
          <p:nvPr>
            <p:custDataLst>
              <p:tags r:id="rId39"/>
            </p:custDataLst>
          </p:nvPr>
        </p:nvSpPr>
        <p:spPr>
          <a:xfrm>
            <a:off x="7151533" y="5000412"/>
            <a:ext cx="361112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768394">
                    <a:lumMod val="75000"/>
                  </a:srgbClr>
                </a:solidFill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结论</a:t>
            </a:r>
            <a:endParaRPr lang="zh-CN" altLang="en-US" sz="2400" dirty="0">
              <a:solidFill>
                <a:srgbClr val="768394">
                  <a:lumMod val="75000"/>
                </a:srgbClr>
              </a:solidFill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占位符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28" b="7128"/>
          <a:stretch>
            <a:fillRect/>
          </a:stretch>
        </p:blipFill>
        <p:spPr>
          <a:xfrm>
            <a:off x="0" y="-4272"/>
            <a:ext cx="12192000" cy="3073231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-4272"/>
            <a:ext cx="12191997" cy="3073231"/>
          </a:xfrm>
          <a:prstGeom prst="rect">
            <a:avLst/>
          </a:prstGeom>
          <a:solidFill>
            <a:schemeClr val="accent1">
              <a:lumMod val="100000"/>
              <a:alpha val="8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4" name="文本占位符 8"/>
          <p:cNvSpPr txBox="1"/>
          <p:nvPr/>
        </p:nvSpPr>
        <p:spPr>
          <a:xfrm>
            <a:off x="4815507" y="1844824"/>
            <a:ext cx="2560983" cy="2530053"/>
          </a:xfrm>
          <a:custGeom>
            <a:avLst/>
            <a:gdLst>
              <a:gd name="connsiteX0" fmla="*/ 2057400 w 4114800"/>
              <a:gd name="connsiteY0" fmla="*/ 0 h 4065104"/>
              <a:gd name="connsiteX1" fmla="*/ 4114800 w 4114800"/>
              <a:gd name="connsiteY1" fmla="*/ 2032552 h 4065104"/>
              <a:gd name="connsiteX2" fmla="*/ 2057400 w 4114800"/>
              <a:gd name="connsiteY2" fmla="*/ 4065104 h 4065104"/>
              <a:gd name="connsiteX3" fmla="*/ 0 w 4114800"/>
              <a:gd name="connsiteY3" fmla="*/ 2032552 h 4065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14800" h="4065104">
                <a:moveTo>
                  <a:pt x="2057400" y="0"/>
                </a:moveTo>
                <a:lnTo>
                  <a:pt x="4114800" y="2032552"/>
                </a:lnTo>
                <a:lnTo>
                  <a:pt x="2057400" y="4065104"/>
                </a:lnTo>
                <a:lnTo>
                  <a:pt x="0" y="2032552"/>
                </a:lnTo>
                <a:close/>
              </a:path>
            </a:pathLst>
          </a:custGeom>
          <a:solidFill>
            <a:schemeClr val="accent1">
              <a:lumMod val="100000"/>
            </a:schemeClr>
          </a:solidFill>
          <a:ln w="193675">
            <a:solidFill>
              <a:srgbClr val="FFFFFF"/>
            </a:solidFill>
          </a:ln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600" kern="1200">
                <a:solidFill>
                  <a:schemeClr val="bg1"/>
                </a:solidFill>
                <a:effectLst>
                  <a:innerShdw dist="63500" dir="16200000">
                    <a:schemeClr val="accent3"/>
                  </a:innerShdw>
                </a:effectLst>
                <a:latin typeface="Impact" panose="020B080603090205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zh-CN" altLang="en-US" dirty="0">
              <a:solidFill>
                <a:srgbClr val="FFFFFF"/>
              </a:solidFill>
              <a:effectLst>
                <a:innerShdw dist="63500" dir="16200000">
                  <a:srgbClr val="3889F5"/>
                </a:innerShdw>
              </a:effectLst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6" name="标题 4"/>
          <p:cNvSpPr txBox="1"/>
          <p:nvPr/>
        </p:nvSpPr>
        <p:spPr>
          <a:xfrm>
            <a:off x="4241327" y="4497425"/>
            <a:ext cx="5328592" cy="746593"/>
          </a:xfrm>
          <a:prstGeom prst="rect">
            <a:avLst/>
          </a:prstGeom>
        </p:spPr>
        <p:txBody>
          <a:bodyPr vert="horz" lIns="68562" tIns="34281" rIns="68562" bIns="34281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4000" dirty="0">
                <a:solidFill>
                  <a:srgbClr val="768394">
                    <a:lumMod val="75000"/>
                  </a:srgbClr>
                </a:solidFill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研究背景与动机</a:t>
            </a:r>
            <a:endParaRPr lang="zh-CN" altLang="en-US" sz="4000" b="1" dirty="0">
              <a:solidFill>
                <a:srgbClr val="768394">
                  <a:lumMod val="75000"/>
                </a:srgbClr>
              </a:solidFill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3575720" y="5244190"/>
            <a:ext cx="4752528" cy="0"/>
          </a:xfrm>
          <a:prstGeom prst="line">
            <a:avLst/>
          </a:prstGeom>
          <a:noFill/>
          <a:ln w="28575" cap="flat" cmpd="sng" algn="ctr">
            <a:solidFill>
              <a:schemeClr val="accent1">
                <a:lumMod val="100000"/>
              </a:schemeClr>
            </a:solidFill>
            <a:prstDash val="solid"/>
            <a:headEnd type="oval" w="med" len="med"/>
            <a:tailEnd type="oval" w="med" len="med"/>
          </a:ln>
          <a:effectLst/>
        </p:spPr>
      </p:cxnSp>
      <p:sp>
        <p:nvSpPr>
          <p:cNvPr id="10" name="文本框 9"/>
          <p:cNvSpPr txBox="1"/>
          <p:nvPr/>
        </p:nvSpPr>
        <p:spPr>
          <a:xfrm>
            <a:off x="5250253" y="2386575"/>
            <a:ext cx="169148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800" b="1" dirty="0">
                <a:solidFill>
                  <a:prstClr val="white"/>
                </a:solidFill>
                <a:latin typeface="Arial Black" panose="020B0A04020102020204" pitchFamily="34" charset="0"/>
                <a:ea typeface="宋体" panose="02010600030101010101" pitchFamily="2" charset="-122"/>
              </a:rPr>
              <a:t>01</a:t>
            </a:r>
            <a:endParaRPr lang="zh-CN" altLang="en-US" sz="8800" b="1" dirty="0">
              <a:solidFill>
                <a:prstClr val="white"/>
              </a:solidFill>
              <a:latin typeface="Arial Black" panose="020B0A040201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35361" y="116633"/>
            <a:ext cx="11569986" cy="6681374"/>
            <a:chOff x="335361" y="116633"/>
            <a:chExt cx="11569986" cy="6681374"/>
          </a:xfrm>
        </p:grpSpPr>
        <p:grpSp>
          <p:nvGrpSpPr>
            <p:cNvPr id="3" name="组合 2"/>
            <p:cNvGrpSpPr/>
            <p:nvPr/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8" name="平行四边形 7"/>
              <p:cNvSpPr/>
              <p:nvPr/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chemeClr val="accent1">
                  <a:lumMod val="100000"/>
                </a:schemeClr>
              </a:solidFill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/>
              <p:cNvSpPr/>
              <p:nvPr/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4" name="直接连接符 3"/>
            <p:cNvCxnSpPr/>
            <p:nvPr/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chemeClr val="accent1">
                  <a:lumMod val="100000"/>
                </a:schemeClr>
              </a:solidFill>
              <a:prstDash val="solid"/>
            </a:ln>
            <a:effectLst/>
          </p:spPr>
        </p:cxnSp>
        <p:sp>
          <p:nvSpPr>
            <p:cNvPr id="5" name="文本占位符 5"/>
            <p:cNvSpPr txBox="1"/>
            <p:nvPr/>
          </p:nvSpPr>
          <p:spPr>
            <a:xfrm>
              <a:off x="1127448" y="193957"/>
              <a:ext cx="5040313" cy="6127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1" kern="1200">
                  <a:solidFill>
                    <a:srgbClr val="024282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100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 </a:t>
              </a:r>
              <a:r>
                <a:rPr lang="zh-CN" altLang="en-US" dirty="0">
                  <a:solidFill>
                    <a:srgbClr val="768394">
                      <a:lumMod val="75000"/>
                    </a:srgbClr>
                  </a:solidFill>
                  <a:latin typeface="Arial" panose="020B0604020202020204"/>
                  <a:cs typeface="+mn-ea"/>
                  <a:sym typeface="+mn-lt"/>
                </a:rPr>
                <a:t>研究背景与动机</a:t>
              </a:r>
              <a:endParaRPr lang="zh-CN" altLang="en-US" dirty="0">
                <a:solidFill>
                  <a:srgbClr val="768394">
                    <a:lumMod val="75000"/>
                  </a:srgbClr>
                </a:solidFill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0805366" y="6428675"/>
              <a:ext cx="10999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rPr>
                <a:t>JUNE 12</a:t>
              </a:r>
              <a:r>
                <a:rPr kumimoji="0" lang="en-US" altLang="zh-CN" sz="1800" b="1" i="0" u="none" strike="noStrike" kern="0" cap="none" spc="0" normalizeH="0" baseline="3000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rPr>
                <a:t>th</a:t>
              </a:r>
              <a:endParaRPr kumimoji="0" lang="zh-CN" altLang="en-US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364530" y="2060848"/>
            <a:ext cx="11513006" cy="4220755"/>
          </a:xfrm>
          <a:prstGeom prst="rect">
            <a:avLst/>
          </a:prstGeom>
          <a:solidFill>
            <a:schemeClr val="accent1">
              <a:lumMod val="100000"/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38150" y="2204720"/>
            <a:ext cx="9427845" cy="3121660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核心问题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: 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复杂工程优化问题的挑战（高维、非线性、多模态、多约束）。</a:t>
            </a:r>
            <a:endParaRPr lang="zh-CN" altLang="en-US" sz="1600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</a:endParaRPr>
          </a:p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现有方法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: 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元启发式算法（如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PSO, GWO, WOA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）是有效工具，但仍存在早熟收敛、种群多样性不足、探索与开发不平衡等问题。</a:t>
            </a:r>
            <a:endParaRPr lang="zh-CN" altLang="en-US" sz="1600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</a:endParaRPr>
          </a:p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endParaRPr lang="en-US" altLang="zh-CN" sz="1600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</a:endParaRPr>
          </a:p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切入点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: 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极光优化算法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PLO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是一种新颖的物理启发算法，但其存在初始化不均、单一群体、参数固定衰减等固有缺陷。</a:t>
            </a:r>
            <a:endParaRPr lang="zh-CN" altLang="en-US" sz="1600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</a:endParaRPr>
          </a:p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endParaRPr lang="en-US" altLang="zh-CN" sz="1600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</a:endParaRPr>
          </a:p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本工作目标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: 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提出一种并行极化学习优化器，对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PLO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进行全面增强，以解决上述问题，并在理论和应用上验证其优越性。</a:t>
            </a:r>
            <a:endParaRPr lang="zh-CN" altLang="en-US" sz="1600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5033" y="6425619"/>
            <a:ext cx="27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accent1">
                    <a:lumMod val="100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惟真求新</a:t>
            </a:r>
            <a:endParaRPr lang="zh-CN" altLang="en-US" dirty="0">
              <a:solidFill>
                <a:schemeClr val="accent1">
                  <a:lumMod val="100000"/>
                </a:schemeClr>
              </a:solidFill>
            </a:endParaRPr>
          </a:p>
        </p:txBody>
      </p:sp>
    </p:spTree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占位符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88" b="7188"/>
          <a:stretch>
            <a:fillRect/>
          </a:stretch>
        </p:blipFill>
        <p:spPr>
          <a:xfrm>
            <a:off x="0" y="0"/>
            <a:ext cx="12192000" cy="3068959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0"/>
            <a:ext cx="12191997" cy="3068959"/>
          </a:xfrm>
          <a:prstGeom prst="rect">
            <a:avLst/>
          </a:prstGeom>
          <a:solidFill>
            <a:schemeClr val="accent1">
              <a:lumMod val="100000"/>
              <a:alpha val="8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4" name="文本占位符 8"/>
          <p:cNvSpPr txBox="1"/>
          <p:nvPr/>
        </p:nvSpPr>
        <p:spPr>
          <a:xfrm>
            <a:off x="4815507" y="1844824"/>
            <a:ext cx="2560983" cy="2530053"/>
          </a:xfrm>
          <a:custGeom>
            <a:avLst/>
            <a:gdLst>
              <a:gd name="connsiteX0" fmla="*/ 2057400 w 4114800"/>
              <a:gd name="connsiteY0" fmla="*/ 0 h 4065104"/>
              <a:gd name="connsiteX1" fmla="*/ 4114800 w 4114800"/>
              <a:gd name="connsiteY1" fmla="*/ 2032552 h 4065104"/>
              <a:gd name="connsiteX2" fmla="*/ 2057400 w 4114800"/>
              <a:gd name="connsiteY2" fmla="*/ 4065104 h 4065104"/>
              <a:gd name="connsiteX3" fmla="*/ 0 w 4114800"/>
              <a:gd name="connsiteY3" fmla="*/ 2032552 h 4065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14800" h="4065104">
                <a:moveTo>
                  <a:pt x="2057400" y="0"/>
                </a:moveTo>
                <a:lnTo>
                  <a:pt x="4114800" y="2032552"/>
                </a:lnTo>
                <a:lnTo>
                  <a:pt x="2057400" y="4065104"/>
                </a:lnTo>
                <a:lnTo>
                  <a:pt x="0" y="2032552"/>
                </a:lnTo>
                <a:close/>
              </a:path>
            </a:pathLst>
          </a:custGeom>
          <a:solidFill>
            <a:schemeClr val="accent1">
              <a:lumMod val="100000"/>
            </a:schemeClr>
          </a:solidFill>
          <a:ln w="193675">
            <a:solidFill>
              <a:srgbClr val="FFFFFF"/>
            </a:solidFill>
          </a:ln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600" kern="1200">
                <a:solidFill>
                  <a:schemeClr val="bg1"/>
                </a:solidFill>
                <a:effectLst>
                  <a:innerShdw dist="63500" dir="16200000">
                    <a:schemeClr val="accent3"/>
                  </a:innerShdw>
                </a:effectLst>
                <a:latin typeface="Impact" panose="020B080603090205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innerShdw dist="63500" dir="16200000">
                  <a:srgbClr val="3889F5"/>
                </a:innerShdw>
              </a:effectLst>
              <a:uLnTx/>
              <a:uFillTx/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6" name="标题 4"/>
          <p:cNvSpPr txBox="1"/>
          <p:nvPr/>
        </p:nvSpPr>
        <p:spPr>
          <a:xfrm>
            <a:off x="3350895" y="4497705"/>
            <a:ext cx="7719695" cy="746760"/>
          </a:xfrm>
          <a:prstGeom prst="rect">
            <a:avLst/>
          </a:prstGeom>
        </p:spPr>
        <p:txBody>
          <a:bodyPr vert="horz" lIns="68562" tIns="34281" rIns="68562" bIns="34281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4000" dirty="0">
                <a:solidFill>
                  <a:srgbClr val="768394">
                    <a:lumMod val="75000"/>
                  </a:srgbClr>
                </a:solidFill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PLO</a:t>
            </a:r>
            <a:r>
              <a:rPr lang="zh-CN" altLang="en-US" sz="4000" dirty="0">
                <a:solidFill>
                  <a:srgbClr val="768394">
                    <a:lumMod val="75000"/>
                  </a:srgbClr>
                </a:solidFill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算法原理与局限性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10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3575720" y="5244190"/>
            <a:ext cx="4752528" cy="0"/>
          </a:xfrm>
          <a:prstGeom prst="line">
            <a:avLst/>
          </a:prstGeom>
          <a:noFill/>
          <a:ln w="28575" cap="flat" cmpd="sng" algn="ctr">
            <a:solidFill>
              <a:schemeClr val="accent1">
                <a:lumMod val="100000"/>
              </a:schemeClr>
            </a:solidFill>
            <a:prstDash val="solid"/>
            <a:headEnd type="oval" w="med" len="med"/>
            <a:tailEnd type="oval" w="med" len="med"/>
          </a:ln>
          <a:effectLst/>
        </p:spPr>
      </p:cxnSp>
      <p:sp>
        <p:nvSpPr>
          <p:cNvPr id="9" name="文本框 8"/>
          <p:cNvSpPr txBox="1"/>
          <p:nvPr/>
        </p:nvSpPr>
        <p:spPr>
          <a:xfrm>
            <a:off x="10704512" y="6406826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100000"/>
                    <a:alpha val="70000"/>
                  </a:scheme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JUNE 12</a:t>
            </a:r>
            <a:r>
              <a:rPr kumimoji="0" lang="en-US" altLang="zh-CN" sz="1800" b="1" i="0" u="none" strike="noStrike" kern="1200" cap="none" spc="0" normalizeH="0" baseline="30000" noProof="0" dirty="0">
                <a:ln>
                  <a:noFill/>
                </a:ln>
                <a:solidFill>
                  <a:schemeClr val="accent1">
                    <a:lumMod val="100000"/>
                    <a:alpha val="70000"/>
                  </a:scheme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</a:t>
            </a:r>
            <a:endParaRPr kumimoji="0" lang="zh-CN" altLang="en-US" sz="1800" b="1" i="0" u="none" strike="noStrike" kern="1200" cap="none" spc="0" normalizeH="0" baseline="30000" noProof="0" dirty="0">
              <a:ln>
                <a:noFill/>
              </a:ln>
              <a:solidFill>
                <a:schemeClr val="accent1">
                  <a:lumMod val="100000"/>
                  <a:alpha val="70000"/>
                </a:scheme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250253" y="2386575"/>
            <a:ext cx="169148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02</a:t>
            </a:r>
            <a:endParaRPr kumimoji="0" lang="zh-CN" altLang="en-US" sz="8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35361" y="116633"/>
            <a:ext cx="11569986" cy="6681374"/>
            <a:chOff x="335361" y="116633"/>
            <a:chExt cx="11569986" cy="6681374"/>
          </a:xfrm>
        </p:grpSpPr>
        <p:grpSp>
          <p:nvGrpSpPr>
            <p:cNvPr id="3" name="组合 2"/>
            <p:cNvGrpSpPr/>
            <p:nvPr/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8" name="平行四边形 7"/>
              <p:cNvSpPr/>
              <p:nvPr/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chemeClr val="accent1">
                  <a:lumMod val="100000"/>
                </a:schemeClr>
              </a:solidFill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/>
              <p:cNvSpPr/>
              <p:nvPr/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4" name="直接连接符 3"/>
            <p:cNvCxnSpPr/>
            <p:nvPr/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chemeClr val="accent1">
                  <a:lumMod val="100000"/>
                </a:schemeClr>
              </a:solidFill>
              <a:prstDash val="solid"/>
            </a:ln>
            <a:effectLst/>
          </p:spPr>
        </p:cxnSp>
        <p:sp>
          <p:nvSpPr>
            <p:cNvPr id="5" name="文本占位符 5"/>
            <p:cNvSpPr txBox="1"/>
            <p:nvPr/>
          </p:nvSpPr>
          <p:spPr>
            <a:xfrm>
              <a:off x="1127448" y="193957"/>
              <a:ext cx="5040313" cy="6127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1" kern="1200">
                  <a:solidFill>
                    <a:srgbClr val="024282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100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原始</a:t>
              </a: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100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PLO</a:t>
              </a: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100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算法原理</a:t>
              </a: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0805366" y="6428675"/>
              <a:ext cx="10999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rPr>
                <a:t>JUNE 12</a:t>
              </a:r>
              <a:r>
                <a:rPr kumimoji="0" lang="en-US" altLang="zh-CN" sz="1800" b="1" i="0" u="none" strike="noStrike" kern="0" cap="none" spc="0" normalizeH="0" baseline="3000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rPr>
                <a:t>th</a:t>
              </a:r>
              <a:endParaRPr kumimoji="0" lang="zh-CN" altLang="en-US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364530" y="2060848"/>
            <a:ext cx="11513006" cy="4220755"/>
          </a:xfrm>
          <a:prstGeom prst="rect">
            <a:avLst/>
          </a:prstGeom>
          <a:solidFill>
            <a:schemeClr val="accent1">
              <a:lumMod val="100000"/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38150" y="2204720"/>
            <a:ext cx="9427845" cy="563753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灵感来源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: 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地球磁场中带电粒子的运动（极光现象）。</a:t>
            </a:r>
            <a:endParaRPr lang="zh-CN" altLang="en-US" sz="1600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</a:endParaRPr>
          </a:p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endParaRPr lang="en-US" altLang="zh-CN" sz="1600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</a:endParaRPr>
          </a:p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三大核心策略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:</a:t>
            </a:r>
            <a:endParaRPr lang="en-US" altLang="zh-CN" sz="1600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</a:endParaRPr>
          </a:p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endParaRPr lang="en-US" altLang="zh-CN" sz="1600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</a:endParaRPr>
          </a:p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螺旋运动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: 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模拟粒子在磁场中的回旋，用于局部开发。</a:t>
            </a:r>
            <a:endParaRPr lang="en-US" altLang="zh-CN" sz="1600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</a:endParaRPr>
          </a:p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极光椭圆运动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: 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模拟粒子在极光区的漂移，结合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Levy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飞行，用于全局探索。</a:t>
            </a:r>
            <a:endParaRPr lang="en-US" altLang="zh-CN" sz="1600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</a:endParaRPr>
          </a:p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粒子碰撞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: 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引入随机扰动，用于跳出局部最优。</a:t>
            </a:r>
            <a:endParaRPr lang="en-US" altLang="zh-CN" sz="1600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</a:endParaRPr>
          </a:p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数学建模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: 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简要展示位置更新公式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 X_new(i) = X(i) + r2 * (W1 * v(i) + W2 * A_s)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，并说明权重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 W1, W2 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的非线性衰减机制。</a:t>
            </a:r>
            <a:endParaRPr lang="en-US" altLang="zh-CN" sz="1600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</a:endParaRPr>
          </a:p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endParaRPr lang="zh-CN" altLang="en-US" sz="1600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5033" y="6425619"/>
            <a:ext cx="27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accent1">
                    <a:lumMod val="100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惟真求新</a:t>
            </a:r>
            <a:endParaRPr lang="zh-CN" altLang="en-US" dirty="0">
              <a:solidFill>
                <a:schemeClr val="accent1">
                  <a:lumMod val="100000"/>
                </a:schemeClr>
              </a:solidFill>
            </a:endParaRPr>
          </a:p>
        </p:txBody>
      </p:sp>
    </p:spTree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35361" y="116633"/>
            <a:ext cx="11569986" cy="6681374"/>
            <a:chOff x="335361" y="116633"/>
            <a:chExt cx="11569986" cy="6681374"/>
          </a:xfrm>
        </p:grpSpPr>
        <p:grpSp>
          <p:nvGrpSpPr>
            <p:cNvPr id="3" name="组合 2"/>
            <p:cNvGrpSpPr/>
            <p:nvPr/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8" name="平行四边形 7"/>
              <p:cNvSpPr/>
              <p:nvPr/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chemeClr val="accent1">
                  <a:lumMod val="100000"/>
                </a:schemeClr>
              </a:solidFill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/>
              <p:cNvSpPr/>
              <p:nvPr/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4" name="直接连接符 3"/>
            <p:cNvCxnSpPr/>
            <p:nvPr/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chemeClr val="accent1">
                  <a:lumMod val="100000"/>
                </a:schemeClr>
              </a:solidFill>
              <a:prstDash val="solid"/>
            </a:ln>
            <a:effectLst/>
          </p:spPr>
        </p:cxnSp>
        <p:sp>
          <p:nvSpPr>
            <p:cNvPr id="5" name="文本占位符 5"/>
            <p:cNvSpPr txBox="1"/>
            <p:nvPr/>
          </p:nvSpPr>
          <p:spPr>
            <a:xfrm>
              <a:off x="1127448" y="193957"/>
              <a:ext cx="5040313" cy="6127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1" kern="1200">
                  <a:solidFill>
                    <a:srgbClr val="024282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100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原始</a:t>
              </a: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100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PLO</a:t>
              </a: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100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的局限性</a:t>
              </a: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0805366" y="6428675"/>
              <a:ext cx="10999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rPr>
                <a:t>JUNE 12</a:t>
              </a:r>
              <a:r>
                <a:rPr kumimoji="0" lang="en-US" altLang="zh-CN" sz="1800" b="1" i="0" u="none" strike="noStrike" kern="0" cap="none" spc="0" normalizeH="0" baseline="3000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rPr>
                <a:t>th</a:t>
              </a:r>
              <a:endParaRPr kumimoji="0" lang="zh-CN" altLang="en-US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364530" y="2060848"/>
            <a:ext cx="11513006" cy="4220755"/>
          </a:xfrm>
          <a:prstGeom prst="rect">
            <a:avLst/>
          </a:prstGeom>
          <a:solidFill>
            <a:schemeClr val="accent1">
              <a:lumMod val="100000"/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38150" y="2204720"/>
            <a:ext cx="9427845" cy="563753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四大缺陷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:</a:t>
            </a:r>
            <a:endParaRPr lang="en-US" altLang="zh-CN" sz="1600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</a:endParaRPr>
          </a:p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初始化不均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: 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随机初始化导致搜索空间覆盖不匀。</a:t>
            </a:r>
            <a:endParaRPr lang="en-US" altLang="zh-CN" sz="1600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</a:endParaRPr>
          </a:p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种群单一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: 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所有个体共享同一策略，信息交换不足，多样性差。</a:t>
            </a:r>
            <a:endParaRPr lang="en-US" altLang="zh-CN" sz="1600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</a:endParaRPr>
          </a:p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参数僵化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: 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线性衰减的参数难以适应搜索过程的不同阶段。</a:t>
            </a:r>
            <a:endParaRPr lang="en-US" altLang="zh-CN" sz="1600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</a:endParaRPr>
          </a:p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停滞应对不足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: 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缺乏有效的机制来应对种群停滞和早熟收敛。</a:t>
            </a:r>
            <a:endParaRPr lang="en-US" altLang="zh-CN" sz="1600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</a:endParaRPr>
          </a:p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承上启下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: 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这些局限性正是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PPLO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需要着力改进的地方。</a:t>
            </a:r>
            <a:endParaRPr lang="zh-CN" altLang="en-US" sz="1600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5033" y="6425619"/>
            <a:ext cx="27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accent1">
                    <a:lumMod val="100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惟真求新</a:t>
            </a:r>
            <a:endParaRPr lang="zh-CN" altLang="en-US" dirty="0">
              <a:solidFill>
                <a:schemeClr val="accent1">
                  <a:lumMod val="100000"/>
                </a:schemeClr>
              </a:solidFill>
            </a:endParaRPr>
          </a:p>
        </p:txBody>
      </p:sp>
    </p:spTree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占位符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28" b="7128"/>
          <a:stretch>
            <a:fillRect/>
          </a:stretch>
        </p:blipFill>
        <p:spPr>
          <a:xfrm>
            <a:off x="0" y="-4272"/>
            <a:ext cx="12192000" cy="3073231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0"/>
            <a:ext cx="12191997" cy="3068959"/>
          </a:xfrm>
          <a:prstGeom prst="rect">
            <a:avLst/>
          </a:prstGeom>
          <a:solidFill>
            <a:schemeClr val="accent1">
              <a:lumMod val="100000"/>
              <a:alpha val="8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4" name="文本占位符 8"/>
          <p:cNvSpPr txBox="1"/>
          <p:nvPr/>
        </p:nvSpPr>
        <p:spPr>
          <a:xfrm>
            <a:off x="4815507" y="1844824"/>
            <a:ext cx="2560983" cy="2530053"/>
          </a:xfrm>
          <a:custGeom>
            <a:avLst/>
            <a:gdLst>
              <a:gd name="connsiteX0" fmla="*/ 2057400 w 4114800"/>
              <a:gd name="connsiteY0" fmla="*/ 0 h 4065104"/>
              <a:gd name="connsiteX1" fmla="*/ 4114800 w 4114800"/>
              <a:gd name="connsiteY1" fmla="*/ 2032552 h 4065104"/>
              <a:gd name="connsiteX2" fmla="*/ 2057400 w 4114800"/>
              <a:gd name="connsiteY2" fmla="*/ 4065104 h 4065104"/>
              <a:gd name="connsiteX3" fmla="*/ 0 w 4114800"/>
              <a:gd name="connsiteY3" fmla="*/ 2032552 h 4065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14800" h="4065104">
                <a:moveTo>
                  <a:pt x="2057400" y="0"/>
                </a:moveTo>
                <a:lnTo>
                  <a:pt x="4114800" y="2032552"/>
                </a:lnTo>
                <a:lnTo>
                  <a:pt x="2057400" y="4065104"/>
                </a:lnTo>
                <a:lnTo>
                  <a:pt x="0" y="2032552"/>
                </a:lnTo>
                <a:close/>
              </a:path>
            </a:pathLst>
          </a:custGeom>
          <a:solidFill>
            <a:schemeClr val="accent1">
              <a:lumMod val="100000"/>
            </a:schemeClr>
          </a:solidFill>
          <a:ln w="193675">
            <a:solidFill>
              <a:srgbClr val="FFFFFF"/>
            </a:solidFill>
          </a:ln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600" kern="1200">
                <a:solidFill>
                  <a:schemeClr val="bg1"/>
                </a:solidFill>
                <a:effectLst>
                  <a:innerShdw dist="63500" dir="16200000">
                    <a:schemeClr val="accent3"/>
                  </a:innerShdw>
                </a:effectLst>
                <a:latin typeface="Impact" panose="020B080603090205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innerShdw dist="63500" dir="16200000">
                  <a:srgbClr val="3889F5"/>
                </a:innerShdw>
              </a:effectLst>
              <a:uLnTx/>
              <a:uFillTx/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6" name="标题 4"/>
          <p:cNvSpPr txBox="1"/>
          <p:nvPr/>
        </p:nvSpPr>
        <p:spPr>
          <a:xfrm>
            <a:off x="3890807" y="4435830"/>
            <a:ext cx="5328592" cy="746593"/>
          </a:xfrm>
          <a:prstGeom prst="rect">
            <a:avLst/>
          </a:prstGeom>
        </p:spPr>
        <p:txBody>
          <a:bodyPr vert="horz" lIns="68562" tIns="34281" rIns="68562" bIns="34281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4000" dirty="0">
                <a:solidFill>
                  <a:srgbClr val="768394">
                    <a:lumMod val="75000"/>
                  </a:srgbClr>
                </a:solidFill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PPLO</a:t>
            </a:r>
            <a:r>
              <a:rPr lang="zh-CN" altLang="en-US" sz="4000" dirty="0">
                <a:solidFill>
                  <a:srgbClr val="768394">
                    <a:lumMod val="75000"/>
                  </a:srgbClr>
                </a:solidFill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的创新框架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10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3575720" y="5244190"/>
            <a:ext cx="4752528" cy="0"/>
          </a:xfrm>
          <a:prstGeom prst="line">
            <a:avLst/>
          </a:prstGeom>
          <a:noFill/>
          <a:ln w="28575" cap="flat" cmpd="sng" algn="ctr">
            <a:solidFill>
              <a:schemeClr val="accent1">
                <a:lumMod val="100000"/>
              </a:schemeClr>
            </a:solidFill>
            <a:prstDash val="solid"/>
            <a:headEnd type="oval" w="med" len="med"/>
            <a:tailEnd type="oval" w="med" len="med"/>
          </a:ln>
          <a:effectLst/>
        </p:spPr>
      </p:cxnSp>
      <p:sp>
        <p:nvSpPr>
          <p:cNvPr id="9" name="文本框 8"/>
          <p:cNvSpPr txBox="1"/>
          <p:nvPr/>
        </p:nvSpPr>
        <p:spPr>
          <a:xfrm>
            <a:off x="10704512" y="6406826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100000"/>
                    <a:alpha val="70000"/>
                  </a:scheme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JUNE 12</a:t>
            </a:r>
            <a:r>
              <a:rPr kumimoji="0" lang="en-US" altLang="zh-CN" sz="1800" b="1" i="0" u="none" strike="noStrike" kern="1200" cap="none" spc="0" normalizeH="0" baseline="30000" noProof="0" dirty="0">
                <a:ln>
                  <a:noFill/>
                </a:ln>
                <a:solidFill>
                  <a:schemeClr val="accent1">
                    <a:lumMod val="100000"/>
                    <a:alpha val="70000"/>
                  </a:scheme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</a:t>
            </a:r>
            <a:endParaRPr kumimoji="0" lang="zh-CN" altLang="en-US" sz="1800" b="1" i="0" u="none" strike="noStrike" kern="1200" cap="none" spc="0" normalizeH="0" baseline="30000" noProof="0" dirty="0">
              <a:ln>
                <a:noFill/>
              </a:ln>
              <a:solidFill>
                <a:schemeClr val="accent1">
                  <a:lumMod val="100000"/>
                  <a:alpha val="70000"/>
                </a:scheme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250253" y="2386575"/>
            <a:ext cx="169148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03</a:t>
            </a:r>
            <a:endParaRPr kumimoji="0" lang="zh-CN" altLang="en-US" sz="8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35361" y="116633"/>
            <a:ext cx="11569986" cy="6681374"/>
            <a:chOff x="335361" y="116633"/>
            <a:chExt cx="11569986" cy="6681374"/>
          </a:xfrm>
        </p:grpSpPr>
        <p:grpSp>
          <p:nvGrpSpPr>
            <p:cNvPr id="3" name="组合 2"/>
            <p:cNvGrpSpPr/>
            <p:nvPr/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8" name="平行四边形 7"/>
              <p:cNvSpPr/>
              <p:nvPr/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chemeClr val="accent1">
                  <a:lumMod val="100000"/>
                </a:schemeClr>
              </a:solidFill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/>
              <p:cNvSpPr/>
              <p:nvPr/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4" name="直接连接符 3"/>
            <p:cNvCxnSpPr/>
            <p:nvPr/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chemeClr val="accent1">
                  <a:lumMod val="100000"/>
                </a:schemeClr>
              </a:solidFill>
              <a:prstDash val="solid"/>
            </a:ln>
            <a:effectLst/>
          </p:spPr>
        </p:cxnSp>
        <p:sp>
          <p:nvSpPr>
            <p:cNvPr id="5" name="文本占位符 5"/>
            <p:cNvSpPr txBox="1"/>
            <p:nvPr/>
          </p:nvSpPr>
          <p:spPr>
            <a:xfrm>
              <a:off x="1127448" y="193957"/>
              <a:ext cx="5040313" cy="6127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1" kern="1200">
                  <a:solidFill>
                    <a:srgbClr val="024282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100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PPLO</a:t>
              </a: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100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核心创新框架</a:t>
              </a: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0805366" y="6428675"/>
              <a:ext cx="10999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rPr>
                <a:t>JUNE 12</a:t>
              </a:r>
              <a:r>
                <a:rPr kumimoji="0" lang="en-US" altLang="zh-CN" sz="1800" b="1" i="0" u="none" strike="noStrike" kern="0" cap="none" spc="0" normalizeH="0" baseline="3000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rPr>
                <a:t>th</a:t>
              </a:r>
              <a:endParaRPr kumimoji="0" lang="zh-CN" altLang="en-US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364490" y="806450"/>
            <a:ext cx="11513185" cy="5474970"/>
          </a:xfrm>
          <a:prstGeom prst="rect">
            <a:avLst/>
          </a:prstGeom>
          <a:solidFill>
            <a:schemeClr val="accent1">
              <a:lumMod val="100000"/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67665" y="889635"/>
            <a:ext cx="9372600" cy="50038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3.1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均匀初始化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: 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采用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Sobol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序列，实现搜索空间的低差异、均匀覆盖。</a:t>
            </a:r>
            <a:endParaRPr lang="zh-CN" altLang="en-US" sz="1600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5033" y="6425619"/>
            <a:ext cx="27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accent1">
                    <a:lumMod val="100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惟真求新</a:t>
            </a:r>
            <a:endParaRPr lang="zh-CN" altLang="en-US" dirty="0">
              <a:solidFill>
                <a:schemeClr val="accent1">
                  <a:lumMod val="100000"/>
                </a:schemeClr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46710" y="1390015"/>
            <a:ext cx="11510010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/>
              <a:t>随机初始化可能聚簇，导致搜索盲区；</a:t>
            </a:r>
            <a:r>
              <a:rPr lang="en-US" altLang="zh-CN" sz="1600"/>
              <a:t>Sobol</a:t>
            </a:r>
            <a:r>
              <a:rPr lang="zh-CN" altLang="en-US" sz="1600"/>
              <a:t>（低差异序列）能更均匀覆盖搜索空间，从一开始就减少“坏种群”的概率。</a:t>
            </a:r>
            <a:endParaRPr lang="zh-CN" altLang="en-US" sz="160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5750" y="1901825"/>
            <a:ext cx="2838450" cy="26035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92430" y="220313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600"/>
              <a:t>3.2 </a:t>
            </a:r>
            <a:r>
              <a:rPr lang="zh-CN" altLang="en-US" sz="1600"/>
              <a:t>并行子群（</a:t>
            </a:r>
            <a:r>
              <a:rPr lang="en-US" altLang="zh-CN" sz="1600"/>
              <a:t>Multi-group</a:t>
            </a:r>
            <a:r>
              <a:rPr lang="zh-CN" altLang="en-US" sz="1600"/>
              <a:t>）与精英迁移（</a:t>
            </a:r>
            <a:r>
              <a:rPr lang="en-US" altLang="zh-CN" sz="1600"/>
              <a:t>Migration</a:t>
            </a:r>
            <a:r>
              <a:rPr lang="zh-CN" altLang="en-US" sz="1600"/>
              <a:t>）</a:t>
            </a:r>
            <a:endParaRPr lang="zh-CN" altLang="en-US" sz="1600"/>
          </a:p>
        </p:txBody>
      </p:sp>
      <p:sp>
        <p:nvSpPr>
          <p:cNvPr id="14" name="文本框 13"/>
          <p:cNvSpPr txBox="1"/>
          <p:nvPr/>
        </p:nvSpPr>
        <p:spPr>
          <a:xfrm>
            <a:off x="392430" y="2673985"/>
            <a:ext cx="11484610" cy="5835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/>
              <a:t>把整体种群拆为 </a:t>
            </a:r>
            <a:r>
              <a:rPr lang="en-US" altLang="zh-CN" sz="1600"/>
              <a:t>G </a:t>
            </a:r>
            <a:r>
              <a:rPr lang="zh-CN" altLang="en-US" sz="1600"/>
              <a:t>个子群并行搜索，每个子群维护局部 </a:t>
            </a:r>
            <a:r>
              <a:rPr lang="en-US" altLang="zh-CN" sz="1600"/>
              <a:t>gBest</a:t>
            </a:r>
            <a:r>
              <a:rPr lang="zh-CN" altLang="en-US" sz="1600"/>
              <a:t>。周期性把某子群的最优（</a:t>
            </a:r>
            <a:r>
              <a:rPr lang="en-US" altLang="zh-CN" sz="1600"/>
              <a:t>ggBest</a:t>
            </a:r>
            <a:r>
              <a:rPr lang="zh-CN" altLang="en-US" sz="1600"/>
              <a:t>）迁移到其他子群的最差个体，以传播优秀基因并维持群体多样性。</a:t>
            </a:r>
            <a:endParaRPr lang="zh-CN" altLang="en-US" sz="1600"/>
          </a:p>
        </p:txBody>
      </p:sp>
      <p:sp>
        <p:nvSpPr>
          <p:cNvPr id="15" name="文本框 14"/>
          <p:cNvSpPr txBox="1"/>
          <p:nvPr/>
        </p:nvSpPr>
        <p:spPr>
          <a:xfrm>
            <a:off x="392430" y="335375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600"/>
              <a:t>3.3 </a:t>
            </a:r>
            <a:r>
              <a:rPr lang="zh-CN" altLang="en-US" sz="1600"/>
              <a:t>精英池（</a:t>
            </a:r>
            <a:r>
              <a:rPr lang="en-US" altLang="zh-CN" sz="1600"/>
              <a:t>Elite Pool</a:t>
            </a:r>
            <a:r>
              <a:rPr lang="zh-CN" altLang="en-US" sz="1600"/>
              <a:t>）与停滞复苏（</a:t>
            </a:r>
            <a:r>
              <a:rPr lang="en-US" altLang="zh-CN" sz="1600"/>
              <a:t>Revival</a:t>
            </a:r>
            <a:r>
              <a:rPr lang="zh-CN" altLang="en-US" sz="1600"/>
              <a:t>）</a:t>
            </a:r>
            <a:endParaRPr lang="zh-CN" altLang="en-US" sz="1600"/>
          </a:p>
        </p:txBody>
      </p:sp>
      <p:sp>
        <p:nvSpPr>
          <p:cNvPr id="16" name="文本框 15"/>
          <p:cNvSpPr txBox="1"/>
          <p:nvPr/>
        </p:nvSpPr>
        <p:spPr>
          <a:xfrm>
            <a:off x="367665" y="3769360"/>
            <a:ext cx="11513185" cy="5835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/>
              <a:t>保存历史优秀解到精英池（</a:t>
            </a:r>
            <a:r>
              <a:rPr lang="en-US" altLang="zh-CN" sz="1600"/>
              <a:t>archive</a:t>
            </a:r>
            <a:r>
              <a:rPr lang="zh-CN" altLang="en-US" sz="1600"/>
              <a:t>），当主群停滞（若干代无改进）时，从精英池中重启或用高斯噪声</a:t>
            </a:r>
            <a:r>
              <a:rPr lang="en-US" altLang="zh-CN" sz="1600"/>
              <a:t>/oversampling </a:t>
            </a:r>
            <a:r>
              <a:rPr lang="zh-CN" altLang="en-US" sz="1600"/>
              <a:t>产生变体以“唤醒”群体。</a:t>
            </a:r>
            <a:endParaRPr lang="zh-CN" altLang="en-US" sz="1600"/>
          </a:p>
        </p:txBody>
      </p:sp>
      <p:sp>
        <p:nvSpPr>
          <p:cNvPr id="17" name="文本框 16"/>
          <p:cNvSpPr txBox="1"/>
          <p:nvPr/>
        </p:nvSpPr>
        <p:spPr>
          <a:xfrm>
            <a:off x="346710" y="4431030"/>
            <a:ext cx="11510010" cy="98869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lang="zh-CN" altLang="en-US" sz="1600"/>
              <a:t>3.4 对立学习（Opposition-based Learning）</a:t>
            </a:r>
            <a:endParaRPr lang="zh-CN" altLang="en-US" sz="2300" b="1"/>
          </a:p>
          <a:p>
            <a:r>
              <a:rPr lang="zh-CN" altLang="en-US" sz="1600"/>
              <a:t>原理：对当前解 </a:t>
            </a:r>
            <a:r>
              <a:rPr lang="en-US" altLang="zh-CN" sz="1600"/>
              <a:t>xx</a:t>
            </a:r>
            <a:r>
              <a:rPr lang="zh-CN" altLang="en-US" sz="1600"/>
              <a:t>生成对立点 </a:t>
            </a:r>
            <a:r>
              <a:rPr lang="en-US" altLang="zh-CN" sz="1600"/>
              <a:t>x′</a:t>
            </a:r>
            <a:r>
              <a:rPr lang="zh-CN" altLang="en-US" sz="1600"/>
              <a:t>（基于 </a:t>
            </a:r>
            <a:r>
              <a:rPr lang="en-US" altLang="zh-CN" sz="1600"/>
              <a:t>lb/ub </a:t>
            </a:r>
            <a:r>
              <a:rPr lang="zh-CN" altLang="en-US" sz="1600"/>
              <a:t>对称），并评估后择优保留，从而加速在未探索区域的发现。论文在早期以概率 </a:t>
            </a:r>
            <a:r>
              <a:rPr lang="en-US" altLang="zh-CN" sz="1600"/>
              <a:t>oppp(t)</a:t>
            </a:r>
            <a:r>
              <a:rPr lang="zh-CN" altLang="en-US" sz="1600"/>
              <a:t>触发对立学习。</a:t>
            </a:r>
            <a:endParaRPr lang="zh-CN" altLang="en-US" sz="1600"/>
          </a:p>
        </p:txBody>
      </p:sp>
      <p:sp>
        <p:nvSpPr>
          <p:cNvPr id="18" name="文本框 17"/>
          <p:cNvSpPr txBox="1"/>
          <p:nvPr/>
        </p:nvSpPr>
        <p:spPr>
          <a:xfrm>
            <a:off x="364490" y="5358765"/>
            <a:ext cx="11512550" cy="74231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lang="zh-CN" altLang="en-US" sz="1600"/>
              <a:t>3.5 自适应非线性参数控制（w, c1, c2, oppp）</a:t>
            </a:r>
            <a:endParaRPr lang="zh-CN" altLang="en-US" sz="1600"/>
          </a:p>
          <a:p>
            <a:r>
              <a:rPr lang="zh-CN" altLang="en-US" sz="1600"/>
              <a:t>动机：线性衰减不灵活；采用基于进度比 </a:t>
            </a:r>
            <a:r>
              <a:rPr lang="en-US" altLang="zh-CN" sz="1600"/>
              <a:t>τ=t/T</a:t>
            </a:r>
            <a:r>
              <a:rPr lang="zh-CN" altLang="en-US" sz="1600"/>
              <a:t>的非线性函数（</a:t>
            </a:r>
            <a:r>
              <a:rPr lang="en-US" altLang="zh-CN" sz="1600"/>
              <a:t>sigmoid/tanh/</a:t>
            </a:r>
            <a:r>
              <a:rPr lang="zh-CN" altLang="en-US" sz="1600"/>
              <a:t>幂）可在不同阶段更合理分配探索</a:t>
            </a:r>
            <a:r>
              <a:rPr lang="en-US" altLang="zh-CN" sz="1600"/>
              <a:t>/</a:t>
            </a:r>
            <a:r>
              <a:rPr lang="zh-CN" altLang="en-US" sz="1600"/>
              <a:t>利用权重。</a:t>
            </a:r>
            <a:endParaRPr lang="zh-CN" altLang="en-US" sz="1600"/>
          </a:p>
        </p:txBody>
      </p:sp>
    </p:spTree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35361" y="116633"/>
            <a:ext cx="11569986" cy="6681374"/>
            <a:chOff x="335361" y="116633"/>
            <a:chExt cx="11569986" cy="6681374"/>
          </a:xfrm>
        </p:grpSpPr>
        <p:grpSp>
          <p:nvGrpSpPr>
            <p:cNvPr id="3" name="组合 2"/>
            <p:cNvGrpSpPr/>
            <p:nvPr/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8" name="平行四边形 7"/>
              <p:cNvSpPr/>
              <p:nvPr/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chemeClr val="accent1">
                  <a:lumMod val="100000"/>
                </a:schemeClr>
              </a:solidFill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/>
              <p:cNvSpPr/>
              <p:nvPr/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4" name="直接连接符 3"/>
            <p:cNvCxnSpPr/>
            <p:nvPr/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chemeClr val="accent1">
                  <a:lumMod val="100000"/>
                </a:schemeClr>
              </a:solidFill>
              <a:prstDash val="solid"/>
            </a:ln>
            <a:effectLst/>
          </p:spPr>
        </p:cxnSp>
        <p:sp>
          <p:nvSpPr>
            <p:cNvPr id="5" name="文本占位符 5"/>
            <p:cNvSpPr txBox="1"/>
            <p:nvPr/>
          </p:nvSpPr>
          <p:spPr>
            <a:xfrm>
              <a:off x="1127448" y="193957"/>
              <a:ext cx="5040313" cy="6127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1" kern="1200">
                  <a:solidFill>
                    <a:srgbClr val="024282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100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PPLO</a:t>
              </a: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100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核心创新框架</a:t>
              </a: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0805366" y="6428675"/>
              <a:ext cx="10999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rPr>
                <a:t>JUNE 12</a:t>
              </a:r>
              <a:r>
                <a:rPr kumimoji="0" lang="en-US" altLang="zh-CN" sz="1800" b="1" i="0" u="none" strike="noStrike" kern="0" cap="none" spc="0" normalizeH="0" baseline="3000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rPr>
                <a:t>th</a:t>
              </a:r>
              <a:endParaRPr kumimoji="0" lang="zh-CN" altLang="en-US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364490" y="806450"/>
            <a:ext cx="11513185" cy="5474970"/>
          </a:xfrm>
          <a:prstGeom prst="rect">
            <a:avLst/>
          </a:prstGeom>
          <a:solidFill>
            <a:schemeClr val="accent1">
              <a:lumMod val="100000"/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67665" y="812800"/>
            <a:ext cx="9427845" cy="388620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3.6 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更新规则（位置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/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速度）与混合移动算子</a:t>
            </a:r>
            <a:endParaRPr lang="zh-CN" altLang="en-US" sz="1600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5033" y="6425619"/>
            <a:ext cx="27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accent1">
                    <a:lumMod val="100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惟真求新</a:t>
            </a:r>
            <a:endParaRPr lang="zh-CN" altLang="en-US" dirty="0">
              <a:solidFill>
                <a:schemeClr val="accent1">
                  <a:lumMod val="100000"/>
                </a:schemeClr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3710" y="1284605"/>
            <a:ext cx="6423025" cy="124206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92430" y="2802890"/>
            <a:ext cx="765746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/>
              <a:t>3.7 </a:t>
            </a:r>
            <a:r>
              <a:rPr lang="zh-CN" altLang="en-US" sz="1600"/>
              <a:t>后期多策略精修（</a:t>
            </a:r>
            <a:r>
              <a:rPr lang="en-US" altLang="zh-CN" sz="1600"/>
              <a:t>Levy flight, Numerical gradient, Gaussian</a:t>
            </a:r>
            <a:r>
              <a:rPr lang="zh-CN" altLang="en-US" sz="1600"/>
              <a:t>）</a:t>
            </a:r>
            <a:endParaRPr lang="zh-CN" altLang="en-US" sz="1600"/>
          </a:p>
        </p:txBody>
      </p:sp>
      <p:sp>
        <p:nvSpPr>
          <p:cNvPr id="13" name="文本框 12"/>
          <p:cNvSpPr txBox="1"/>
          <p:nvPr/>
        </p:nvSpPr>
        <p:spPr>
          <a:xfrm>
            <a:off x="458470" y="3140075"/>
            <a:ext cx="9673590" cy="206121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/>
              <a:t>若迭代 </a:t>
            </a:r>
            <a:r>
              <a:rPr lang="en-US" altLang="zh-CN" sz="1600"/>
              <a:t>t&gt;0.4 T</a:t>
            </a:r>
            <a:r>
              <a:rPr lang="zh-CN" altLang="en-US" sz="1600"/>
              <a:t>且达到某条件 </a:t>
            </a:r>
            <a:r>
              <a:rPr lang="en-US" altLang="zh-CN" sz="1600"/>
              <a:t>→ Levy long-jump</a:t>
            </a:r>
            <a:r>
              <a:rPr lang="zh-CN" altLang="en-US" sz="1600"/>
              <a:t>（逃离局部）；</a:t>
            </a:r>
            <a:endParaRPr lang="en-US" altLang="zh-CN" sz="1600"/>
          </a:p>
          <a:p>
            <a:endParaRPr lang="zh-CN" altLang="en-US" sz="1600"/>
          </a:p>
          <a:p>
            <a:endParaRPr lang="zh-CN" altLang="en-US" sz="1600"/>
          </a:p>
          <a:p>
            <a:r>
              <a:rPr lang="zh-CN" altLang="en-US" sz="1600"/>
              <a:t>若 </a:t>
            </a:r>
            <a:r>
              <a:rPr lang="en-US" altLang="zh-CN" sz="1600"/>
              <a:t>t&gt;0.6 Tt &gt; 0.6 \,Tt&gt;0.6T → </a:t>
            </a:r>
            <a:r>
              <a:rPr lang="zh-CN" altLang="en-US" sz="1600"/>
              <a:t>用数值梯度做局部精修</a:t>
            </a:r>
            <a:endParaRPr lang="zh-CN" altLang="en-US" sz="1600"/>
          </a:p>
          <a:p>
            <a:endParaRPr lang="zh-CN" altLang="en-US" sz="1600"/>
          </a:p>
          <a:p>
            <a:endParaRPr lang="zh-CN" altLang="en-US" sz="1600"/>
          </a:p>
          <a:p>
            <a:endParaRPr lang="en-US" altLang="zh-CN" sz="1600"/>
          </a:p>
          <a:p>
            <a:r>
              <a:rPr lang="zh-CN" altLang="en-US" sz="1600"/>
              <a:t>每 </a:t>
            </a:r>
            <a:r>
              <a:rPr lang="en-US" altLang="zh-CN" sz="1600"/>
              <a:t>50 </a:t>
            </a:r>
            <a:r>
              <a:rPr lang="zh-CN" altLang="en-US" sz="1600"/>
              <a:t>代对 </a:t>
            </a:r>
            <a:r>
              <a:rPr lang="en-US" altLang="zh-CN" sz="1600"/>
              <a:t>globalBest </a:t>
            </a:r>
            <a:r>
              <a:rPr lang="zh-CN" altLang="en-US" sz="1600"/>
              <a:t>注入小幅高斯噪声以维持微量多样性。</a:t>
            </a:r>
            <a:endParaRPr lang="zh-CN" altLang="en-US" sz="160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5110" y="3047365"/>
            <a:ext cx="3390900" cy="12573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860" y="4345940"/>
            <a:ext cx="3581400" cy="342900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35361" y="116633"/>
            <a:ext cx="11569986" cy="6681374"/>
            <a:chOff x="335361" y="116633"/>
            <a:chExt cx="11569986" cy="6681374"/>
          </a:xfrm>
        </p:grpSpPr>
        <p:grpSp>
          <p:nvGrpSpPr>
            <p:cNvPr id="3" name="组合 2"/>
            <p:cNvGrpSpPr/>
            <p:nvPr/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8" name="平行四边形 7"/>
              <p:cNvSpPr/>
              <p:nvPr/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chemeClr val="accent1">
                  <a:lumMod val="100000"/>
                </a:schemeClr>
              </a:solidFill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/>
              <p:cNvSpPr/>
              <p:nvPr/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4" name="直接连接符 3"/>
            <p:cNvCxnSpPr/>
            <p:nvPr/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chemeClr val="accent1">
                  <a:lumMod val="100000"/>
                </a:schemeClr>
              </a:solidFill>
              <a:prstDash val="solid"/>
            </a:ln>
            <a:effectLst/>
          </p:spPr>
        </p:cxnSp>
        <p:sp>
          <p:nvSpPr>
            <p:cNvPr id="5" name="文本占位符 5"/>
            <p:cNvSpPr txBox="1"/>
            <p:nvPr/>
          </p:nvSpPr>
          <p:spPr>
            <a:xfrm>
              <a:off x="1127448" y="193957"/>
              <a:ext cx="5040313" cy="6127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1" kern="1200">
                  <a:solidFill>
                    <a:srgbClr val="024282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100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PPLO</a:t>
              </a: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100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算法伪代码</a:t>
              </a: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100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 </a:t>
              </a:r>
              <a:endPara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0805366" y="6428675"/>
              <a:ext cx="10999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rPr>
                <a:t>JUNE 12</a:t>
              </a:r>
              <a:r>
                <a:rPr kumimoji="0" lang="en-US" altLang="zh-CN" sz="1800" b="1" i="0" u="none" strike="noStrike" kern="0" cap="none" spc="0" normalizeH="0" baseline="3000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rPr>
                <a:t>th</a:t>
              </a:r>
              <a:endParaRPr kumimoji="0" lang="zh-CN" altLang="en-US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364530" y="2060848"/>
            <a:ext cx="11513006" cy="4220755"/>
          </a:xfrm>
          <a:prstGeom prst="rect">
            <a:avLst/>
          </a:prstGeom>
          <a:solidFill>
            <a:schemeClr val="accent1">
              <a:lumMod val="100000"/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5033" y="6425619"/>
            <a:ext cx="27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accent1">
                    <a:lumMod val="100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惟真求新</a:t>
            </a:r>
            <a:endParaRPr lang="zh-CN" altLang="en-US" dirty="0">
              <a:solidFill>
                <a:schemeClr val="accent1">
                  <a:lumMod val="100000"/>
                </a:schemeClr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0525" y="2060575"/>
            <a:ext cx="6035040" cy="4254500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占位符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88" b="7188"/>
          <a:stretch>
            <a:fillRect/>
          </a:stretch>
        </p:blipFill>
        <p:spPr>
          <a:xfrm>
            <a:off x="0" y="0"/>
            <a:ext cx="12192000" cy="3068959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0"/>
            <a:ext cx="12191997" cy="3068959"/>
          </a:xfrm>
          <a:prstGeom prst="rect">
            <a:avLst/>
          </a:prstGeom>
          <a:solidFill>
            <a:schemeClr val="accent1">
              <a:lumMod val="100000"/>
              <a:alpha val="8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4" name="文本占位符 8"/>
          <p:cNvSpPr txBox="1"/>
          <p:nvPr/>
        </p:nvSpPr>
        <p:spPr>
          <a:xfrm>
            <a:off x="4815507" y="1844824"/>
            <a:ext cx="2560983" cy="2530053"/>
          </a:xfrm>
          <a:custGeom>
            <a:avLst/>
            <a:gdLst>
              <a:gd name="connsiteX0" fmla="*/ 2057400 w 4114800"/>
              <a:gd name="connsiteY0" fmla="*/ 0 h 4065104"/>
              <a:gd name="connsiteX1" fmla="*/ 4114800 w 4114800"/>
              <a:gd name="connsiteY1" fmla="*/ 2032552 h 4065104"/>
              <a:gd name="connsiteX2" fmla="*/ 2057400 w 4114800"/>
              <a:gd name="connsiteY2" fmla="*/ 4065104 h 4065104"/>
              <a:gd name="connsiteX3" fmla="*/ 0 w 4114800"/>
              <a:gd name="connsiteY3" fmla="*/ 2032552 h 4065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14800" h="4065104">
                <a:moveTo>
                  <a:pt x="2057400" y="0"/>
                </a:moveTo>
                <a:lnTo>
                  <a:pt x="4114800" y="2032552"/>
                </a:lnTo>
                <a:lnTo>
                  <a:pt x="2057400" y="4065104"/>
                </a:lnTo>
                <a:lnTo>
                  <a:pt x="0" y="2032552"/>
                </a:lnTo>
                <a:close/>
              </a:path>
            </a:pathLst>
          </a:custGeom>
          <a:solidFill>
            <a:schemeClr val="accent1">
              <a:lumMod val="100000"/>
            </a:schemeClr>
          </a:solidFill>
          <a:ln w="193675">
            <a:solidFill>
              <a:srgbClr val="FFFFFF"/>
            </a:solidFill>
          </a:ln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600" kern="1200">
                <a:solidFill>
                  <a:schemeClr val="bg1"/>
                </a:solidFill>
                <a:effectLst>
                  <a:innerShdw dist="63500" dir="16200000">
                    <a:schemeClr val="accent3"/>
                  </a:innerShdw>
                </a:effectLst>
                <a:latin typeface="Impact" panose="020B080603090205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innerShdw dist="63500" dir="16200000">
                  <a:srgbClr val="3889F5"/>
                </a:innerShdw>
              </a:effectLst>
              <a:uLnTx/>
              <a:uFillTx/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6" name="标题 4"/>
          <p:cNvSpPr txBox="1"/>
          <p:nvPr/>
        </p:nvSpPr>
        <p:spPr>
          <a:xfrm>
            <a:off x="3431702" y="4358360"/>
            <a:ext cx="5328592" cy="746593"/>
          </a:xfrm>
          <a:prstGeom prst="rect">
            <a:avLst/>
          </a:prstGeom>
        </p:spPr>
        <p:txBody>
          <a:bodyPr vert="horz" lIns="68562" tIns="34281" rIns="68562" bIns="34281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 </a:t>
            </a:r>
            <a:r>
              <a:rPr lang="zh-CN" altLang="en-US" sz="4000" dirty="0">
                <a:solidFill>
                  <a:srgbClr val="768394">
                    <a:lumMod val="75000"/>
                  </a:srgbClr>
                </a:solidFill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实验验证与结果分析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768394">
                  <a:lumMod val="75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3575720" y="5244190"/>
            <a:ext cx="4752528" cy="0"/>
          </a:xfrm>
          <a:prstGeom prst="line">
            <a:avLst/>
          </a:prstGeom>
          <a:noFill/>
          <a:ln w="28575" cap="flat" cmpd="sng" algn="ctr">
            <a:solidFill>
              <a:schemeClr val="accent1">
                <a:lumMod val="100000"/>
              </a:schemeClr>
            </a:solidFill>
            <a:prstDash val="solid"/>
            <a:headEnd type="oval" w="med" len="med"/>
            <a:tailEnd type="oval" w="med" len="med"/>
          </a:ln>
          <a:effectLst/>
        </p:spPr>
      </p:cxnSp>
      <p:sp>
        <p:nvSpPr>
          <p:cNvPr id="9" name="文本框 8"/>
          <p:cNvSpPr txBox="1"/>
          <p:nvPr/>
        </p:nvSpPr>
        <p:spPr>
          <a:xfrm>
            <a:off x="10704512" y="6406826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100000"/>
                    <a:alpha val="70000"/>
                  </a:scheme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JUNE 12</a:t>
            </a:r>
            <a:r>
              <a:rPr kumimoji="0" lang="en-US" altLang="zh-CN" sz="1800" b="1" i="0" u="none" strike="noStrike" kern="1200" cap="none" spc="0" normalizeH="0" baseline="30000" noProof="0" dirty="0">
                <a:ln>
                  <a:noFill/>
                </a:ln>
                <a:solidFill>
                  <a:schemeClr val="accent1">
                    <a:lumMod val="100000"/>
                    <a:alpha val="70000"/>
                  </a:scheme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</a:t>
            </a:r>
            <a:endParaRPr kumimoji="0" lang="zh-CN" altLang="en-US" sz="1800" b="1" i="0" u="none" strike="noStrike" kern="1200" cap="none" spc="0" normalizeH="0" baseline="30000" noProof="0" dirty="0">
              <a:ln>
                <a:noFill/>
              </a:ln>
              <a:solidFill>
                <a:schemeClr val="accent1">
                  <a:lumMod val="100000"/>
                  <a:alpha val="70000"/>
                </a:scheme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250253" y="2386575"/>
            <a:ext cx="169148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04</a:t>
            </a:r>
            <a:endParaRPr kumimoji="0" lang="zh-CN" altLang="en-US" sz="8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35361" y="116633"/>
            <a:ext cx="11569986" cy="6681374"/>
            <a:chOff x="335361" y="116633"/>
            <a:chExt cx="11569986" cy="6681374"/>
          </a:xfrm>
        </p:grpSpPr>
        <p:grpSp>
          <p:nvGrpSpPr>
            <p:cNvPr id="3" name="组合 2"/>
            <p:cNvGrpSpPr/>
            <p:nvPr/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8" name="平行四边形 7"/>
              <p:cNvSpPr/>
              <p:nvPr/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chemeClr val="accent1">
                  <a:lumMod val="100000"/>
                </a:schemeClr>
              </a:solidFill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/>
              <p:cNvSpPr/>
              <p:nvPr/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4" name="直接连接符 3"/>
            <p:cNvCxnSpPr/>
            <p:nvPr/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chemeClr val="accent1">
                  <a:lumMod val="100000"/>
                </a:schemeClr>
              </a:solidFill>
              <a:prstDash val="solid"/>
            </a:ln>
            <a:effectLst/>
          </p:spPr>
        </p:cxnSp>
        <p:sp>
          <p:nvSpPr>
            <p:cNvPr id="5" name="文本占位符 5"/>
            <p:cNvSpPr txBox="1"/>
            <p:nvPr/>
          </p:nvSpPr>
          <p:spPr>
            <a:xfrm>
              <a:off x="1127448" y="193957"/>
              <a:ext cx="5040313" cy="6127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1" kern="1200">
                  <a:solidFill>
                    <a:srgbClr val="024282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100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实验分析</a:t>
              </a:r>
              <a:endParaRPr kumimoji="0" 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0805366" y="6428675"/>
              <a:ext cx="10999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rPr>
                <a:t>JUNE 12</a:t>
              </a:r>
              <a:r>
                <a:rPr kumimoji="0" lang="en-US" altLang="zh-CN" sz="1800" b="1" i="0" u="none" strike="noStrike" kern="0" cap="none" spc="0" normalizeH="0" baseline="3000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rPr>
                <a:t>th</a:t>
              </a:r>
              <a:endParaRPr kumimoji="0" lang="zh-CN" altLang="en-US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364530" y="2060848"/>
            <a:ext cx="11513006" cy="4220755"/>
          </a:xfrm>
          <a:prstGeom prst="rect">
            <a:avLst/>
          </a:prstGeom>
          <a:solidFill>
            <a:schemeClr val="accent1">
              <a:lumMod val="100000"/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38150" y="2204720"/>
            <a:ext cx="9427845" cy="5637530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基准集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: IEEE CEC2022 (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包含单峰、基本、混合、复合函数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)</a:t>
            </a:r>
            <a:endParaRPr lang="en-US" altLang="zh-CN" sz="1600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</a:endParaRPr>
          </a:p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对比算法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: PLO, BKA, WOA, SCA, FOX, ALO, BA, GSA, HHO, MFO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等。</a:t>
            </a:r>
            <a:endParaRPr lang="en-US" altLang="zh-CN" sz="1600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</a:endParaRPr>
          </a:p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评价指标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: 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平均值、标准差、排名、收敛曲线。</a:t>
            </a:r>
            <a:endParaRPr lang="zh-CN" altLang="en-US" sz="1600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</a:endParaRPr>
          </a:p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关键结果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:</a:t>
            </a:r>
            <a:endParaRPr lang="en-US" altLang="zh-CN" sz="1600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</a:endParaRPr>
          </a:p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表格展示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: 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在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10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维和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20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维测试中，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PPLO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在大多数函数上取得排名第一。</a:t>
            </a:r>
            <a:endParaRPr lang="en-US" altLang="zh-CN" sz="1600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</a:endParaRPr>
          </a:p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统计胜出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: 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平均排名远优于其他算法（例如，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10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维下平均排名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1.08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，第二名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2.5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）。</a:t>
            </a:r>
            <a:endParaRPr lang="en-US" altLang="zh-CN" sz="1600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</a:endParaRPr>
          </a:p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收敛曲线图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: 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展示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PPLO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在典型函数上具有更快收敛速度和更优收敛精度。</a:t>
            </a:r>
            <a:endParaRPr lang="en-US" altLang="zh-CN" sz="1600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</a:endParaRPr>
          </a:p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结论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: PPLO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在收敛速度、精度和稳定性上全面优于对比算法。</a:t>
            </a:r>
            <a:endParaRPr lang="zh-CN" altLang="en-US" sz="1600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5033" y="6425619"/>
            <a:ext cx="27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accent1">
                    <a:lumMod val="100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惟真求新</a:t>
            </a:r>
            <a:endParaRPr lang="zh-CN" altLang="en-US" dirty="0">
              <a:solidFill>
                <a:schemeClr val="accent1">
                  <a:lumMod val="100000"/>
                </a:schemeClr>
              </a:solidFill>
            </a:endParaRPr>
          </a:p>
        </p:txBody>
      </p:sp>
    </p:spTree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35361" y="116633"/>
            <a:ext cx="11569986" cy="6681374"/>
            <a:chOff x="335361" y="116633"/>
            <a:chExt cx="11569986" cy="6681374"/>
          </a:xfrm>
        </p:grpSpPr>
        <p:grpSp>
          <p:nvGrpSpPr>
            <p:cNvPr id="3" name="组合 2"/>
            <p:cNvGrpSpPr/>
            <p:nvPr/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8" name="平行四边形 7"/>
              <p:cNvSpPr/>
              <p:nvPr/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chemeClr val="accent1">
                  <a:lumMod val="100000"/>
                </a:schemeClr>
              </a:solidFill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/>
              <p:cNvSpPr/>
              <p:nvPr/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4" name="直接连接符 3"/>
            <p:cNvCxnSpPr/>
            <p:nvPr/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chemeClr val="accent1">
                  <a:lumMod val="100000"/>
                </a:schemeClr>
              </a:solidFill>
              <a:prstDash val="solid"/>
            </a:ln>
            <a:effectLst/>
          </p:spPr>
        </p:cxnSp>
        <p:sp>
          <p:nvSpPr>
            <p:cNvPr id="5" name="文本占位符 5"/>
            <p:cNvSpPr txBox="1"/>
            <p:nvPr/>
          </p:nvSpPr>
          <p:spPr>
            <a:xfrm>
              <a:off x="1127448" y="193957"/>
              <a:ext cx="5040313" cy="6127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1" kern="1200">
                  <a:solidFill>
                    <a:srgbClr val="024282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100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工程设计</a:t>
              </a: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100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 </a:t>
              </a:r>
              <a:endPara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0805366" y="6428675"/>
              <a:ext cx="10999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rPr>
                <a:t>JUNE 12</a:t>
              </a:r>
              <a:r>
                <a:rPr kumimoji="0" lang="en-US" altLang="zh-CN" sz="1800" b="1" i="0" u="none" strike="noStrike" kern="0" cap="none" spc="0" normalizeH="0" baseline="3000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rPr>
                <a:t>th</a:t>
              </a:r>
              <a:endParaRPr kumimoji="0" lang="zh-CN" altLang="en-US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364530" y="2060848"/>
            <a:ext cx="11513006" cy="4220755"/>
          </a:xfrm>
          <a:prstGeom prst="rect">
            <a:avLst/>
          </a:prstGeom>
          <a:solidFill>
            <a:schemeClr val="accent1">
              <a:lumMod val="100000"/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5033" y="6425619"/>
            <a:ext cx="27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accent1">
                    <a:lumMod val="100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惟真求新</a:t>
            </a:r>
            <a:endParaRPr lang="zh-CN" altLang="en-US" dirty="0">
              <a:solidFill>
                <a:schemeClr val="accent1">
                  <a:lumMod val="100000"/>
                </a:schemeClr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8125" y="1156970"/>
            <a:ext cx="7829550" cy="512445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93065" y="3864610"/>
            <a:ext cx="374459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在权威的</a:t>
            </a:r>
            <a:r>
              <a:rPr lang="en-US" altLang="zh-CN"/>
              <a:t>CEC2022</a:t>
            </a:r>
            <a:r>
              <a:rPr lang="zh-CN" altLang="en-US"/>
              <a:t>测试集上，</a:t>
            </a:r>
            <a:r>
              <a:rPr lang="en-US" altLang="zh-CN"/>
              <a:t>PPLO</a:t>
            </a:r>
            <a:r>
              <a:rPr lang="zh-CN" altLang="en-US"/>
              <a:t>无论是收敛速度、最终精度还是稳定性，都全面且显著地优于包括原始</a:t>
            </a:r>
            <a:r>
              <a:rPr lang="en-US" altLang="zh-CN"/>
              <a:t>PLO</a:t>
            </a:r>
            <a:r>
              <a:rPr lang="zh-CN" altLang="en-US"/>
              <a:t>在内的多种先进算法，验证了其改进策略的有效性。</a:t>
            </a:r>
            <a:endParaRPr lang="zh-CN" altLang="en-US"/>
          </a:p>
        </p:txBody>
      </p:sp>
    </p:spTree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35361" y="116633"/>
            <a:ext cx="11569986" cy="6681374"/>
            <a:chOff x="335361" y="116633"/>
            <a:chExt cx="11569986" cy="6681374"/>
          </a:xfrm>
        </p:grpSpPr>
        <p:grpSp>
          <p:nvGrpSpPr>
            <p:cNvPr id="3" name="组合 2"/>
            <p:cNvGrpSpPr/>
            <p:nvPr/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8" name="平行四边形 7"/>
              <p:cNvSpPr/>
              <p:nvPr/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chemeClr val="accent1">
                  <a:lumMod val="100000"/>
                </a:schemeClr>
              </a:solidFill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/>
              <p:cNvSpPr/>
              <p:nvPr/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4" name="直接连接符 3"/>
            <p:cNvCxnSpPr/>
            <p:nvPr/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chemeClr val="accent1">
                  <a:lumMod val="100000"/>
                </a:schemeClr>
              </a:solidFill>
              <a:prstDash val="solid"/>
            </a:ln>
            <a:effectLst/>
          </p:spPr>
        </p:cxnSp>
        <p:sp>
          <p:nvSpPr>
            <p:cNvPr id="5" name="文本占位符 5"/>
            <p:cNvSpPr txBox="1"/>
            <p:nvPr/>
          </p:nvSpPr>
          <p:spPr>
            <a:xfrm>
              <a:off x="1127206" y="194103"/>
              <a:ext cx="6715125" cy="6127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1" kern="1200">
                  <a:solidFill>
                    <a:srgbClr val="024282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lang="zh-CN" altLang="en-US" noProof="0" dirty="0">
                  <a:ln>
                    <a:noFill/>
                  </a:ln>
                  <a:solidFill>
                    <a:schemeClr val="accent1">
                      <a:lumMod val="100000"/>
                    </a:schemeClr>
                  </a:solidFill>
                  <a:effectLst/>
                  <a:uLnTx/>
                  <a:uFillTx/>
                  <a:sym typeface="+mn-ea"/>
                </a:rPr>
                <a:t>拉伸/压缩弹簧设计</a:t>
              </a:r>
              <a:endParaRPr lang="zh-CN" altLang="en-US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0805366" y="6428675"/>
              <a:ext cx="10999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rPr>
                <a:t>JUNE 12</a:t>
              </a:r>
              <a:r>
                <a:rPr kumimoji="0" lang="en-US" altLang="zh-CN" sz="1800" b="1" i="0" u="none" strike="noStrike" kern="0" cap="none" spc="0" normalizeH="0" baseline="3000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rPr>
                <a:t>th</a:t>
              </a:r>
              <a:endParaRPr kumimoji="0" lang="zh-CN" altLang="en-US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364530" y="2060848"/>
            <a:ext cx="11513006" cy="4220755"/>
          </a:xfrm>
          <a:prstGeom prst="rect">
            <a:avLst/>
          </a:prstGeom>
          <a:solidFill>
            <a:schemeClr val="accent1">
              <a:lumMod val="100000"/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38150" y="2204720"/>
            <a:ext cx="9427845" cy="5637530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目的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: 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验证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PPLO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解决实际复杂约束问题的能力。</a:t>
            </a:r>
            <a:endParaRPr lang="zh-CN" altLang="en-US" sz="1600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</a:endParaRPr>
          </a:p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五大经典问题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:</a:t>
            </a:r>
            <a:endParaRPr lang="en-US" altLang="zh-CN" sz="1600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</a:endParaRPr>
          </a:p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拉伸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/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压缩弹簧设计</a:t>
            </a:r>
            <a:endParaRPr lang="zh-CN" altLang="en-US" sz="1600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</a:endParaRPr>
          </a:p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减速器设计</a:t>
            </a:r>
            <a:endParaRPr lang="zh-CN" altLang="en-US" sz="1600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</a:endParaRPr>
          </a:p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行星齿轮系设计</a:t>
            </a:r>
            <a:endParaRPr lang="zh-CN" altLang="en-US" sz="1600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</a:endParaRPr>
          </a:p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多片离合器制动器设计</a:t>
            </a:r>
            <a:endParaRPr lang="zh-CN" altLang="en-US" sz="1600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</a:endParaRPr>
          </a:p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机器人夹爪设计</a:t>
            </a:r>
            <a:endParaRPr lang="zh-CN" altLang="en-US" sz="1600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</a:endParaRPr>
          </a:p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统一方法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: 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采用罚函数法处理约束，目标是最小化重量、误差或力波动等</a:t>
            </a:r>
            <a:endParaRPr lang="zh-CN" altLang="en-US" sz="1600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5033" y="6425619"/>
            <a:ext cx="27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accent1">
                    <a:lumMod val="100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惟真求新</a:t>
            </a:r>
            <a:endParaRPr lang="zh-CN" altLang="en-US" dirty="0">
              <a:solidFill>
                <a:schemeClr val="accent1">
                  <a:lumMod val="100000"/>
                </a:schemeClr>
              </a:solidFill>
            </a:endParaRPr>
          </a:p>
        </p:txBody>
      </p:sp>
    </p:spTree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35361" y="116633"/>
            <a:ext cx="11569986" cy="6681374"/>
            <a:chOff x="335361" y="116633"/>
            <a:chExt cx="11569986" cy="6681374"/>
          </a:xfrm>
        </p:grpSpPr>
        <p:grpSp>
          <p:nvGrpSpPr>
            <p:cNvPr id="3" name="组合 2"/>
            <p:cNvGrpSpPr/>
            <p:nvPr/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8" name="平行四边形 7"/>
              <p:cNvSpPr/>
              <p:nvPr/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chemeClr val="accent1">
                  <a:lumMod val="100000"/>
                </a:schemeClr>
              </a:solidFill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/>
              <p:cNvSpPr/>
              <p:nvPr/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4" name="直接连接符 3"/>
            <p:cNvCxnSpPr/>
            <p:nvPr/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chemeClr val="accent1">
                  <a:lumMod val="100000"/>
                </a:schemeClr>
              </a:solidFill>
              <a:prstDash val="solid"/>
            </a:ln>
            <a:effectLst/>
          </p:spPr>
        </p:cxnSp>
        <p:sp>
          <p:nvSpPr>
            <p:cNvPr id="5" name="文本占位符 5"/>
            <p:cNvSpPr txBox="1"/>
            <p:nvPr/>
          </p:nvSpPr>
          <p:spPr>
            <a:xfrm>
              <a:off x="1127448" y="193957"/>
              <a:ext cx="5040313" cy="6127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1" kern="1200">
                  <a:solidFill>
                    <a:srgbClr val="024282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100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 </a:t>
              </a:r>
              <a:r>
                <a:rPr lang="zh-CN" altLang="en-US" noProof="0" dirty="0">
                  <a:ln>
                    <a:noFill/>
                  </a:ln>
                  <a:solidFill>
                    <a:schemeClr val="accent1">
                      <a:lumMod val="100000"/>
                    </a:schemeClr>
                  </a:solidFill>
                  <a:effectLst/>
                  <a:uLnTx/>
                  <a:uFillTx/>
                  <a:sym typeface="+mn-ea"/>
                </a:rPr>
                <a:t>拉伸/压缩弹簧设计</a:t>
              </a:r>
              <a:endParaRPr lang="zh-CN" altLang="en-US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0805366" y="6428675"/>
              <a:ext cx="10999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rPr>
                <a:t>JUNE 12</a:t>
              </a:r>
              <a:r>
                <a:rPr kumimoji="0" lang="en-US" altLang="zh-CN" sz="1800" b="1" i="0" u="none" strike="noStrike" kern="0" cap="none" spc="0" normalizeH="0" baseline="3000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rPr>
                <a:t>th</a:t>
              </a:r>
              <a:endParaRPr kumimoji="0" lang="zh-CN" altLang="en-US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334645" y="819785"/>
            <a:ext cx="11543030" cy="5461635"/>
          </a:xfrm>
          <a:prstGeom prst="rect">
            <a:avLst/>
          </a:prstGeom>
          <a:solidFill>
            <a:schemeClr val="accent1">
              <a:lumMod val="100000"/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546600" y="806450"/>
            <a:ext cx="3823970" cy="4337050"/>
          </a:xfrm>
          <a:prstGeom prst="rect">
            <a:avLst/>
          </a:prstGeom>
          <a:noFill/>
        </p:spPr>
        <p:txBody>
          <a:bodyPr wrap="square" rtlCol="0">
            <a:normAutofit fontScale="90000"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弹簧在机械系统中的普适性，优化目标通常是减轻质量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/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成本且满足应力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/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频率约束。</a:t>
            </a:r>
            <a:endParaRPr lang="zh-CN" altLang="en-US" sz="1600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</a:endParaRPr>
          </a:p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约束：剪切应力、波动频率、几何尺寸等。</a:t>
            </a:r>
            <a:endParaRPr lang="zh-CN" altLang="en-US" sz="1600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</a:endParaRPr>
          </a:p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  <a:sym typeface="+mn-ea"/>
              </a:rPr>
              <a:t>𝑑：线径（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  <a:sym typeface="+mn-ea"/>
              </a:rPr>
              <a:t>wire diameter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  <a:sym typeface="+mn-ea"/>
              </a:rPr>
              <a:t>），直接影响弹簧体积与强度；</a:t>
            </a:r>
            <a:endParaRPr lang="en-US" altLang="zh-CN" sz="1600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  <a:sym typeface="+mn-ea"/>
            </a:endParaRPr>
          </a:p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  <a:sym typeface="+mn-ea"/>
              </a:rPr>
              <a:t>𝐷：平均圈径（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  <a:sym typeface="+mn-ea"/>
              </a:rPr>
              <a:t>mean coil diameter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  <a:sym typeface="+mn-ea"/>
              </a:rPr>
              <a:t>），影响刚度与应力；</a:t>
            </a:r>
            <a:endParaRPr lang="zh-CN" altLang="en-US" sz="1600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  <a:sym typeface="+mn-ea"/>
            </a:endParaRPr>
          </a:p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  <a:sym typeface="+mn-ea"/>
              </a:rPr>
              <a:t>𝑁：有效活圈数（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  <a:sym typeface="+mn-ea"/>
              </a:rPr>
              <a:t>active coils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  <a:sym typeface="+mn-ea"/>
              </a:rPr>
              <a:t>），影响自由长度与弹性刚度。</a:t>
            </a:r>
            <a:b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  <a:sym typeface="+mn-ea"/>
              </a:rPr>
            </a:b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  <a:sym typeface="+mn-ea"/>
              </a:rPr>
              <a:t>𝑓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  <a:sym typeface="+mn-ea"/>
              </a:rPr>
              <a:t>(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  <a:sym typeface="+mn-ea"/>
              </a:rPr>
              <a:t>𝑑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  <a:sym typeface="+mn-ea"/>
              </a:rPr>
              <a:t>,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  <a:sym typeface="+mn-ea"/>
              </a:rPr>
              <a:t>𝐷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  <a:sym typeface="+mn-ea"/>
              </a:rPr>
              <a:t>,  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  <a:sym typeface="+mn-ea"/>
              </a:rPr>
              <a:t>𝑁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  <a:sym typeface="+mn-ea"/>
              </a:rPr>
              <a:t>)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  <a:sym typeface="+mn-ea"/>
              </a:rPr>
              <a:t>表示质量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  <a:sym typeface="+mn-ea"/>
              </a:rPr>
              <a:t> / 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  <a:sym typeface="+mn-ea"/>
              </a:rPr>
              <a:t>用料量（或与质量成正比的目标），乘以常数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  <a:sym typeface="+mn-ea"/>
              </a:rPr>
              <a:t> 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  <a:sym typeface="+mn-ea"/>
              </a:rPr>
              <a:t>𝐾</a:t>
            </a:r>
            <a:endParaRPr lang="zh-CN" altLang="en-US" sz="1600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  <a:sym typeface="+mn-ea"/>
            </a:endParaRPr>
          </a:p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  <a:sym typeface="+mn-ea"/>
              </a:rPr>
              <a:t>（含密度、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  <a:sym typeface="+mn-ea"/>
              </a:rPr>
              <a:t>π 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  <a:sym typeface="+mn-ea"/>
              </a:rPr>
              <a:t>等常系数）。</a:t>
            </a:r>
            <a:endParaRPr lang="zh-CN" altLang="en-US" sz="1600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5033" y="6425619"/>
            <a:ext cx="27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accent1">
                    <a:lumMod val="100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惟真求新</a:t>
            </a:r>
            <a:endParaRPr lang="zh-CN" altLang="en-US" dirty="0">
              <a:solidFill>
                <a:schemeClr val="accent1">
                  <a:lumMod val="100000"/>
                </a:schemeClr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9170" y="806450"/>
            <a:ext cx="3257550" cy="35052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0570" y="4281170"/>
            <a:ext cx="3486150" cy="200025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665" y="4792980"/>
            <a:ext cx="5088255" cy="60579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334645" y="5287645"/>
            <a:ext cx="8222615" cy="9944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br>
              <a:rPr lang="zh-CN" altLang="en-US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  <a:sym typeface="+mn-ea"/>
              </a:rPr>
            </a:br>
            <a:r>
              <a:rPr lang="en-US" altLang="zh-CN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  <a:sym typeface="+mn-ea"/>
              </a:rPr>
              <a:t>PPLO</a:t>
            </a:r>
            <a:r>
              <a:rPr lang="zh-CN" altLang="en-US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  <a:sym typeface="+mn-ea"/>
              </a:rPr>
              <a:t>找到了最优重量，并在排名中位列第一。强调其解在满足所有约束的前提下，达到了理论上的最优值。</a:t>
            </a:r>
            <a:endParaRPr lang="zh-CN" altLang="en-US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</a:endParaRPr>
          </a:p>
          <a:p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645" y="807720"/>
            <a:ext cx="4257040" cy="2253615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35361" y="116633"/>
            <a:ext cx="11569986" cy="6681374"/>
            <a:chOff x="335361" y="116633"/>
            <a:chExt cx="11569986" cy="6681374"/>
          </a:xfrm>
        </p:grpSpPr>
        <p:grpSp>
          <p:nvGrpSpPr>
            <p:cNvPr id="3" name="组合 2"/>
            <p:cNvGrpSpPr/>
            <p:nvPr/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8" name="平行四边形 7"/>
              <p:cNvSpPr/>
              <p:nvPr/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chemeClr val="accent1">
                  <a:lumMod val="100000"/>
                </a:schemeClr>
              </a:solidFill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/>
              <p:cNvSpPr/>
              <p:nvPr/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4" name="直接连接符 3"/>
            <p:cNvCxnSpPr/>
            <p:nvPr/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chemeClr val="accent1">
                  <a:lumMod val="100000"/>
                </a:schemeClr>
              </a:solidFill>
              <a:prstDash val="solid"/>
            </a:ln>
            <a:effectLst/>
          </p:spPr>
        </p:cxnSp>
        <p:sp>
          <p:nvSpPr>
            <p:cNvPr id="5" name="文本占位符 5"/>
            <p:cNvSpPr txBox="1"/>
            <p:nvPr/>
          </p:nvSpPr>
          <p:spPr>
            <a:xfrm>
              <a:off x="1127206" y="194103"/>
              <a:ext cx="6715125" cy="6127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1" kern="1200">
                  <a:solidFill>
                    <a:srgbClr val="024282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100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减速器的设计</a:t>
              </a: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0805366" y="6428675"/>
              <a:ext cx="10999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rPr>
                <a:t>JUNE 12</a:t>
              </a:r>
              <a:r>
                <a:rPr kumimoji="0" lang="en-US" altLang="zh-CN" sz="1800" b="1" i="0" u="none" strike="noStrike" kern="0" cap="none" spc="0" normalizeH="0" baseline="3000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rPr>
                <a:t>th</a:t>
              </a:r>
              <a:endParaRPr kumimoji="0" lang="zh-CN" altLang="en-US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392430" y="808355"/>
            <a:ext cx="11485245" cy="5473065"/>
          </a:xfrm>
          <a:prstGeom prst="rect">
            <a:avLst/>
          </a:prstGeom>
          <a:solidFill>
            <a:schemeClr val="accent1">
              <a:lumMod val="100000"/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5033" y="6425619"/>
            <a:ext cx="27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accent1">
                    <a:lumMod val="100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惟真求新</a:t>
            </a:r>
            <a:endParaRPr lang="zh-CN" altLang="en-US" dirty="0">
              <a:solidFill>
                <a:schemeClr val="accent1">
                  <a:lumMod val="100000"/>
                </a:schemeClr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2430" y="812165"/>
            <a:ext cx="4196080" cy="28448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795" y="3969385"/>
            <a:ext cx="6869430" cy="65278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465" y="4706620"/>
            <a:ext cx="8264525" cy="28257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430" y="5165725"/>
            <a:ext cx="3734435" cy="42164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6865" y="5165725"/>
            <a:ext cx="6443980" cy="41783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8510" y="812165"/>
            <a:ext cx="2994660" cy="314960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1810" y="812165"/>
            <a:ext cx="3745865" cy="3155950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35361" y="116633"/>
            <a:ext cx="11569986" cy="6681374"/>
            <a:chOff x="335361" y="116633"/>
            <a:chExt cx="11569986" cy="6681374"/>
          </a:xfrm>
        </p:grpSpPr>
        <p:grpSp>
          <p:nvGrpSpPr>
            <p:cNvPr id="3" name="组合 2"/>
            <p:cNvGrpSpPr/>
            <p:nvPr/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8" name="平行四边形 7"/>
              <p:cNvSpPr/>
              <p:nvPr/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chemeClr val="accent1">
                  <a:lumMod val="100000"/>
                </a:schemeClr>
              </a:solidFill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/>
              <p:cNvSpPr/>
              <p:nvPr/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4" name="直接连接符 3"/>
            <p:cNvCxnSpPr/>
            <p:nvPr/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chemeClr val="accent1">
                  <a:lumMod val="100000"/>
                </a:schemeClr>
              </a:solidFill>
              <a:prstDash val="solid"/>
            </a:ln>
            <a:effectLst/>
          </p:spPr>
        </p:cxnSp>
        <p:sp>
          <p:nvSpPr>
            <p:cNvPr id="5" name="文本占位符 5"/>
            <p:cNvSpPr txBox="1"/>
            <p:nvPr/>
          </p:nvSpPr>
          <p:spPr>
            <a:xfrm>
              <a:off x="1127448" y="193957"/>
              <a:ext cx="5040313" cy="6127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1" kern="1200">
                  <a:solidFill>
                    <a:srgbClr val="024282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100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齿轮传动问题</a:t>
              </a: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100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 </a:t>
              </a:r>
              <a:endPara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0805366" y="6428675"/>
              <a:ext cx="10999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rPr>
                <a:t>JUNE 12</a:t>
              </a:r>
              <a:r>
                <a:rPr kumimoji="0" lang="en-US" altLang="zh-CN" sz="1800" b="1" i="0" u="none" strike="noStrike" kern="0" cap="none" spc="0" normalizeH="0" baseline="3000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rPr>
                <a:t>th</a:t>
              </a:r>
              <a:endParaRPr kumimoji="0" lang="zh-CN" altLang="en-US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364490" y="812165"/>
            <a:ext cx="11513185" cy="5469255"/>
          </a:xfrm>
          <a:prstGeom prst="rect">
            <a:avLst/>
          </a:prstGeom>
          <a:solidFill>
            <a:schemeClr val="accent1">
              <a:lumMod val="100000"/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64490" y="3973195"/>
            <a:ext cx="7473950" cy="3867150"/>
          </a:xfrm>
          <a:prstGeom prst="rect">
            <a:avLst/>
          </a:prstGeom>
          <a:noFill/>
        </p:spPr>
        <p:txBody>
          <a:bodyPr wrap="square" rtlCol="0">
            <a:normAutofit lnSpcReduction="20000"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目标：把实际传动比与目标比值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1/6.931 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的偏差平方作为目标，等价于最小化传动比误差，从而提高传动精度。平方形式对大偏差更敏感，便于优化算法朝更精确的解收敛</a:t>
            </a:r>
            <a:endParaRPr lang="zh-CN" altLang="en-US" sz="1600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</a:endParaRPr>
          </a:p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约束：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11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个几何兼容性和装配约束。</a:t>
            </a:r>
            <a:endParaRPr lang="en-US" altLang="zh-CN" sz="1600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</a:endParaRPr>
          </a:p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PPLO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成功找到了满足所有复杂装配约束的齿数组合，并将传动比误差降至最低，排名第一。</a:t>
            </a:r>
            <a:endParaRPr lang="zh-CN" altLang="en-US" sz="1600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5033" y="6425619"/>
            <a:ext cx="27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accent1">
                    <a:lumMod val="100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惟真求新</a:t>
            </a:r>
            <a:endParaRPr lang="zh-CN" altLang="en-US" dirty="0">
              <a:solidFill>
                <a:schemeClr val="accent1">
                  <a:lumMod val="100000"/>
                </a:schemeClr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280" y="806450"/>
            <a:ext cx="4426585" cy="196469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0935" y="633730"/>
            <a:ext cx="3154680" cy="333629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9075" y="3970020"/>
            <a:ext cx="4038600" cy="23241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315" y="2884170"/>
            <a:ext cx="3613150" cy="5334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665" y="3444875"/>
            <a:ext cx="5285740" cy="275590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35361" y="116633"/>
            <a:ext cx="11569986" cy="6681374"/>
            <a:chOff x="335361" y="116633"/>
            <a:chExt cx="11569986" cy="6681374"/>
          </a:xfrm>
        </p:grpSpPr>
        <p:grpSp>
          <p:nvGrpSpPr>
            <p:cNvPr id="3" name="组合 2"/>
            <p:cNvGrpSpPr/>
            <p:nvPr/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8" name="平行四边形 7"/>
              <p:cNvSpPr/>
              <p:nvPr/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chemeClr val="accent1">
                  <a:lumMod val="100000"/>
                </a:schemeClr>
              </a:solidFill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/>
              <p:cNvSpPr/>
              <p:nvPr/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4" name="直接连接符 3"/>
            <p:cNvCxnSpPr/>
            <p:nvPr/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chemeClr val="accent1">
                  <a:lumMod val="100000"/>
                </a:schemeClr>
              </a:solidFill>
              <a:prstDash val="solid"/>
            </a:ln>
            <a:effectLst/>
          </p:spPr>
        </p:cxnSp>
        <p:sp>
          <p:nvSpPr>
            <p:cNvPr id="5" name="文本占位符 5"/>
            <p:cNvSpPr txBox="1"/>
            <p:nvPr/>
          </p:nvSpPr>
          <p:spPr>
            <a:xfrm>
              <a:off x="1127448" y="193957"/>
              <a:ext cx="5040313" cy="6127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1" kern="1200">
                  <a:solidFill>
                    <a:srgbClr val="024282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100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多盘离合器制动器设计</a:t>
              </a: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100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 </a:t>
              </a:r>
              <a:endPara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0805366" y="6428675"/>
              <a:ext cx="10999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rPr>
                <a:t>JUNE 12</a:t>
              </a:r>
              <a:r>
                <a:rPr kumimoji="0" lang="en-US" altLang="zh-CN" sz="1800" b="1" i="0" u="none" strike="noStrike" kern="0" cap="none" spc="0" normalizeH="0" baseline="3000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rPr>
                <a:t>th</a:t>
              </a:r>
              <a:endParaRPr kumimoji="0" lang="zh-CN" altLang="en-US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364490" y="802640"/>
            <a:ext cx="11513185" cy="5478780"/>
          </a:xfrm>
          <a:prstGeom prst="rect">
            <a:avLst/>
          </a:prstGeom>
          <a:solidFill>
            <a:schemeClr val="accent1">
              <a:lumMod val="100000"/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92100" y="4050030"/>
            <a:ext cx="8049260" cy="3004185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目标：最小化制动器质量。</a:t>
            </a:r>
            <a:endParaRPr lang="zh-CN" altLang="en-US" sz="1600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</a:endParaRPr>
          </a:p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设计变量：内、外半径，摩擦面数，致动力，膜片弹簧刚度（部分为整数）。</a:t>
            </a:r>
            <a:endParaRPr lang="zh-CN" altLang="en-US" sz="1600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</a:endParaRPr>
          </a:p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约束：扭矩容量、动作力、滑动速度、几何尺寸等。</a:t>
            </a:r>
            <a:endParaRPr lang="en-US" altLang="zh-CN" sz="1600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</a:endParaRPr>
          </a:p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结果：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PPLO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在满足所有苛刻的机械约束下，找到了质量最轻的设计方案。</a:t>
            </a:r>
            <a:endParaRPr lang="zh-CN" altLang="en-US" sz="1600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5033" y="6425619"/>
            <a:ext cx="27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accent1">
                    <a:lumMod val="100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惟真求新</a:t>
            </a:r>
            <a:endParaRPr lang="zh-CN" altLang="en-US" dirty="0">
              <a:solidFill>
                <a:schemeClr val="accent1">
                  <a:lumMod val="100000"/>
                </a:schemeClr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9210" y="802640"/>
            <a:ext cx="5526405" cy="270446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65" y="826770"/>
            <a:ext cx="4039235" cy="268541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490" y="3515995"/>
            <a:ext cx="4094480" cy="52832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8805" y="3775710"/>
            <a:ext cx="7447915" cy="274320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35361" y="116633"/>
            <a:ext cx="11569986" cy="6681374"/>
            <a:chOff x="335361" y="116633"/>
            <a:chExt cx="11569986" cy="6681374"/>
          </a:xfrm>
        </p:grpSpPr>
        <p:grpSp>
          <p:nvGrpSpPr>
            <p:cNvPr id="3" name="组合 2"/>
            <p:cNvGrpSpPr/>
            <p:nvPr/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8" name="平行四边形 7"/>
              <p:cNvSpPr/>
              <p:nvPr/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chemeClr val="accent1">
                  <a:lumMod val="100000"/>
                </a:schemeClr>
              </a:solidFill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/>
              <p:cNvSpPr/>
              <p:nvPr/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4" name="直接连接符 3"/>
            <p:cNvCxnSpPr/>
            <p:nvPr/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chemeClr val="accent1">
                  <a:lumMod val="100000"/>
                </a:schemeClr>
              </a:solidFill>
              <a:prstDash val="solid"/>
            </a:ln>
            <a:effectLst/>
          </p:spPr>
        </p:cxnSp>
        <p:sp>
          <p:nvSpPr>
            <p:cNvPr id="5" name="文本占位符 5"/>
            <p:cNvSpPr txBox="1"/>
            <p:nvPr/>
          </p:nvSpPr>
          <p:spPr>
            <a:xfrm>
              <a:off x="1127206" y="194103"/>
              <a:ext cx="7635240" cy="6127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1" kern="1200">
                  <a:solidFill>
                    <a:srgbClr val="024282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lang="zh-CN" altLang="en-US" noProof="0" dirty="0">
                  <a:ln>
                    <a:noFill/>
                  </a:ln>
                  <a:solidFill>
                    <a:schemeClr val="accent1">
                      <a:lumMod val="100000"/>
                    </a:schemeClr>
                  </a:solidFill>
                  <a:effectLst/>
                  <a:uLnTx/>
                  <a:uFillTx/>
                </a:rPr>
                <a:t>行星轮系设计优化问题</a:t>
              </a:r>
              <a:endParaRPr lang="zh-CN" altLang="en-US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0805366" y="6428675"/>
              <a:ext cx="10999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rPr>
                <a:t>JUNE 12</a:t>
              </a:r>
              <a:r>
                <a:rPr kumimoji="0" lang="en-US" altLang="zh-CN" sz="1800" b="1" i="0" u="none" strike="noStrike" kern="0" cap="none" spc="0" normalizeH="0" baseline="3000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rPr>
                <a:t>th</a:t>
              </a:r>
              <a:endParaRPr kumimoji="0" lang="zh-CN" altLang="en-US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364490" y="807085"/>
            <a:ext cx="11513185" cy="5474335"/>
          </a:xfrm>
          <a:prstGeom prst="rect">
            <a:avLst/>
          </a:prstGeom>
          <a:solidFill>
            <a:schemeClr val="accent1">
              <a:lumMod val="100000"/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64490" y="4205605"/>
            <a:ext cx="7602855" cy="2345055"/>
          </a:xfrm>
          <a:prstGeom prst="rect">
            <a:avLst/>
          </a:prstGeom>
          <a:noFill/>
        </p:spPr>
        <p:txBody>
          <a:bodyPr wrap="square" rtlCol="0">
            <a:normAutofit lnSpcReduction="20000"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目标：最小化在最大行程范围内夹持力的波动（最大值与最小值之差）。</a:t>
            </a:r>
            <a:endParaRPr lang="en-US" altLang="zh-CN" sz="1600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</a:endParaRPr>
          </a:p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设计变量：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7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个几何参数，包括连杆长度、偏移量等。</a:t>
            </a:r>
            <a:endParaRPr lang="zh-CN" altLang="en-US" sz="1600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</a:endParaRPr>
          </a:p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约束：最小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/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最大夹持力、运动学链闭合、几何兼容性。</a:t>
            </a:r>
            <a:endParaRPr lang="en-US" altLang="zh-CN" sz="1600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</a:endParaRPr>
          </a:p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结果：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PPLO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优化出的夹爪设计，能够在整个抓取过程中提供最稳定的夹持力，这对于精密操作至关重要。</a:t>
            </a:r>
            <a:endParaRPr lang="zh-CN" altLang="en-US" sz="1600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5033" y="6425619"/>
            <a:ext cx="27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accent1">
                    <a:lumMod val="100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惟真求新</a:t>
            </a:r>
            <a:endParaRPr lang="zh-CN" altLang="en-US" dirty="0">
              <a:solidFill>
                <a:schemeClr val="accent1">
                  <a:lumMod val="100000"/>
                </a:schemeClr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665" y="807085"/>
            <a:ext cx="3181350" cy="283845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4420" y="807085"/>
            <a:ext cx="3162300" cy="33909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8670" y="4197985"/>
            <a:ext cx="3448050" cy="215265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490" y="3645535"/>
            <a:ext cx="7132320" cy="25781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9015" y="1818005"/>
            <a:ext cx="4953635" cy="29337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3150" y="2571750"/>
            <a:ext cx="4652010" cy="612775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35361" y="116633"/>
            <a:ext cx="11569986" cy="6681374"/>
            <a:chOff x="335361" y="116633"/>
            <a:chExt cx="11569986" cy="6681374"/>
          </a:xfrm>
        </p:grpSpPr>
        <p:grpSp>
          <p:nvGrpSpPr>
            <p:cNvPr id="3" name="组合 2"/>
            <p:cNvGrpSpPr/>
            <p:nvPr/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8" name="平行四边形 7"/>
              <p:cNvSpPr/>
              <p:nvPr/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chemeClr val="accent1">
                  <a:lumMod val="100000"/>
                </a:schemeClr>
              </a:solidFill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/>
              <p:cNvSpPr/>
              <p:nvPr/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4" name="直接连接符 3"/>
            <p:cNvCxnSpPr/>
            <p:nvPr/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chemeClr val="accent1">
                  <a:lumMod val="100000"/>
                </a:schemeClr>
              </a:solidFill>
              <a:prstDash val="solid"/>
            </a:ln>
            <a:effectLst/>
          </p:spPr>
        </p:cxnSp>
        <p:sp>
          <p:nvSpPr>
            <p:cNvPr id="5" name="文本占位符 5"/>
            <p:cNvSpPr txBox="1"/>
            <p:nvPr/>
          </p:nvSpPr>
          <p:spPr>
            <a:xfrm>
              <a:off x="1127448" y="193957"/>
              <a:ext cx="5040313" cy="6127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0000"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1" kern="1200">
                  <a:solidFill>
                    <a:srgbClr val="024282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100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机器人夹持器设计优化问题</a:t>
              </a: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100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 </a:t>
              </a:r>
              <a:endPara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0805366" y="6428675"/>
              <a:ext cx="10999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rPr>
                <a:t>JUNE 12</a:t>
              </a:r>
              <a:r>
                <a:rPr kumimoji="0" lang="en-US" altLang="zh-CN" sz="1800" b="1" i="0" u="none" strike="noStrike" kern="0" cap="none" spc="0" normalizeH="0" baseline="3000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rPr>
                <a:t>th</a:t>
              </a:r>
              <a:endParaRPr kumimoji="0" lang="zh-CN" altLang="en-US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364490" y="808355"/>
            <a:ext cx="11513185" cy="5473065"/>
          </a:xfrm>
          <a:prstGeom prst="rect">
            <a:avLst/>
          </a:prstGeom>
          <a:solidFill>
            <a:schemeClr val="accent1">
              <a:lumMod val="100000"/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35280" y="3797935"/>
            <a:ext cx="4843145" cy="2483485"/>
          </a:xfrm>
          <a:prstGeom prst="rect">
            <a:avLst/>
          </a:prstGeom>
          <a:noFill/>
        </p:spPr>
        <p:txBody>
          <a:bodyPr wrap="square" rtlCol="0">
            <a:normAutofit lnSpcReduction="20000"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F(z)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：夹持力随行程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 z 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的函数（由几何、摩擦系数、材料特性等决定）；设计变量为夹具几何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/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连杆长度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/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弹簧力等。目的是减小夹持力在整个工作行程上的波动，以保证稳定抓取与可重复性。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约束：齿面接触应力、齿根弯曲应力、轴挠度、轴应力等。</a:t>
            </a:r>
            <a:endParaRPr lang="en-US" altLang="zh-CN" sz="1600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</a:endParaRPr>
          </a:p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PPLO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再次获得最低成本和排名第一。其解向量中的所有参数都落在合理范围内，证明了其处理多变量、多约束问题的能力。</a:t>
            </a:r>
            <a:endParaRPr lang="zh-CN" altLang="en-US" sz="1600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5033" y="6425619"/>
            <a:ext cx="27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accent1">
                    <a:lumMod val="100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惟真求新</a:t>
            </a:r>
            <a:endParaRPr lang="zh-CN" altLang="en-US" dirty="0">
              <a:solidFill>
                <a:schemeClr val="accent1">
                  <a:lumMod val="100000"/>
                </a:schemeClr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6515" y="3153410"/>
            <a:ext cx="3064510" cy="312801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3225" y="3176270"/>
            <a:ext cx="3486150" cy="310515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490" y="812800"/>
            <a:ext cx="3429000" cy="18669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2010" y="944880"/>
            <a:ext cx="5149215" cy="1619250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35361" y="116633"/>
            <a:ext cx="11569986" cy="6681374"/>
            <a:chOff x="335361" y="116633"/>
            <a:chExt cx="11569986" cy="6681374"/>
          </a:xfrm>
        </p:grpSpPr>
        <p:grpSp>
          <p:nvGrpSpPr>
            <p:cNvPr id="3" name="组合 2"/>
            <p:cNvGrpSpPr/>
            <p:nvPr/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8" name="平行四边形 7"/>
              <p:cNvSpPr/>
              <p:nvPr/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chemeClr val="accent1">
                  <a:lumMod val="100000"/>
                </a:schemeClr>
              </a:solidFill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/>
              <p:cNvSpPr/>
              <p:nvPr/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4" name="直接连接符 3"/>
            <p:cNvCxnSpPr/>
            <p:nvPr/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chemeClr val="accent1">
                  <a:lumMod val="100000"/>
                </a:schemeClr>
              </a:solidFill>
              <a:prstDash val="solid"/>
            </a:ln>
            <a:effectLst/>
          </p:spPr>
        </p:cxnSp>
        <p:sp>
          <p:nvSpPr>
            <p:cNvPr id="5" name="文本占位符 5"/>
            <p:cNvSpPr txBox="1"/>
            <p:nvPr/>
          </p:nvSpPr>
          <p:spPr>
            <a:xfrm>
              <a:off x="1127206" y="194103"/>
              <a:ext cx="6715125" cy="6127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1" kern="1200">
                  <a:solidFill>
                    <a:srgbClr val="024282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100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多</a:t>
              </a: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100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 UAV </a:t>
              </a: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100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路径规划</a:t>
              </a: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0805366" y="6428675"/>
              <a:ext cx="10999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rPr>
                <a:t>JUNE 12</a:t>
              </a:r>
              <a:r>
                <a:rPr kumimoji="0" lang="en-US" altLang="zh-CN" sz="1800" b="1" i="0" u="none" strike="noStrike" kern="0" cap="none" spc="0" normalizeH="0" baseline="3000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rPr>
                <a:t>th</a:t>
              </a:r>
              <a:endParaRPr kumimoji="0" lang="zh-CN" altLang="en-US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364490" y="808355"/>
            <a:ext cx="11513185" cy="5473065"/>
          </a:xfrm>
          <a:prstGeom prst="rect">
            <a:avLst/>
          </a:prstGeom>
          <a:solidFill>
            <a:schemeClr val="accent1">
              <a:lumMod val="100000"/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64490" y="807085"/>
            <a:ext cx="11513820" cy="5485130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多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 U</a:t>
            </a:r>
            <a:r>
              <a:rPr lang="en-US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﻿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AV 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场景要求在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 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动态威胁区域（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moving threats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）中完成多条任务航线，目标是同时满足安全（不碰撞威胁区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/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无人机互撞）、路径质量（长度、平滑度）与任务完成时间（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makespan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）最小化。论文提出一个五模块框架：威胁建模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 </a:t>
            </a:r>
            <a:r>
              <a:rPr lang="en-US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→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 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路径生成（离散图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 + Dijkstra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）</a:t>
            </a:r>
            <a:r>
              <a:rPr lang="en-US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→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 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连续轨迹（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B-spline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）</a:t>
            </a:r>
            <a:r>
              <a:rPr lang="en-US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→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 PPLO 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优化轨迹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 </a:t>
            </a:r>
            <a:r>
              <a:rPr lang="en-US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→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 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起飞延迟调度（避免队列冲突），并在实地地形（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Xiaozhu Mountain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）仿真验证。</a:t>
            </a:r>
            <a:endParaRPr lang="zh-CN" altLang="en-US" sz="1600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</a:endParaRPr>
          </a:p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endParaRPr lang="zh-CN" altLang="en-US" sz="1600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</a:endParaRPr>
          </a:p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endParaRPr lang="zh-CN" altLang="en-US" sz="1600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</a:endParaRPr>
          </a:p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endParaRPr lang="zh-CN" altLang="en-US" sz="1600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</a:endParaRPr>
          </a:p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1.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传感器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/CSV 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读取点云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 </a:t>
            </a:r>
            <a:r>
              <a:rPr lang="en-US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→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 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用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 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改进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 DBSCAN 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提取威胁簇（得到若干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 threat zones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）。</a:t>
            </a:r>
            <a:endParaRPr lang="zh-CN" altLang="en-US" sz="1600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</a:endParaRPr>
          </a:p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endParaRPr lang="en-US" altLang="zh-CN" sz="1600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</a:endParaRPr>
          </a:p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2.</a:t>
            </a:r>
            <a:endParaRPr lang="en-US" altLang="zh-CN" sz="1600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5033" y="6425619"/>
            <a:ext cx="27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accent1">
                    <a:lumMod val="100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惟真求新</a:t>
            </a:r>
            <a:endParaRPr lang="zh-CN" altLang="en-US" dirty="0">
              <a:solidFill>
                <a:schemeClr val="accent1">
                  <a:lumMod val="100000"/>
                </a:schemeClr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860" y="3942715"/>
            <a:ext cx="6209030" cy="37020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5950" y="4553585"/>
            <a:ext cx="3518535" cy="47117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4485" y="4553585"/>
            <a:ext cx="5182235" cy="47117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855980" y="4620895"/>
            <a:ext cx="204406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/>
              <a:t>威胁（</a:t>
            </a:r>
            <a:r>
              <a:rPr lang="en-US" altLang="zh-CN" sz="1600"/>
              <a:t>Threat</a:t>
            </a:r>
            <a:r>
              <a:rPr lang="zh-CN" altLang="en-US" sz="1600"/>
              <a:t>）表示：</a:t>
            </a:r>
            <a:endParaRPr lang="zh-CN" altLang="en-US" sz="1600"/>
          </a:p>
        </p:txBody>
      </p:sp>
      <p:sp>
        <p:nvSpPr>
          <p:cNvPr id="15" name="文本框 14"/>
          <p:cNvSpPr txBox="1"/>
          <p:nvPr/>
        </p:nvSpPr>
        <p:spPr>
          <a:xfrm>
            <a:off x="908685" y="5319395"/>
            <a:ext cx="253301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/>
              <a:t>威胁运动模型（离散时间）</a:t>
            </a:r>
            <a:endParaRPr lang="zh-CN" altLang="en-US" sz="1600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3925" y="5264785"/>
            <a:ext cx="3301365" cy="401955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35361" y="116633"/>
            <a:ext cx="11569986" cy="6681374"/>
            <a:chOff x="335361" y="116633"/>
            <a:chExt cx="11569986" cy="6681374"/>
          </a:xfrm>
        </p:grpSpPr>
        <p:grpSp>
          <p:nvGrpSpPr>
            <p:cNvPr id="3" name="组合 2"/>
            <p:cNvGrpSpPr/>
            <p:nvPr/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8" name="平行四边形 7"/>
              <p:cNvSpPr/>
              <p:nvPr/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chemeClr val="accent1">
                  <a:lumMod val="100000"/>
                </a:schemeClr>
              </a:solidFill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/>
              <p:cNvSpPr/>
              <p:nvPr/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4" name="直接连接符 3"/>
            <p:cNvCxnSpPr/>
            <p:nvPr/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chemeClr val="accent1">
                  <a:lumMod val="100000"/>
                </a:schemeClr>
              </a:solidFill>
              <a:prstDash val="solid"/>
            </a:ln>
            <a:effectLst/>
          </p:spPr>
        </p:cxnSp>
        <p:sp>
          <p:nvSpPr>
            <p:cNvPr id="5" name="文本占位符 5"/>
            <p:cNvSpPr txBox="1"/>
            <p:nvPr/>
          </p:nvSpPr>
          <p:spPr>
            <a:xfrm>
              <a:off x="1127206" y="194103"/>
              <a:ext cx="6715125" cy="6127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1" kern="1200">
                  <a:solidFill>
                    <a:srgbClr val="024282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lang="zh-CN" altLang="en-US" noProof="0" dirty="0">
                  <a:ln>
                    <a:noFill/>
                  </a:ln>
                  <a:solidFill>
                    <a:schemeClr val="accent1">
                      <a:lumMod val="100000"/>
                    </a:schemeClr>
                  </a:solidFill>
                  <a:effectLst/>
                  <a:uLnTx/>
                  <a:uFillTx/>
                  <a:sym typeface="+mn-ea"/>
                </a:rPr>
                <a:t>多</a:t>
              </a:r>
              <a:r>
                <a:rPr lang="en-US" altLang="zh-CN" noProof="0" dirty="0">
                  <a:ln>
                    <a:noFill/>
                  </a:ln>
                  <a:solidFill>
                    <a:schemeClr val="accent1">
                      <a:lumMod val="100000"/>
                    </a:schemeClr>
                  </a:solidFill>
                  <a:effectLst/>
                  <a:uLnTx/>
                  <a:uFillTx/>
                  <a:sym typeface="+mn-ea"/>
                </a:rPr>
                <a:t> UAV </a:t>
              </a:r>
              <a:r>
                <a:rPr lang="zh-CN" altLang="en-US" noProof="0" dirty="0">
                  <a:ln>
                    <a:noFill/>
                  </a:ln>
                  <a:solidFill>
                    <a:schemeClr val="accent1">
                      <a:lumMod val="100000"/>
                    </a:schemeClr>
                  </a:solidFill>
                  <a:effectLst/>
                  <a:uLnTx/>
                  <a:uFillTx/>
                  <a:sym typeface="+mn-ea"/>
                </a:rPr>
                <a:t>路径规划</a:t>
              </a: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0805366" y="6428675"/>
              <a:ext cx="10999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rPr>
                <a:t>JUNE 12</a:t>
              </a:r>
              <a:r>
                <a:rPr kumimoji="0" lang="en-US" altLang="zh-CN" sz="1800" b="1" i="0" u="none" strike="noStrike" kern="0" cap="none" spc="0" normalizeH="0" baseline="3000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rPr>
                <a:t>th</a:t>
              </a:r>
              <a:endParaRPr kumimoji="0" lang="zh-CN" altLang="en-US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364490" y="802640"/>
            <a:ext cx="11513185" cy="5478780"/>
          </a:xfrm>
          <a:prstGeom prst="rect">
            <a:avLst/>
          </a:prstGeom>
          <a:solidFill>
            <a:schemeClr val="accent1">
              <a:lumMod val="100000"/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5033" y="6425619"/>
            <a:ext cx="27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accent1">
                    <a:lumMod val="100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惟真求新</a:t>
            </a:r>
            <a:endParaRPr lang="zh-CN" altLang="en-US" dirty="0">
              <a:solidFill>
                <a:schemeClr val="accent1">
                  <a:lumMod val="100000"/>
                </a:schemeClr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92430" y="889635"/>
            <a:ext cx="11512550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/>
              <a:t>3.</a:t>
            </a:r>
            <a:r>
              <a:rPr lang="zh-CN" altLang="en-US" sz="1600"/>
              <a:t>对每个威胁边界采样 </a:t>
            </a:r>
            <a:r>
              <a:rPr lang="en-US" altLang="zh-CN" sz="1600"/>
              <a:t>L </a:t>
            </a:r>
            <a:r>
              <a:rPr lang="zh-CN" altLang="en-US" sz="1600"/>
              <a:t>个切点，构造节点集 </a:t>
            </a:r>
            <a:r>
              <a:rPr lang="en-US" altLang="zh-CN" sz="1600"/>
              <a:t>V</a:t>
            </a:r>
            <a:r>
              <a:rPr lang="zh-CN" altLang="en-US" sz="1600"/>
              <a:t>与可行边集 </a:t>
            </a:r>
            <a:r>
              <a:rPr lang="en-US" altLang="zh-CN" sz="1600"/>
              <a:t>E</a:t>
            </a:r>
            <a:r>
              <a:rPr lang="zh-CN" altLang="en-US" sz="1600"/>
              <a:t>，建立无向带权图 </a:t>
            </a:r>
            <a:r>
              <a:rPr lang="en-US" altLang="zh-CN" sz="1600"/>
              <a:t>G=(V,E,W)</a:t>
            </a:r>
            <a:r>
              <a:rPr lang="zh-CN" altLang="en-US" sz="1600"/>
              <a:t>，权重为欧氏距离。</a:t>
            </a:r>
            <a:endParaRPr lang="zh-CN" altLang="en-US" sz="160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5615" y="1518285"/>
            <a:ext cx="2506345" cy="46418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908685" y="1581785"/>
            <a:ext cx="876300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/>
              <a:t>节点集</a:t>
            </a:r>
            <a:endParaRPr lang="zh-CN" altLang="en-US" sz="160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640" y="1518285"/>
            <a:ext cx="2447925" cy="40132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4310380" y="1581785"/>
            <a:ext cx="1191260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/>
              <a:t>，边权重</a:t>
            </a:r>
            <a:endParaRPr lang="zh-CN" altLang="en-US" sz="1600"/>
          </a:p>
        </p:txBody>
      </p:sp>
      <p:sp>
        <p:nvSpPr>
          <p:cNvPr id="17" name="文本框 16"/>
          <p:cNvSpPr txBox="1"/>
          <p:nvPr/>
        </p:nvSpPr>
        <p:spPr>
          <a:xfrm>
            <a:off x="908685" y="2172970"/>
            <a:ext cx="446214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/>
              <a:t>边</a:t>
            </a:r>
            <a:r>
              <a:rPr lang="en-US" altLang="zh-CN" sz="1600"/>
              <a:t>(u,v) </a:t>
            </a:r>
            <a:r>
              <a:rPr lang="zh-CN" altLang="en-US" sz="1600"/>
              <a:t>仅在线段 </a:t>
            </a:r>
            <a:r>
              <a:rPr lang="en-US" altLang="zh-CN" sz="1600"/>
              <a:t>uv</a:t>
            </a:r>
            <a:r>
              <a:rPr lang="zh-CN" altLang="en-US" sz="1600"/>
              <a:t>与任一威胁不相交时被加入。</a:t>
            </a:r>
            <a:endParaRPr lang="zh-CN" altLang="en-US" sz="1600"/>
          </a:p>
        </p:txBody>
      </p:sp>
      <p:sp>
        <p:nvSpPr>
          <p:cNvPr id="18" name="文本框 17"/>
          <p:cNvSpPr txBox="1"/>
          <p:nvPr/>
        </p:nvSpPr>
        <p:spPr>
          <a:xfrm>
            <a:off x="451485" y="2630805"/>
            <a:ext cx="854773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/>
              <a:t>4.</a:t>
            </a:r>
            <a:r>
              <a:rPr lang="zh-CN" altLang="en-US" sz="1600"/>
              <a:t>对图执行 </a:t>
            </a:r>
            <a:r>
              <a:rPr lang="en-US" altLang="zh-CN" sz="1600"/>
              <a:t>Dijkstra</a:t>
            </a:r>
            <a:r>
              <a:rPr lang="zh-CN" altLang="en-US" sz="1600"/>
              <a:t>（或 </a:t>
            </a:r>
            <a:r>
              <a:rPr lang="en-US" altLang="zh-CN" sz="1600"/>
              <a:t>A*</a:t>
            </a:r>
            <a:r>
              <a:rPr lang="zh-CN" altLang="en-US" sz="1600"/>
              <a:t>） 获取离散可行路径</a:t>
            </a:r>
            <a:r>
              <a:rPr lang="en-US" altLang="zh-CN" sz="1600"/>
              <a:t>Pdisc​</a:t>
            </a:r>
            <a:r>
              <a:rPr lang="zh-CN" altLang="en-US" sz="1600"/>
              <a:t>。</a:t>
            </a:r>
            <a:endParaRPr lang="zh-CN" altLang="en-US" sz="1600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4195" y="2630805"/>
            <a:ext cx="2687320" cy="36957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502285" y="4996180"/>
            <a:ext cx="1087310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/>
              <a:t>其中 </a:t>
            </a:r>
            <a:r>
              <a:rPr lang="en-US" altLang="zh-CN" sz="1600"/>
              <a:t>L(⋅)</a:t>
            </a:r>
            <a:r>
              <a:rPr lang="zh-CN" altLang="en-US" sz="1600"/>
              <a:t>路径长度函数，</a:t>
            </a:r>
            <a:r>
              <a:rPr lang="en-US" altLang="zh-CN" sz="1600"/>
              <a:t>S(⋅)</a:t>
            </a:r>
            <a:r>
              <a:rPr lang="zh-CN" altLang="en-US" sz="1600"/>
              <a:t>平滑</a:t>
            </a:r>
            <a:r>
              <a:rPr lang="en-US" altLang="zh-CN" sz="1600"/>
              <a:t>/</a:t>
            </a:r>
            <a:r>
              <a:rPr lang="zh-CN" altLang="en-US" sz="1600"/>
              <a:t>曲率惩罚，</a:t>
            </a:r>
            <a:r>
              <a:rPr lang="en-US" altLang="zh-CN" sz="1600"/>
              <a:t>Psafe(⋅) </a:t>
            </a:r>
            <a:r>
              <a:rPr lang="zh-CN" altLang="en-US" sz="1600"/>
              <a:t>与威胁距离相关的安全惩罚。</a:t>
            </a:r>
            <a:endParaRPr lang="zh-CN" altLang="en-US" sz="1600"/>
          </a:p>
        </p:txBody>
      </p:sp>
      <p:sp>
        <p:nvSpPr>
          <p:cNvPr id="21" name="文本框 20"/>
          <p:cNvSpPr txBox="1"/>
          <p:nvPr/>
        </p:nvSpPr>
        <p:spPr>
          <a:xfrm>
            <a:off x="502285" y="3089275"/>
            <a:ext cx="8170545" cy="451485"/>
          </a:xfrm>
          <a:prstGeom prst="rect">
            <a:avLst/>
          </a:prstGeom>
        </p:spPr>
        <p:txBody>
          <a:bodyPr>
            <a:noAutofit/>
          </a:bodyPr>
          <a:p>
            <a:r>
              <a:rPr lang="en-US" altLang="zh-CN" sz="1600"/>
              <a:t>5.</a:t>
            </a:r>
            <a:r>
              <a:rPr lang="zh-CN" altLang="en-US" sz="1600"/>
              <a:t>用 </a:t>
            </a:r>
            <a:r>
              <a:rPr lang="en-US" altLang="zh-CN" sz="1600"/>
              <a:t>B-spline </a:t>
            </a:r>
            <a:r>
              <a:rPr lang="zh-CN" altLang="en-US" sz="1600"/>
              <a:t>对路径插值得到连续轨迹</a:t>
            </a:r>
            <a:r>
              <a:rPr lang="en-US" altLang="zh-CN" sz="1600"/>
              <a:t>P(t)</a:t>
            </a:r>
            <a:r>
              <a:rPr lang="zh-CN" altLang="en-US" sz="1600"/>
              <a:t>，并将轨迹离散为每 </a:t>
            </a:r>
            <a:r>
              <a:rPr lang="en-US" altLang="zh-CN" sz="1600"/>
              <a:t>UAV </a:t>
            </a:r>
            <a:r>
              <a:rPr lang="zh-CN" altLang="en-US" sz="1600"/>
              <a:t>的航路点矩阵 </a:t>
            </a:r>
            <a:r>
              <a:rPr lang="en-US" altLang="zh-CN" sz="1600"/>
              <a:t>Xi​</a:t>
            </a:r>
            <a:r>
              <a:rPr lang="zh-CN" altLang="en-US" sz="1600"/>
              <a:t>。</a:t>
            </a:r>
            <a:endParaRPr lang="zh-CN" altLang="en-US" sz="1600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285" y="4371975"/>
            <a:ext cx="7178040" cy="506730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451485" y="3626485"/>
            <a:ext cx="11512550" cy="5835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/>
              <a:t>6.</a:t>
            </a:r>
            <a:r>
              <a:rPr lang="zh-CN" altLang="en-US" sz="1600"/>
              <a:t>构造轨迹</a:t>
            </a:r>
            <a:r>
              <a:rPr lang="en-US" altLang="zh-CN" sz="1600"/>
              <a:t>-</a:t>
            </a:r>
            <a:r>
              <a:rPr lang="zh-CN" altLang="en-US" sz="1600"/>
              <a:t>调度联合代价函数（长度、平滑度、安全罚项），用 </a:t>
            </a:r>
            <a:r>
              <a:rPr lang="en-US" altLang="zh-CN" sz="1600"/>
              <a:t>PPLO </a:t>
            </a:r>
            <a:r>
              <a:rPr lang="zh-CN" altLang="en-US" sz="1600"/>
              <a:t>进行轨迹与（或）起飞延迟 </a:t>
            </a:r>
            <a:r>
              <a:rPr lang="en-US" altLang="zh-CN" sz="1600"/>
              <a:t>τ</a:t>
            </a:r>
            <a:r>
              <a:rPr lang="zh-CN" altLang="en-US" sz="1600"/>
              <a:t>的联合优化（并行子群、精英迁移、</a:t>
            </a:r>
            <a:r>
              <a:rPr lang="en-US" altLang="zh-CN" sz="1600"/>
              <a:t>Levy</a:t>
            </a:r>
            <a:r>
              <a:rPr lang="zh-CN" altLang="en-US" sz="1600"/>
              <a:t>／梯度修正等操作）</a:t>
            </a:r>
            <a:endParaRPr lang="zh-CN" altLang="en-US" sz="1600"/>
          </a:p>
        </p:txBody>
      </p:sp>
    </p:spTree>
  </p:cSld>
  <p:clrMapOvr>
    <a:masterClrMapping/>
  </p:clrMapOvr>
  <p:transition spd="slow">
    <p:cover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35996" y="128698"/>
            <a:ext cx="11569986" cy="6681374"/>
            <a:chOff x="335361" y="116633"/>
            <a:chExt cx="11569986" cy="6681374"/>
          </a:xfrm>
        </p:grpSpPr>
        <p:grpSp>
          <p:nvGrpSpPr>
            <p:cNvPr id="3" name="组合 2"/>
            <p:cNvGrpSpPr/>
            <p:nvPr/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8" name="平行四边形 7"/>
              <p:cNvSpPr/>
              <p:nvPr/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chemeClr val="accent1">
                  <a:lumMod val="100000"/>
                </a:schemeClr>
              </a:solidFill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/>
              <p:cNvSpPr/>
              <p:nvPr/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4" name="直接连接符 3"/>
            <p:cNvCxnSpPr/>
            <p:nvPr/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chemeClr val="accent1">
                  <a:lumMod val="100000"/>
                </a:schemeClr>
              </a:solidFill>
              <a:prstDash val="solid"/>
            </a:ln>
            <a:effectLst/>
          </p:spPr>
        </p:cxnSp>
        <p:sp>
          <p:nvSpPr>
            <p:cNvPr id="5" name="文本占位符 5"/>
            <p:cNvSpPr txBox="1"/>
            <p:nvPr/>
          </p:nvSpPr>
          <p:spPr>
            <a:xfrm>
              <a:off x="1127206" y="194103"/>
              <a:ext cx="6715125" cy="6127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1" kern="1200">
                  <a:solidFill>
                    <a:srgbClr val="024282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lang="zh-CN" altLang="en-US" noProof="0" dirty="0">
                  <a:ln>
                    <a:noFill/>
                  </a:ln>
                  <a:solidFill>
                    <a:schemeClr val="accent1">
                      <a:lumMod val="100000"/>
                    </a:schemeClr>
                  </a:solidFill>
                  <a:effectLst/>
                  <a:uLnTx/>
                  <a:uFillTx/>
                  <a:sym typeface="+mn-ea"/>
                </a:rPr>
                <a:t>多</a:t>
              </a:r>
              <a:r>
                <a:rPr lang="en-US" altLang="zh-CN" noProof="0" dirty="0">
                  <a:ln>
                    <a:noFill/>
                  </a:ln>
                  <a:solidFill>
                    <a:schemeClr val="accent1">
                      <a:lumMod val="100000"/>
                    </a:schemeClr>
                  </a:solidFill>
                  <a:effectLst/>
                  <a:uLnTx/>
                  <a:uFillTx/>
                  <a:sym typeface="+mn-ea"/>
                </a:rPr>
                <a:t> UAV </a:t>
              </a:r>
              <a:r>
                <a:rPr lang="zh-CN" altLang="en-US" noProof="0" dirty="0">
                  <a:ln>
                    <a:noFill/>
                  </a:ln>
                  <a:solidFill>
                    <a:schemeClr val="accent1">
                      <a:lumMod val="100000"/>
                    </a:schemeClr>
                  </a:solidFill>
                  <a:effectLst/>
                  <a:uLnTx/>
                  <a:uFillTx/>
                  <a:sym typeface="+mn-ea"/>
                </a:rPr>
                <a:t>路径规划</a:t>
              </a: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0805366" y="6428675"/>
              <a:ext cx="10999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rPr>
                <a:t>JUNE 12</a:t>
              </a:r>
              <a:r>
                <a:rPr kumimoji="0" lang="en-US" altLang="zh-CN" sz="1800" b="1" i="0" u="none" strike="noStrike" kern="0" cap="none" spc="0" normalizeH="0" baseline="3000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rPr>
                <a:t>th</a:t>
              </a:r>
              <a:endParaRPr kumimoji="0" lang="zh-CN" altLang="en-US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364490" y="808355"/>
            <a:ext cx="11513185" cy="5473065"/>
          </a:xfrm>
          <a:prstGeom prst="rect">
            <a:avLst/>
          </a:prstGeom>
          <a:solidFill>
            <a:schemeClr val="accent1">
              <a:lumMod val="100000"/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5033" y="6425619"/>
            <a:ext cx="27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accent1">
                    <a:lumMod val="100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惟真求新</a:t>
            </a:r>
            <a:endParaRPr lang="zh-CN" altLang="en-US" dirty="0">
              <a:solidFill>
                <a:schemeClr val="accent1">
                  <a:lumMod val="100000"/>
                </a:schemeClr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93065" y="956945"/>
            <a:ext cx="10841990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/>
              <a:t>为避免多机冲突，引入起飞延迟变量：</a:t>
            </a:r>
            <a:r>
              <a:rPr lang="en-US" altLang="zh-CN" sz="1600"/>
              <a:t>τ=[τ1,τ2,…,τU]</a:t>
            </a:r>
            <a:r>
              <a:rPr lang="zh-CN" altLang="en-US" sz="1600"/>
              <a:t>，</a:t>
            </a:r>
            <a:r>
              <a:rPr lang="en-US" altLang="zh-CN" sz="1600"/>
              <a:t>U </a:t>
            </a:r>
            <a:r>
              <a:rPr lang="zh-CN" altLang="en-US" sz="1600"/>
              <a:t>为无人机数。</a:t>
            </a:r>
            <a:endParaRPr lang="zh-CN" altLang="en-US" sz="1600"/>
          </a:p>
        </p:txBody>
      </p:sp>
      <p:sp>
        <p:nvSpPr>
          <p:cNvPr id="16" name="文本框 15"/>
          <p:cNvSpPr txBox="1"/>
          <p:nvPr/>
        </p:nvSpPr>
        <p:spPr>
          <a:xfrm>
            <a:off x="393065" y="135604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1600"/>
              <a:t>每架 </a:t>
            </a:r>
            <a:r>
              <a:rPr lang="en-US" altLang="zh-CN" sz="1600"/>
              <a:t>UAV </a:t>
            </a:r>
            <a:r>
              <a:rPr lang="zh-CN" altLang="en-US" sz="1600"/>
              <a:t>的全局时间位置为：</a:t>
            </a:r>
            <a:endParaRPr lang="zh-CN" altLang="en-US" sz="1600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62960" y="1356360"/>
            <a:ext cx="2110105" cy="38862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520700" y="197453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1600"/>
              <a:t>调度目标函数：</a:t>
            </a:r>
            <a:endParaRPr lang="zh-CN" altLang="en-US" sz="1600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2965" y="1927860"/>
            <a:ext cx="4272280" cy="43116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575" y="2771775"/>
            <a:ext cx="2469515" cy="535305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3716655" y="287051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600"/>
              <a:t>ϕij​ </a:t>
            </a:r>
            <a:r>
              <a:rPr lang="zh-CN" altLang="en-US" sz="1600"/>
              <a:t>为任意时刻的碰撞惩罚项。</a:t>
            </a:r>
            <a:endParaRPr lang="zh-CN" altLang="en-US" sz="1600"/>
          </a:p>
        </p:txBody>
      </p:sp>
      <p:sp>
        <p:nvSpPr>
          <p:cNvPr id="22" name="文本框 21"/>
          <p:cNvSpPr txBox="1"/>
          <p:nvPr/>
        </p:nvSpPr>
        <p:spPr>
          <a:xfrm>
            <a:off x="724535" y="3428365"/>
            <a:ext cx="10006965" cy="2722880"/>
          </a:xfrm>
          <a:prstGeom prst="rect">
            <a:avLst/>
          </a:prstGeom>
        </p:spPr>
        <p:txBody>
          <a:bodyPr>
            <a:noAutofit/>
          </a:bodyPr>
          <a:p>
            <a:pPr>
              <a:spcAft>
                <a:spcPct val="60000"/>
              </a:spcAft>
            </a:pPr>
            <a:r>
              <a:rPr lang="zh-CN" altLang="en-US" sz="2300" b="1"/>
              <a:t>实验设置与参数</a:t>
            </a:r>
            <a:endParaRPr lang="zh-CN" altLang="en-US" sz="2300" b="1"/>
          </a:p>
          <a:p>
            <a:pPr>
              <a:buFont typeface="Arial" panose="020B0604020202020204"/>
              <a:buChar char="•"/>
            </a:pPr>
            <a:r>
              <a:rPr lang="zh-CN" altLang="en-US" sz="1600"/>
              <a:t>无人机数：</a:t>
            </a:r>
            <a:r>
              <a:rPr lang="en-US" altLang="zh-CN" sz="1600"/>
              <a:t>6 </a:t>
            </a:r>
            <a:r>
              <a:rPr lang="zh-CN" altLang="en-US" sz="1600"/>
              <a:t>架（分 </a:t>
            </a:r>
            <a:r>
              <a:rPr lang="en-US" altLang="zh-CN" sz="1600"/>
              <a:t>3 </a:t>
            </a:r>
            <a:r>
              <a:rPr lang="zh-CN" altLang="en-US" sz="1600"/>
              <a:t>条路径：</a:t>
            </a:r>
            <a:r>
              <a:rPr lang="en-US" altLang="zh-CN" sz="1600"/>
              <a:t>3+2+1 </a:t>
            </a:r>
            <a:r>
              <a:rPr lang="zh-CN" altLang="en-US" sz="1600"/>
              <a:t>架）</a:t>
            </a:r>
            <a:endParaRPr lang="zh-CN" altLang="en-US" sz="1600"/>
          </a:p>
          <a:p>
            <a:pPr>
              <a:buFont typeface="Arial" panose="020B0604020202020204"/>
              <a:buChar char="•"/>
            </a:pPr>
            <a:endParaRPr lang="zh-CN" altLang="en-US" sz="1600"/>
          </a:p>
          <a:p>
            <a:pPr>
              <a:buFont typeface="Arial" panose="020B0604020202020204"/>
              <a:buChar char="•"/>
            </a:pPr>
            <a:r>
              <a:rPr lang="zh-CN" altLang="en-US" sz="1600"/>
              <a:t>威胁区数：</a:t>
            </a:r>
            <a:r>
              <a:rPr lang="en-US" altLang="zh-CN" sz="1600"/>
              <a:t>8 </a:t>
            </a:r>
            <a:r>
              <a:rPr lang="zh-CN" altLang="en-US" sz="1600"/>
              <a:t>个（动态）</a:t>
            </a:r>
            <a:endParaRPr lang="zh-CN" altLang="en-US" sz="1600"/>
          </a:p>
          <a:p>
            <a:pPr>
              <a:buFont typeface="Arial" panose="020B0604020202020204"/>
              <a:buChar char="•"/>
            </a:pPr>
            <a:endParaRPr lang="zh-CN" altLang="en-US" sz="1600"/>
          </a:p>
          <a:p>
            <a:pPr>
              <a:buFont typeface="Arial" panose="020B0604020202020204"/>
              <a:buChar char="•"/>
            </a:pPr>
            <a:r>
              <a:rPr lang="zh-CN" altLang="en-US" sz="1600"/>
              <a:t>安全距离：</a:t>
            </a:r>
            <a:r>
              <a:rPr lang="en-US" altLang="zh-CN" sz="1600"/>
              <a:t>15 m</a:t>
            </a:r>
            <a:endParaRPr lang="en-US" altLang="zh-CN" sz="1600"/>
          </a:p>
          <a:p>
            <a:pPr>
              <a:buFont typeface="Arial" panose="020B0604020202020204"/>
              <a:buChar char="•"/>
            </a:pPr>
            <a:endParaRPr lang="en-US" altLang="zh-CN" sz="1600"/>
          </a:p>
          <a:p>
            <a:pPr>
              <a:buFont typeface="Arial" panose="020B0604020202020204"/>
              <a:buChar char="•"/>
            </a:pPr>
            <a:r>
              <a:rPr lang="en-US" altLang="zh-CN" sz="1600"/>
              <a:t>PPLO </a:t>
            </a:r>
            <a:r>
              <a:rPr lang="zh-CN" altLang="en-US" sz="1600"/>
              <a:t>参数：种群数 </a:t>
            </a:r>
            <a:r>
              <a:rPr lang="en-US" altLang="zh-CN" sz="1600"/>
              <a:t>20  </a:t>
            </a:r>
            <a:r>
              <a:rPr lang="zh-CN" altLang="en-US" sz="1600"/>
              <a:t>最大迭代 </a:t>
            </a:r>
            <a:r>
              <a:rPr lang="en-US" altLang="zh-CN" sz="1600"/>
              <a:t>500   </a:t>
            </a:r>
            <a:r>
              <a:rPr lang="zh-CN" altLang="en-US" sz="1600"/>
              <a:t>并行子群 </a:t>
            </a:r>
            <a:r>
              <a:rPr lang="en-US" altLang="zh-CN" sz="1600"/>
              <a:t>4    </a:t>
            </a:r>
            <a:r>
              <a:rPr lang="zh-CN" altLang="en-US" sz="1600"/>
              <a:t>精英池大小 </a:t>
            </a:r>
            <a:r>
              <a:rPr lang="en-US" altLang="zh-CN" sz="1600"/>
              <a:t>5    </a:t>
            </a:r>
            <a:r>
              <a:rPr lang="zh-CN" altLang="en-US" sz="1600"/>
              <a:t>迁移周期 </a:t>
            </a:r>
            <a:r>
              <a:rPr lang="en-US" altLang="zh-CN" sz="1600"/>
              <a:t>20</a:t>
            </a:r>
            <a:endParaRPr lang="en-US" altLang="zh-CN" sz="1600"/>
          </a:p>
        </p:txBody>
      </p:sp>
    </p:spTree>
  </p:cSld>
  <p:clrMapOvr>
    <a:masterClrMapping/>
  </p:clrMapOvr>
  <p:transition spd="slow">
    <p:cover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35361" y="116633"/>
            <a:ext cx="11569986" cy="6681374"/>
            <a:chOff x="335361" y="116633"/>
            <a:chExt cx="11569986" cy="6681374"/>
          </a:xfrm>
        </p:grpSpPr>
        <p:grpSp>
          <p:nvGrpSpPr>
            <p:cNvPr id="3" name="组合 2"/>
            <p:cNvGrpSpPr/>
            <p:nvPr/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8" name="平行四边形 7"/>
              <p:cNvSpPr/>
              <p:nvPr/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chemeClr val="accent1">
                  <a:lumMod val="100000"/>
                </a:schemeClr>
              </a:solidFill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/>
              <p:cNvSpPr/>
              <p:nvPr/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4" name="直接连接符 3"/>
            <p:cNvCxnSpPr/>
            <p:nvPr/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chemeClr val="accent1">
                  <a:lumMod val="100000"/>
                </a:schemeClr>
              </a:solidFill>
              <a:prstDash val="solid"/>
            </a:ln>
            <a:effectLst/>
          </p:spPr>
        </p:cxnSp>
        <p:sp>
          <p:nvSpPr>
            <p:cNvPr id="5" name="文本占位符 5"/>
            <p:cNvSpPr txBox="1"/>
            <p:nvPr/>
          </p:nvSpPr>
          <p:spPr>
            <a:xfrm>
              <a:off x="1127206" y="194103"/>
              <a:ext cx="6715125" cy="6127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1" kern="1200">
                  <a:solidFill>
                    <a:srgbClr val="024282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lang="zh-CN" altLang="en-US" kern="0" dirty="0">
                  <a:solidFill>
                    <a:srgbClr val="222222"/>
                  </a:solidFill>
                  <a:ea typeface="阿里巴巴普惠体 R"/>
                  <a:cs typeface="阿里巴巴普惠体 M" panose="00020600040101010101" pitchFamily="18" charset="-122"/>
                </a:rPr>
                <a:t>对比实验与结果分析</a:t>
              </a:r>
              <a:endParaRPr lang="zh-CN" altLang="en-US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0805366" y="6428675"/>
              <a:ext cx="10999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rPr>
                <a:t>JUNE 12</a:t>
              </a:r>
              <a:r>
                <a:rPr kumimoji="0" lang="en-US" altLang="zh-CN" sz="1800" b="1" i="0" u="none" strike="noStrike" kern="0" cap="none" spc="0" normalizeH="0" baseline="3000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rPr>
                <a:t>th</a:t>
              </a:r>
              <a:endParaRPr kumimoji="0" lang="zh-CN" altLang="en-US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364490" y="812165"/>
            <a:ext cx="11513185" cy="5469255"/>
          </a:xfrm>
          <a:prstGeom prst="rect">
            <a:avLst/>
          </a:prstGeom>
          <a:solidFill>
            <a:schemeClr val="accent1">
              <a:lumMod val="100000"/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35280" y="812165"/>
            <a:ext cx="4364355" cy="2237105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对比方法：</a:t>
            </a:r>
            <a:endParaRPr lang="zh-CN" altLang="en-US" sz="1600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</a:endParaRPr>
          </a:p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A* + 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网格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 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一个</a:t>
            </a:r>
            <a:endParaRPr lang="en-US" altLang="zh-CN" sz="1600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</a:endParaRPr>
          </a:p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RRT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（未优化）</a:t>
            </a:r>
            <a:endParaRPr lang="en-US" altLang="zh-CN" sz="1600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</a:endParaRPr>
          </a:p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PSO 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优化器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 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算法</a:t>
            </a:r>
            <a:endParaRPr lang="en-US" altLang="zh-CN" sz="1600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</a:endParaRPr>
          </a:p>
          <a:p>
            <a:pPr algn="just">
              <a:lnSpc>
                <a:spcPct val="130000"/>
              </a:lnSpc>
              <a:spcBef>
                <a:spcPts val="600"/>
              </a:spcBef>
              <a:defRPr/>
            </a:pP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DPPLO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（动态聚类</a:t>
            </a:r>
            <a:r>
              <a:rPr lang="en-US" altLang="zh-CN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 + PPLO</a:t>
            </a:r>
            <a:r>
              <a:rPr lang="zh-CN" altLang="en-US" sz="1600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rPr>
              <a:t>，本研究方法）</a:t>
            </a:r>
            <a:endParaRPr lang="zh-CN" altLang="en-US" sz="1600" kern="0" dirty="0">
              <a:solidFill>
                <a:srgbClr val="222222"/>
              </a:solidFill>
              <a:ea typeface="阿里巴巴普惠体 R"/>
              <a:cs typeface="阿里巴巴普惠体 M" panose="00020600040101010101" pitchFamily="18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5033" y="6425619"/>
            <a:ext cx="27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accent1">
                    <a:lumMod val="100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惟真求新</a:t>
            </a:r>
            <a:endParaRPr lang="zh-CN" altLang="en-US" dirty="0">
              <a:solidFill>
                <a:schemeClr val="accent1">
                  <a:lumMod val="100000"/>
                </a:schemeClr>
              </a:solidFill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853440" y="2926080"/>
          <a:ext cx="10485120" cy="0"/>
        </p:xfrm>
        <a:graphic>
          <a:graphicData uri="http://schemas.openxmlformats.org/drawingml/2006/table">
            <a:tbl>
              <a:tblPr/>
              <a:tblGrid>
                <a:gridCol w="1747520"/>
                <a:gridCol w="1747520"/>
                <a:gridCol w="1747520"/>
                <a:gridCol w="1747520"/>
                <a:gridCol w="1747520"/>
                <a:gridCol w="1747520"/>
              </a:tblGrid>
              <a:tr h="0">
                <a:tc>
                  <a:txBody>
                    <a:bodyPr/>
                    <a:p>
                      <a:r>
                        <a:rPr lang="zh-CN" altLang="en-US" sz="1100"/>
                        <a:t>方法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成功率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平均路径长度 </a:t>
                      </a:r>
                      <a:r>
                        <a:rPr lang="en-US" altLang="zh-CN" sz="1100"/>
                        <a:t>(m)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平均规划时间 </a:t>
                      </a:r>
                      <a:r>
                        <a:rPr lang="en-US" altLang="zh-CN" sz="1100"/>
                        <a:t>(s)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平均曲率变化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冲突数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/>
                        <a:t>A* + Grid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73.4%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195.2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0.82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中等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4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/>
                        <a:t>RRT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78.9%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186.5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1.21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极大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6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/>
                        <a:t>PSO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84.6%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178.3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2.43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高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2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/>
                        <a:t>DPPLO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96.8%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162.7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2.78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低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0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3345815" y="3995420"/>
            <a:ext cx="6174105" cy="230695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/>
              <a:t>优势总结：</a:t>
            </a:r>
            <a:endParaRPr lang="zh-CN" altLang="en-US" sz="1600"/>
          </a:p>
          <a:p>
            <a:endParaRPr lang="zh-CN" altLang="en-US" sz="1600"/>
          </a:p>
          <a:p>
            <a:pPr>
              <a:buFont typeface="Arial" panose="020B0604020202020204"/>
              <a:buChar char="•"/>
            </a:pPr>
            <a:r>
              <a:rPr lang="zh-CN" altLang="en-US" sz="1600"/>
              <a:t>平均路径长度缩短 </a:t>
            </a:r>
            <a:r>
              <a:rPr lang="en-US" altLang="zh-CN" sz="1600"/>
              <a:t>10.3%</a:t>
            </a:r>
            <a:endParaRPr lang="en-US" altLang="zh-CN" sz="1600"/>
          </a:p>
          <a:p>
            <a:pPr>
              <a:buFont typeface="Arial" panose="020B0604020202020204"/>
              <a:buChar char="•"/>
            </a:pPr>
            <a:endParaRPr lang="en-US" altLang="zh-CN" sz="1600"/>
          </a:p>
          <a:p>
            <a:pPr>
              <a:buFont typeface="Arial" panose="020B0604020202020204"/>
              <a:buChar char="•"/>
            </a:pPr>
            <a:r>
              <a:rPr lang="zh-CN" altLang="en-US" sz="1600"/>
              <a:t>冲突数减少为 </a:t>
            </a:r>
            <a:r>
              <a:rPr lang="en-US" altLang="zh-CN" sz="1600"/>
              <a:t>0</a:t>
            </a:r>
            <a:endParaRPr lang="en-US" altLang="zh-CN" sz="1600"/>
          </a:p>
          <a:p>
            <a:pPr>
              <a:buFont typeface="Arial" panose="020B0604020202020204"/>
              <a:buChar char="•"/>
            </a:pPr>
            <a:endParaRPr lang="en-US" altLang="zh-CN" sz="1600"/>
          </a:p>
          <a:p>
            <a:pPr>
              <a:buFont typeface="Arial" panose="020B0604020202020204"/>
              <a:buChar char="•"/>
            </a:pPr>
            <a:r>
              <a:rPr lang="zh-CN" altLang="en-US" sz="1600"/>
              <a:t>规划时间保持在可接受范围</a:t>
            </a:r>
            <a:endParaRPr lang="zh-CN" altLang="en-US" sz="1600"/>
          </a:p>
          <a:p>
            <a:pPr>
              <a:buFont typeface="Arial" panose="020B0604020202020204"/>
              <a:buChar char="•"/>
            </a:pPr>
            <a:endParaRPr lang="zh-CN" altLang="en-US" sz="1600"/>
          </a:p>
          <a:p>
            <a:pPr>
              <a:buFont typeface="Arial" panose="020B0604020202020204"/>
              <a:buChar char="•"/>
            </a:pPr>
            <a:r>
              <a:rPr lang="zh-CN" altLang="en-US" sz="1600"/>
              <a:t>收敛曲线稳定、后期继续下降，展现更强全局探索能力</a:t>
            </a:r>
            <a:endParaRPr lang="zh-CN" altLang="en-US" sz="1600"/>
          </a:p>
        </p:txBody>
      </p:sp>
    </p:spTree>
  </p:cSld>
  <p:clrMapOvr>
    <a:masterClrMapping/>
  </p:clrMapOvr>
  <p:transition spd="slow">
    <p:cover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35361" y="116633"/>
            <a:ext cx="11569986" cy="6681374"/>
            <a:chOff x="335361" y="116633"/>
            <a:chExt cx="11569986" cy="6681374"/>
          </a:xfrm>
        </p:grpSpPr>
        <p:grpSp>
          <p:nvGrpSpPr>
            <p:cNvPr id="3" name="组合 2"/>
            <p:cNvGrpSpPr/>
            <p:nvPr/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8" name="平行四边形 7"/>
              <p:cNvSpPr/>
              <p:nvPr/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chemeClr val="accent1">
                  <a:lumMod val="100000"/>
                </a:schemeClr>
              </a:solidFill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/>
              <p:cNvSpPr/>
              <p:nvPr/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4" name="直接连接符 3"/>
            <p:cNvCxnSpPr/>
            <p:nvPr/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chemeClr val="accent1">
                  <a:lumMod val="100000"/>
                </a:schemeClr>
              </a:solidFill>
              <a:prstDash val="solid"/>
            </a:ln>
            <a:effectLst/>
          </p:spPr>
        </p:cxnSp>
        <p:sp>
          <p:nvSpPr>
            <p:cNvPr id="5" name="文本占位符 5"/>
            <p:cNvSpPr txBox="1"/>
            <p:nvPr/>
          </p:nvSpPr>
          <p:spPr>
            <a:xfrm>
              <a:off x="1127206" y="194103"/>
              <a:ext cx="6715125" cy="6127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1" kern="1200">
                  <a:solidFill>
                    <a:srgbClr val="024282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lang="zh-CN" altLang="en-US" kern="0" dirty="0">
                  <a:solidFill>
                    <a:srgbClr val="222222"/>
                  </a:solidFill>
                  <a:ea typeface="阿里巴巴普惠体 R"/>
                  <a:cs typeface="阿里巴巴普惠体 M" panose="00020600040101010101" pitchFamily="18" charset="-122"/>
                </a:rPr>
                <a:t>调度优化结果</a:t>
              </a:r>
              <a:endParaRPr lang="zh-CN" altLang="en-US" kern="0" dirty="0">
                <a:solidFill>
                  <a:srgbClr val="222222"/>
                </a:solidFill>
                <a:ea typeface="阿里巴巴普惠体 R"/>
                <a:cs typeface="阿里巴巴普惠体 M" panose="00020600040101010101" pitchFamily="18" charset="-122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0805366" y="6428675"/>
              <a:ext cx="10999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rPr>
                <a:t>JUNE 12</a:t>
              </a:r>
              <a:r>
                <a:rPr kumimoji="0" lang="en-US" altLang="zh-CN" sz="1800" b="1" i="0" u="none" strike="noStrike" kern="0" cap="none" spc="0" normalizeH="0" baseline="3000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rPr>
                <a:t>th</a:t>
              </a:r>
              <a:endParaRPr kumimoji="0" lang="zh-CN" altLang="en-US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364490" y="819785"/>
            <a:ext cx="11513185" cy="5461635"/>
          </a:xfrm>
          <a:prstGeom prst="rect">
            <a:avLst/>
          </a:prstGeom>
          <a:solidFill>
            <a:schemeClr val="accent1">
              <a:lumMod val="100000"/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5033" y="6425619"/>
            <a:ext cx="27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accent1">
                    <a:lumMod val="100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惟真求新</a:t>
            </a:r>
            <a:endParaRPr lang="zh-CN" altLang="en-US" dirty="0">
              <a:solidFill>
                <a:schemeClr val="accent1">
                  <a:lumMod val="100000"/>
                </a:schemeClr>
              </a:solidFill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754380" y="1161415"/>
          <a:ext cx="10485120" cy="838200"/>
        </p:xfrm>
        <a:graphic>
          <a:graphicData uri="http://schemas.openxmlformats.org/drawingml/2006/table">
            <a:tbl>
              <a:tblPr/>
              <a:tblGrid>
                <a:gridCol w="2621280"/>
                <a:gridCol w="2621280"/>
                <a:gridCol w="2621280"/>
                <a:gridCol w="2621280"/>
              </a:tblGrid>
              <a:tr h="0">
                <a:tc>
                  <a:txBody>
                    <a:bodyPr/>
                    <a:p>
                      <a:r>
                        <a:rPr lang="en-US" altLang="zh-CN" sz="1100"/>
                        <a:t>UAV </a:t>
                      </a:r>
                      <a:r>
                        <a:rPr lang="zh-CN" altLang="en-US" sz="1100"/>
                        <a:t>数量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延迟向量 </a:t>
                      </a:r>
                      <a:r>
                        <a:rPr lang="en-US" altLang="zh-CN" sz="1100"/>
                        <a:t>τ (s)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总飞行时间 </a:t>
                      </a:r>
                      <a:r>
                        <a:rPr lang="en-US" altLang="zh-CN" sz="1100"/>
                        <a:t>TotalT (s)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冲突数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/>
                        <a:t>3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[0,5,11]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68.3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0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/>
                        <a:t>4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[0,7,12,20]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74.6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0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/>
                        <a:t>5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[0,5,10,18,24]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81.5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0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1" name="表格 10"/>
          <p:cNvGraphicFramePr/>
          <p:nvPr/>
        </p:nvGraphicFramePr>
        <p:xfrm>
          <a:off x="562610" y="2431415"/>
          <a:ext cx="10485120" cy="0"/>
        </p:xfrm>
        <a:graphic>
          <a:graphicData uri="http://schemas.openxmlformats.org/drawingml/2006/table">
            <a:tbl>
              <a:tblPr/>
              <a:tblGrid>
                <a:gridCol w="1747520"/>
                <a:gridCol w="1747520"/>
                <a:gridCol w="1747520"/>
                <a:gridCol w="1747520"/>
                <a:gridCol w="1747520"/>
                <a:gridCol w="1747520"/>
              </a:tblGrid>
              <a:tr h="0">
                <a:tc>
                  <a:txBody>
                    <a:bodyPr/>
                    <a:p>
                      <a:r>
                        <a:rPr lang="en-US" altLang="zh-CN" sz="1100"/>
                        <a:t>UAV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路径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延迟 </a:t>
                      </a:r>
                      <a:r>
                        <a:rPr lang="en-US" altLang="zh-CN" sz="1100"/>
                        <a:t>(</a:t>
                      </a:r>
                      <a:r>
                        <a:rPr lang="zh-CN" altLang="en-US" sz="1100"/>
                        <a:t>帧</a:t>
                      </a:r>
                      <a:r>
                        <a:rPr lang="en-US" altLang="zh-CN" sz="1100"/>
                        <a:t>)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总飞行帧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路径长度 </a:t>
                      </a:r>
                      <a:r>
                        <a:rPr lang="en-US" altLang="zh-CN" sz="1100"/>
                        <a:t>(m)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重规划次数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/>
                        <a:t>1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Path1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0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102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1245.7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7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/>
                        <a:t>2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Path1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15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117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1245.7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6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/>
                        <a:t>3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Path1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28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130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1245.7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6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/>
                        <a:t>4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Path2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4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98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1180.3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2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/>
                        <a:t>5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Path2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16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125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1180.3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2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/>
                        <a:t>6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Path3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30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158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1420.8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2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2498725" y="4068445"/>
            <a:ext cx="5080000" cy="2061210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1600"/>
              <a:t>结论：</a:t>
            </a:r>
            <a:endParaRPr lang="zh-CN" altLang="en-US" sz="1600"/>
          </a:p>
          <a:p>
            <a:endParaRPr lang="zh-CN" altLang="en-US" sz="1600"/>
          </a:p>
          <a:p>
            <a:pPr>
              <a:buFont typeface="Arial" panose="020B0604020202020204"/>
              <a:buChar char="•"/>
            </a:pPr>
            <a:r>
              <a:rPr lang="zh-CN" altLang="en-US" sz="1600"/>
              <a:t>同一路径内采用不同延迟可有效避免跟随冲突；</a:t>
            </a:r>
            <a:endParaRPr lang="zh-CN" altLang="en-US" sz="1600"/>
          </a:p>
          <a:p>
            <a:pPr>
              <a:buFont typeface="Arial" panose="020B0604020202020204"/>
              <a:buChar char="•"/>
            </a:pPr>
            <a:endParaRPr lang="zh-CN" altLang="en-US" sz="1600"/>
          </a:p>
          <a:p>
            <a:pPr>
              <a:buFont typeface="Arial" panose="020B0604020202020204"/>
              <a:buChar char="•"/>
            </a:pPr>
            <a:r>
              <a:rPr lang="zh-CN" altLang="en-US" sz="1600"/>
              <a:t>不同路径间通过“以时间换空间”完全避免交叉冲突；</a:t>
            </a:r>
            <a:endParaRPr lang="zh-CN" altLang="en-US" sz="1600"/>
          </a:p>
          <a:p>
            <a:pPr>
              <a:buFont typeface="Arial" panose="020B0604020202020204"/>
              <a:buChar char="•"/>
            </a:pPr>
            <a:endParaRPr lang="zh-CN" altLang="en-US" sz="1600"/>
          </a:p>
          <a:p>
            <a:pPr>
              <a:buFont typeface="Arial" panose="020B0604020202020204"/>
              <a:buChar char="•"/>
            </a:pPr>
            <a:r>
              <a:rPr lang="zh-CN" altLang="en-US" sz="1600"/>
              <a:t>总任务完成帧数仅为随机调度的 </a:t>
            </a:r>
            <a:r>
              <a:rPr lang="en-US" altLang="zh-CN" sz="1600"/>
              <a:t>77.4%</a:t>
            </a:r>
            <a:r>
              <a:rPr lang="zh-CN" altLang="en-US" sz="1600"/>
              <a:t>，效率提升约 </a:t>
            </a:r>
            <a:r>
              <a:rPr lang="en-US" altLang="zh-CN" sz="1600"/>
              <a:t>22.6%</a:t>
            </a:r>
            <a:r>
              <a:rPr lang="zh-CN" altLang="en-US" sz="1600"/>
              <a:t>。</a:t>
            </a:r>
            <a:endParaRPr lang="zh-CN" altLang="en-US" sz="1600"/>
          </a:p>
        </p:txBody>
      </p:sp>
    </p:spTree>
  </p:cSld>
  <p:clrMapOvr>
    <a:masterClrMapping/>
  </p:clrMapOvr>
  <p:transition spd="slow">
    <p:cover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35361" y="116633"/>
            <a:ext cx="11569986" cy="6681374"/>
            <a:chOff x="335361" y="116633"/>
            <a:chExt cx="11569986" cy="6681374"/>
          </a:xfrm>
        </p:grpSpPr>
        <p:grpSp>
          <p:nvGrpSpPr>
            <p:cNvPr id="3" name="组合 2"/>
            <p:cNvGrpSpPr/>
            <p:nvPr/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8" name="平行四边形 7"/>
              <p:cNvSpPr/>
              <p:nvPr/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chemeClr val="accent1">
                  <a:lumMod val="100000"/>
                </a:schemeClr>
              </a:solidFill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/>
              <p:cNvSpPr/>
              <p:nvPr/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4" name="直接连接符 3"/>
            <p:cNvCxnSpPr/>
            <p:nvPr/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chemeClr val="accent1">
                  <a:lumMod val="100000"/>
                </a:schemeClr>
              </a:solidFill>
              <a:prstDash val="solid"/>
            </a:ln>
            <a:effectLst/>
          </p:spPr>
        </p:cxnSp>
        <p:sp>
          <p:nvSpPr>
            <p:cNvPr id="5" name="文本占位符 5"/>
            <p:cNvSpPr txBox="1"/>
            <p:nvPr/>
          </p:nvSpPr>
          <p:spPr>
            <a:xfrm>
              <a:off x="1127206" y="194103"/>
              <a:ext cx="6715125" cy="6127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1" kern="1200">
                  <a:solidFill>
                    <a:srgbClr val="024282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lang="zh-CN" altLang="en-US" noProof="0" dirty="0">
                  <a:ln>
                    <a:noFill/>
                  </a:ln>
                  <a:solidFill>
                    <a:schemeClr val="accent1">
                      <a:lumMod val="100000"/>
                    </a:schemeClr>
                  </a:solidFill>
                  <a:effectLst/>
                  <a:uLnTx/>
                  <a:uFillTx/>
                  <a:sym typeface="+mn-ea"/>
                </a:rPr>
                <a:t>多</a:t>
              </a:r>
              <a:r>
                <a:rPr lang="en-US" altLang="zh-CN" noProof="0" dirty="0">
                  <a:ln>
                    <a:noFill/>
                  </a:ln>
                  <a:solidFill>
                    <a:schemeClr val="accent1">
                      <a:lumMod val="100000"/>
                    </a:schemeClr>
                  </a:solidFill>
                  <a:effectLst/>
                  <a:uLnTx/>
                  <a:uFillTx/>
                  <a:sym typeface="+mn-ea"/>
                </a:rPr>
                <a:t> UAV </a:t>
              </a:r>
              <a:r>
                <a:rPr lang="zh-CN" altLang="en-US" noProof="0" dirty="0">
                  <a:ln>
                    <a:noFill/>
                  </a:ln>
                  <a:solidFill>
                    <a:schemeClr val="accent1">
                      <a:lumMod val="100000"/>
                    </a:schemeClr>
                  </a:solidFill>
                  <a:effectLst/>
                  <a:uLnTx/>
                  <a:uFillTx/>
                  <a:sym typeface="+mn-ea"/>
                </a:rPr>
                <a:t>路径规划</a:t>
              </a: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0805366" y="6428675"/>
              <a:ext cx="10999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rPr>
                <a:t>JUNE 12</a:t>
              </a:r>
              <a:r>
                <a:rPr kumimoji="0" lang="en-US" altLang="zh-CN" sz="1800" b="1" i="0" u="none" strike="noStrike" kern="0" cap="none" spc="0" normalizeH="0" baseline="3000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rPr>
                <a:t>th</a:t>
              </a:r>
              <a:endParaRPr kumimoji="0" lang="zh-CN" altLang="en-US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364490" y="819785"/>
            <a:ext cx="11513185" cy="5461635"/>
          </a:xfrm>
          <a:prstGeom prst="rect">
            <a:avLst/>
          </a:prstGeom>
          <a:solidFill>
            <a:schemeClr val="accent1">
              <a:lumMod val="100000"/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5033" y="6425619"/>
            <a:ext cx="27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accent1">
                    <a:lumMod val="100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惟真求新</a:t>
            </a:r>
            <a:endParaRPr lang="zh-CN" altLang="en-US" dirty="0">
              <a:solidFill>
                <a:schemeClr val="accent1">
                  <a:lumMod val="100000"/>
                </a:schemeClr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35280" y="3969385"/>
            <a:ext cx="5080000" cy="1076325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1600"/>
              <a:t>展示 </a:t>
            </a:r>
            <a:r>
              <a:rPr lang="en-US" altLang="zh-CN" sz="1600"/>
              <a:t>6 </a:t>
            </a:r>
            <a:r>
              <a:rPr lang="zh-CN" altLang="en-US" sz="1600"/>
              <a:t>架 </a:t>
            </a:r>
            <a:r>
              <a:rPr lang="en-US" altLang="zh-CN" sz="1600"/>
              <a:t>UAV </a:t>
            </a:r>
            <a:r>
              <a:rPr lang="zh-CN" altLang="en-US" sz="1600"/>
              <a:t>在 </a:t>
            </a:r>
            <a:r>
              <a:rPr lang="en-US" altLang="zh-CN" sz="1600"/>
              <a:t>8 </a:t>
            </a:r>
            <a:r>
              <a:rPr lang="zh-CN" altLang="en-US" sz="1600"/>
              <a:t>个威胁区中的三条平滑路径。</a:t>
            </a:r>
            <a:endParaRPr lang="zh-CN" altLang="en-US" sz="1600"/>
          </a:p>
          <a:p>
            <a:pPr>
              <a:buFont typeface="Arial" panose="020B0604020202020204"/>
              <a:buChar char="•"/>
            </a:pPr>
            <a:r>
              <a:rPr lang="en-US" altLang="zh-CN" sz="1600"/>
              <a:t>UAV1 </a:t>
            </a:r>
            <a:r>
              <a:rPr lang="zh-CN" altLang="en-US" sz="1600"/>
              <a:t>在 </a:t>
            </a:r>
            <a:r>
              <a:rPr lang="en-US" altLang="zh-CN" sz="1600"/>
              <a:t>T1–T6 </a:t>
            </a:r>
            <a:r>
              <a:rPr lang="zh-CN" altLang="en-US" sz="1600"/>
              <a:t>间平滑绕行，最小间距 </a:t>
            </a:r>
            <a:r>
              <a:rPr lang="en-US" altLang="zh-CN" sz="1600"/>
              <a:t>25 m</a:t>
            </a:r>
            <a:r>
              <a:rPr lang="zh-CN" altLang="en-US" sz="1600"/>
              <a:t>；</a:t>
            </a:r>
            <a:endParaRPr lang="zh-CN" altLang="en-US" sz="1600"/>
          </a:p>
          <a:p>
            <a:pPr>
              <a:buFont typeface="Arial" panose="020B0604020202020204"/>
              <a:buChar char="•"/>
            </a:pPr>
            <a:r>
              <a:rPr lang="en-US" altLang="zh-CN" sz="1600"/>
              <a:t>B </a:t>
            </a:r>
            <a:r>
              <a:rPr lang="zh-CN" altLang="en-US" sz="1600"/>
              <a:t>样条将 </a:t>
            </a:r>
            <a:r>
              <a:rPr lang="en-US" altLang="zh-CN" sz="1600"/>
              <a:t>Path2 </a:t>
            </a:r>
            <a:r>
              <a:rPr lang="zh-CN" altLang="en-US" sz="1600"/>
              <a:t>的转折点由 </a:t>
            </a:r>
            <a:r>
              <a:rPr lang="en-US" altLang="zh-CN" sz="1600"/>
              <a:t>12 </a:t>
            </a:r>
            <a:r>
              <a:rPr lang="zh-CN" altLang="en-US" sz="1600"/>
              <a:t>个减少为连续曲线</a:t>
            </a:r>
            <a:endParaRPr lang="zh-CN" altLang="en-US" sz="1600"/>
          </a:p>
          <a:p>
            <a:pPr>
              <a:buFont typeface="Arial" panose="020B0604020202020204"/>
              <a:buChar char="•"/>
            </a:pPr>
            <a:r>
              <a:rPr lang="zh-CN" altLang="en-US" sz="1600"/>
              <a:t>平均转角从 </a:t>
            </a:r>
            <a:r>
              <a:rPr lang="en-US" altLang="zh-CN" sz="1600"/>
              <a:t>90° </a:t>
            </a:r>
            <a:r>
              <a:rPr lang="zh-CN" altLang="en-US" sz="1600"/>
              <a:t>降至 </a:t>
            </a:r>
            <a:r>
              <a:rPr lang="en-US" altLang="zh-CN" sz="1600"/>
              <a:t>45° </a:t>
            </a:r>
            <a:r>
              <a:rPr lang="zh-CN" altLang="en-US" sz="1600"/>
              <a:t>以下。</a:t>
            </a:r>
            <a:endParaRPr lang="zh-CN" altLang="en-US" sz="160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2430" y="889635"/>
            <a:ext cx="3848100" cy="307975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342890" y="3874135"/>
            <a:ext cx="5648960" cy="1852295"/>
          </a:xfrm>
          <a:prstGeom prst="rect">
            <a:avLst/>
          </a:prstGeom>
        </p:spPr>
        <p:txBody>
          <a:bodyPr>
            <a:noAutofit/>
          </a:bodyPr>
          <a:p>
            <a:r>
              <a:rPr lang="zh-CN" altLang="en-US" sz="1600"/>
              <a:t>展示三阶段智能收敛特性：</a:t>
            </a:r>
            <a:endParaRPr lang="zh-CN" altLang="en-US" sz="1600"/>
          </a:p>
          <a:p>
            <a:pPr>
              <a:buAutoNum type="arabicPeriod"/>
            </a:pPr>
            <a:r>
              <a:rPr lang="zh-CN" altLang="en-US" sz="1600"/>
              <a:t>早期迁移：加速全局探索</a:t>
            </a:r>
            <a:endParaRPr lang="zh-CN" altLang="en-US" sz="1600"/>
          </a:p>
          <a:p>
            <a:pPr>
              <a:buAutoNum type="arabicPeriod"/>
            </a:pPr>
            <a:r>
              <a:rPr lang="zh-CN" altLang="en-US" sz="1600"/>
              <a:t>中期 </a:t>
            </a:r>
            <a:r>
              <a:rPr lang="en-US" altLang="zh-CN" sz="1600"/>
              <a:t>Lévy </a:t>
            </a:r>
            <a:r>
              <a:rPr lang="zh-CN" altLang="en-US" sz="1600"/>
              <a:t>飞行：突破停滞点</a:t>
            </a:r>
            <a:endParaRPr lang="zh-CN" altLang="en-US" sz="1600"/>
          </a:p>
          <a:p>
            <a:pPr>
              <a:buAutoNum type="arabicPeriod"/>
            </a:pPr>
            <a:r>
              <a:rPr lang="zh-CN" altLang="en-US" sz="1600"/>
              <a:t>后期梯度精修：局部最优微调</a:t>
            </a:r>
            <a:endParaRPr lang="zh-CN" altLang="en-US" sz="1600"/>
          </a:p>
          <a:p>
            <a:r>
              <a:rPr lang="zh-CN" altLang="en-US" sz="1600"/>
              <a:t>在多 </a:t>
            </a:r>
            <a:r>
              <a:rPr lang="en-US" altLang="zh-CN" sz="1600"/>
              <a:t>UAV </a:t>
            </a:r>
            <a:r>
              <a:rPr lang="zh-CN" altLang="en-US" sz="1600"/>
              <a:t>调度中，</a:t>
            </a:r>
            <a:r>
              <a:rPr lang="en-US" altLang="zh-CN" sz="1600"/>
              <a:t>PPLO </a:t>
            </a:r>
            <a:r>
              <a:rPr lang="zh-CN" altLang="en-US" sz="1600"/>
              <a:t>将最大完成时间降至 </a:t>
            </a:r>
            <a:r>
              <a:rPr lang="en-US" altLang="zh-CN" sz="1600"/>
              <a:t>12.4s</a:t>
            </a:r>
            <a:r>
              <a:rPr lang="zh-CN" altLang="en-US" sz="1600"/>
              <a:t>，零冲突。</a:t>
            </a:r>
            <a:endParaRPr lang="zh-CN" altLang="en-US" sz="160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930" y="807085"/>
            <a:ext cx="3448050" cy="306705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367665" y="5408930"/>
            <a:ext cx="11541125" cy="82994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/>
              <a:t>PPLO </a:t>
            </a:r>
            <a:r>
              <a:rPr lang="zh-CN" altLang="en-US" sz="1600"/>
              <a:t>通过多群并行、精英迁移与延迟调度机制，实现了 多无人机路径规划的无冲突最优调度；</a:t>
            </a:r>
            <a:endParaRPr lang="zh-CN" altLang="en-US" sz="1600"/>
          </a:p>
          <a:p>
            <a:r>
              <a:rPr lang="zh-CN" altLang="en-US" sz="1600"/>
              <a:t>展现了极高的稳定性与可扩展性；</a:t>
            </a:r>
            <a:endParaRPr lang="zh-CN" altLang="en-US" sz="1600"/>
          </a:p>
          <a:p>
            <a:r>
              <a:rPr lang="zh-CN" altLang="en-US" sz="1600"/>
              <a:t>证明了 </a:t>
            </a:r>
            <a:r>
              <a:rPr lang="en-US" altLang="zh-CN" sz="1600"/>
              <a:t>PPLO </a:t>
            </a:r>
            <a:r>
              <a:rPr lang="zh-CN" altLang="en-US" sz="1600"/>
              <a:t>在 动态威胁环境下实时避障 和 协同飞行任务 中的实际可行性。</a:t>
            </a:r>
            <a:endParaRPr lang="zh-CN" altLang="en-US" sz="1600"/>
          </a:p>
        </p:txBody>
      </p:sp>
    </p:spTree>
  </p:cSld>
  <p:clrMapOvr>
    <a:masterClrMapping/>
  </p:clrMapOvr>
  <p:transition spd="slow">
    <p:cover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35361" y="116633"/>
            <a:ext cx="11569986" cy="6681374"/>
            <a:chOff x="335361" y="116633"/>
            <a:chExt cx="11569986" cy="6681374"/>
          </a:xfrm>
        </p:grpSpPr>
        <p:grpSp>
          <p:nvGrpSpPr>
            <p:cNvPr id="3" name="组合 2"/>
            <p:cNvGrpSpPr/>
            <p:nvPr/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8" name="平行四边形 7"/>
              <p:cNvSpPr/>
              <p:nvPr/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chemeClr val="accent1">
                  <a:lumMod val="100000"/>
                </a:schemeClr>
              </a:solidFill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/>
              <p:cNvSpPr/>
              <p:nvPr/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4" name="直接连接符 3"/>
            <p:cNvCxnSpPr/>
            <p:nvPr/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chemeClr val="accent1">
                  <a:lumMod val="100000"/>
                </a:schemeClr>
              </a:solidFill>
              <a:prstDash val="solid"/>
            </a:ln>
            <a:effectLst/>
          </p:spPr>
        </p:cxnSp>
        <p:sp>
          <p:nvSpPr>
            <p:cNvPr id="5" name="文本占位符 5"/>
            <p:cNvSpPr txBox="1"/>
            <p:nvPr/>
          </p:nvSpPr>
          <p:spPr>
            <a:xfrm>
              <a:off x="1127206" y="194103"/>
              <a:ext cx="6715125" cy="6127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1" kern="1200">
                  <a:solidFill>
                    <a:srgbClr val="024282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100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3D WSN </a:t>
              </a: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100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节点定位</a:t>
              </a: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0805366" y="6428675"/>
              <a:ext cx="10999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rPr>
                <a:t>JUNE 12</a:t>
              </a:r>
              <a:r>
                <a:rPr kumimoji="0" lang="en-US" altLang="zh-CN" sz="1800" b="1" i="0" u="none" strike="noStrike" kern="0" cap="none" spc="0" normalizeH="0" baseline="3000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rPr>
                <a:t>th</a:t>
              </a:r>
              <a:endParaRPr kumimoji="0" lang="zh-CN" altLang="en-US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364490" y="819785"/>
            <a:ext cx="11513185" cy="5461635"/>
          </a:xfrm>
          <a:prstGeom prst="rect">
            <a:avLst/>
          </a:prstGeom>
          <a:solidFill>
            <a:schemeClr val="accent1">
              <a:lumMod val="100000"/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5033" y="6425619"/>
            <a:ext cx="27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accent1">
                    <a:lumMod val="100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惟真求新</a:t>
            </a:r>
            <a:endParaRPr lang="zh-CN" altLang="en-US" dirty="0">
              <a:solidFill>
                <a:schemeClr val="accent1">
                  <a:lumMod val="100000"/>
                </a:schemeClr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35280" y="833120"/>
            <a:ext cx="11542395" cy="148145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lang="en-US" altLang="zh-CN" sz="1600"/>
              <a:t>DV-Hop </a:t>
            </a:r>
            <a:r>
              <a:rPr lang="zh-CN" altLang="en-US" sz="1600"/>
              <a:t>是一种基于跳数的定位算法，优点是无需测距、能在未知节点中估算坐标；</a:t>
            </a:r>
            <a:endParaRPr lang="zh-CN" altLang="en-US" sz="1600"/>
          </a:p>
          <a:p>
            <a:pPr>
              <a:buFont typeface="Arial" panose="020B0604020202020204"/>
              <a:buChar char="•"/>
            </a:pPr>
            <a:endParaRPr lang="zh-CN" altLang="en-US" sz="1600"/>
          </a:p>
          <a:p>
            <a:pPr>
              <a:buFont typeface="Arial" panose="020B0604020202020204"/>
              <a:buChar char="•"/>
            </a:pPr>
            <a:r>
              <a:rPr lang="zh-CN" altLang="en-US" sz="1600"/>
              <a:t>但传统 </a:t>
            </a:r>
            <a:r>
              <a:rPr lang="en-US" altLang="zh-CN" sz="1600"/>
              <a:t>DV-Hop </a:t>
            </a:r>
            <a:r>
              <a:rPr lang="zh-CN" altLang="en-US" sz="1600"/>
              <a:t>在 三维环境中精度下降明显，特别是节点分布不均或通信半径较小时；</a:t>
            </a:r>
            <a:endParaRPr lang="zh-CN" altLang="en-US" sz="1600"/>
          </a:p>
          <a:p>
            <a:pPr>
              <a:buFont typeface="Arial" panose="020B0604020202020204"/>
              <a:buChar char="•"/>
            </a:pPr>
            <a:endParaRPr lang="zh-CN" altLang="en-US" sz="1600"/>
          </a:p>
          <a:p>
            <a:pPr>
              <a:buFont typeface="Arial" panose="020B0604020202020204"/>
              <a:buChar char="•"/>
            </a:pPr>
            <a:r>
              <a:rPr lang="zh-CN" altLang="en-US" sz="1600"/>
              <a:t>因此论文提出 </a:t>
            </a:r>
            <a:r>
              <a:rPr lang="en-US" altLang="zh-CN" sz="1600"/>
              <a:t>PPLO-DV-Hop</a:t>
            </a:r>
            <a:r>
              <a:rPr lang="zh-CN" altLang="en-US" sz="1600"/>
              <a:t>：利用 </a:t>
            </a:r>
            <a:r>
              <a:rPr lang="en-US" altLang="zh-CN" sz="1600"/>
              <a:t>PPLO </a:t>
            </a:r>
            <a:r>
              <a:rPr lang="zh-CN" altLang="en-US" sz="1600"/>
              <a:t>优化算法对节点坐标进行全局搜索，最小化平均定位误差（</a:t>
            </a:r>
            <a:r>
              <a:rPr lang="en-US" altLang="zh-CN" sz="1600"/>
              <a:t>ALE</a:t>
            </a:r>
            <a:r>
              <a:rPr lang="zh-CN" altLang="en-US" sz="1600"/>
              <a:t>）。</a:t>
            </a:r>
            <a:endParaRPr lang="zh-CN" altLang="en-US" sz="1600"/>
          </a:p>
        </p:txBody>
      </p:sp>
      <p:sp>
        <p:nvSpPr>
          <p:cNvPr id="11" name="文本框 10"/>
          <p:cNvSpPr txBox="1"/>
          <p:nvPr/>
        </p:nvSpPr>
        <p:spPr>
          <a:xfrm>
            <a:off x="364490" y="298354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600"/>
              <a:t>DV-Hop </a:t>
            </a:r>
            <a:r>
              <a:rPr lang="zh-CN" altLang="en-US" sz="1600"/>
              <a:t>原理概述</a:t>
            </a:r>
            <a:endParaRPr lang="zh-CN" altLang="en-US" sz="1600"/>
          </a:p>
        </p:txBody>
      </p:sp>
      <p:sp>
        <p:nvSpPr>
          <p:cNvPr id="13" name="文本框 12"/>
          <p:cNvSpPr txBox="1"/>
          <p:nvPr/>
        </p:nvSpPr>
        <p:spPr>
          <a:xfrm>
            <a:off x="367665" y="3321050"/>
            <a:ext cx="9568180" cy="181483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/>
              <a:t>DV-Hop </a:t>
            </a:r>
            <a:r>
              <a:rPr lang="zh-CN" altLang="en-US" sz="1600"/>
              <a:t>包含三步：</a:t>
            </a:r>
            <a:endParaRPr lang="zh-CN" altLang="en-US" sz="1600"/>
          </a:p>
          <a:p>
            <a:endParaRPr lang="zh-CN" altLang="en-US" sz="1600"/>
          </a:p>
          <a:p>
            <a:pPr>
              <a:buAutoNum type="arabicPeriod"/>
            </a:pPr>
            <a:r>
              <a:rPr lang="zh-CN" altLang="en-US" sz="1600"/>
              <a:t>跳数广播（</a:t>
            </a:r>
            <a:r>
              <a:rPr lang="en-US" altLang="zh-CN" sz="1600"/>
              <a:t>Hop Count Broadcasting</a:t>
            </a:r>
            <a:r>
              <a:rPr lang="zh-CN" altLang="en-US" sz="1600"/>
              <a:t>）</a:t>
            </a:r>
            <a:endParaRPr lang="zh-CN" altLang="en-US" sz="1600"/>
          </a:p>
          <a:p>
            <a:r>
              <a:rPr lang="zh-CN" altLang="en-US" sz="1600"/>
              <a:t> 每个锚节点向网络广播其跳数，记录节点之间的最小跳数 </a:t>
            </a:r>
            <a:r>
              <a:rPr lang="en-US" altLang="zh-CN" sz="1600"/>
              <a:t>Hij</a:t>
            </a:r>
            <a:r>
              <a:rPr lang="zh-CN" altLang="en-US" sz="1600"/>
              <a:t>。</a:t>
            </a:r>
            <a:endParaRPr lang="zh-CN" altLang="en-US" sz="1600"/>
          </a:p>
          <a:p>
            <a:endParaRPr lang="zh-CN" altLang="en-US" sz="1600"/>
          </a:p>
          <a:p>
            <a:pPr>
              <a:buAutoNum type="arabicPeriod"/>
            </a:pPr>
            <a:r>
              <a:rPr lang="zh-CN" altLang="en-US" sz="1600"/>
              <a:t>平均跳距估算（</a:t>
            </a:r>
            <a:r>
              <a:rPr lang="en-US" altLang="zh-CN" sz="1600"/>
              <a:t>Average Hop Distance</a:t>
            </a:r>
            <a:r>
              <a:rPr lang="zh-CN" altLang="en-US" sz="1600"/>
              <a:t>）</a:t>
            </a:r>
            <a:endParaRPr lang="zh-CN" altLang="en-US" sz="1600"/>
          </a:p>
          <a:p>
            <a:r>
              <a:rPr lang="zh-CN" altLang="en-US" sz="1600"/>
              <a:t> 每个锚节点根据与其他锚节点的实际距离计算平均跳距：</a:t>
            </a:r>
            <a:endParaRPr lang="zh-CN" altLang="en-US" sz="160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7555" y="5299710"/>
            <a:ext cx="4275455" cy="63627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364490" y="248062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1600"/>
              <a:t>二、算法流程与原理</a:t>
            </a:r>
            <a:endParaRPr lang="zh-CN" altLang="en-US" sz="1600"/>
          </a:p>
        </p:txBody>
      </p:sp>
    </p:spTree>
  </p:cSld>
  <p:clrMapOvr>
    <a:masterClrMapping/>
  </p:clrMapOvr>
  <p:transition spd="slow">
    <p:cover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35361" y="116633"/>
            <a:ext cx="11569986" cy="6681374"/>
            <a:chOff x="335361" y="116633"/>
            <a:chExt cx="11569986" cy="6681374"/>
          </a:xfrm>
        </p:grpSpPr>
        <p:grpSp>
          <p:nvGrpSpPr>
            <p:cNvPr id="3" name="组合 2"/>
            <p:cNvGrpSpPr/>
            <p:nvPr/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8" name="平行四边形 7"/>
              <p:cNvSpPr/>
              <p:nvPr/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chemeClr val="accent1">
                  <a:lumMod val="100000"/>
                </a:schemeClr>
              </a:solidFill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/>
              <p:cNvSpPr/>
              <p:nvPr/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4" name="直接连接符 3"/>
            <p:cNvCxnSpPr/>
            <p:nvPr/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chemeClr val="accent1">
                  <a:lumMod val="100000"/>
                </a:schemeClr>
              </a:solidFill>
              <a:prstDash val="solid"/>
            </a:ln>
            <a:effectLst/>
          </p:spPr>
        </p:cxnSp>
        <p:sp>
          <p:nvSpPr>
            <p:cNvPr id="5" name="文本占位符 5"/>
            <p:cNvSpPr txBox="1"/>
            <p:nvPr/>
          </p:nvSpPr>
          <p:spPr>
            <a:xfrm>
              <a:off x="1127206" y="194103"/>
              <a:ext cx="6715125" cy="6127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1" kern="1200">
                  <a:solidFill>
                    <a:srgbClr val="024282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lang="en-US" altLang="zh-CN" noProof="0" dirty="0">
                  <a:ln>
                    <a:noFill/>
                  </a:ln>
                  <a:solidFill>
                    <a:schemeClr val="accent1">
                      <a:lumMod val="100000"/>
                    </a:schemeClr>
                  </a:solidFill>
                  <a:effectLst/>
                  <a:uLnTx/>
                  <a:uFillTx/>
                  <a:sym typeface="+mn-ea"/>
                </a:rPr>
                <a:t>3D WSN </a:t>
              </a:r>
              <a:r>
                <a:rPr lang="zh-CN" altLang="en-US" noProof="0" dirty="0">
                  <a:ln>
                    <a:noFill/>
                  </a:ln>
                  <a:solidFill>
                    <a:schemeClr val="accent1">
                      <a:lumMod val="100000"/>
                    </a:schemeClr>
                  </a:solidFill>
                  <a:effectLst/>
                  <a:uLnTx/>
                  <a:uFillTx/>
                  <a:sym typeface="+mn-ea"/>
                </a:rPr>
                <a:t>节点定位</a:t>
              </a: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0805366" y="6428675"/>
              <a:ext cx="10999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rPr>
                <a:t>JUNE 12</a:t>
              </a:r>
              <a:r>
                <a:rPr kumimoji="0" lang="en-US" altLang="zh-CN" sz="1800" b="1" i="0" u="none" strike="noStrike" kern="0" cap="none" spc="0" normalizeH="0" baseline="3000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rPr>
                <a:t>th</a:t>
              </a:r>
              <a:endParaRPr kumimoji="0" lang="zh-CN" altLang="en-US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364490" y="819785"/>
            <a:ext cx="11513185" cy="5461635"/>
          </a:xfrm>
          <a:prstGeom prst="rect">
            <a:avLst/>
          </a:prstGeom>
          <a:solidFill>
            <a:schemeClr val="accent1">
              <a:lumMod val="100000"/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5033" y="6425619"/>
            <a:ext cx="27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accent1">
                    <a:lumMod val="100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惟真求新</a:t>
            </a:r>
            <a:endParaRPr lang="zh-CN" altLang="en-US" dirty="0">
              <a:solidFill>
                <a:schemeClr val="accent1">
                  <a:lumMod val="100000"/>
                </a:schemeClr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34340" y="944880"/>
            <a:ext cx="7527925" cy="5835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/>
              <a:t>3.</a:t>
            </a:r>
            <a:r>
              <a:rPr lang="zh-CN" altLang="en-US" sz="1600"/>
              <a:t>未知节点定位（</a:t>
            </a:r>
            <a:r>
              <a:rPr lang="en-US" altLang="zh-CN" sz="1600"/>
              <a:t>Localization Estimation</a:t>
            </a:r>
            <a:r>
              <a:rPr lang="zh-CN" altLang="en-US" sz="1600"/>
              <a:t>）</a:t>
            </a:r>
            <a:endParaRPr lang="zh-CN" altLang="en-US" sz="1600"/>
          </a:p>
          <a:p>
            <a:r>
              <a:rPr lang="zh-CN" altLang="en-US" sz="1600"/>
              <a:t> 未知节点估计与锚节点的距离：</a:t>
            </a:r>
            <a:endParaRPr lang="zh-CN" altLang="en-US" sz="160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4455" y="1743710"/>
            <a:ext cx="5890895" cy="138620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70230" y="3384550"/>
            <a:ext cx="8689975" cy="5835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/>
              <a:t>传统 </a:t>
            </a:r>
            <a:r>
              <a:rPr lang="en-US" altLang="zh-CN" sz="1600"/>
              <a:t>DV-Hop </a:t>
            </a:r>
            <a:r>
              <a:rPr lang="zh-CN" altLang="en-US" sz="1600"/>
              <a:t>仅用最小二乘法求解上述优化问题，容易陷入局部最优。</a:t>
            </a:r>
            <a:endParaRPr lang="zh-CN" altLang="en-US" sz="1600"/>
          </a:p>
          <a:p>
            <a:r>
              <a:rPr lang="en-US" altLang="zh-CN" sz="1600"/>
              <a:t>PPLO-DV-Hop </a:t>
            </a:r>
            <a:r>
              <a:rPr lang="zh-CN" altLang="en-US" sz="1600"/>
              <a:t>页 使用 </a:t>
            </a:r>
            <a:r>
              <a:rPr lang="en-US" altLang="zh-CN" sz="1600"/>
              <a:t>PPLO </a:t>
            </a:r>
            <a:r>
              <a:rPr lang="zh-CN" altLang="en-US" sz="1600"/>
              <a:t>算法对未知节点坐标进行全局搜索优化：</a:t>
            </a:r>
            <a:endParaRPr lang="zh-CN" altLang="en-US" sz="160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685" y="4126865"/>
            <a:ext cx="5793740" cy="203581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6931660" y="3789998"/>
            <a:ext cx="5080000" cy="2372360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lang="en-US" altLang="zh-CN" sz="2200" b="1"/>
              <a:t>PPLO </a:t>
            </a:r>
            <a:r>
              <a:rPr lang="zh-CN" altLang="en-US" sz="2200" b="1"/>
              <a:t>算法用于定位优化：</a:t>
            </a:r>
            <a:endParaRPr lang="zh-CN" altLang="en-US" sz="2200" b="1"/>
          </a:p>
          <a:p>
            <a:pPr>
              <a:buFont typeface="Arial" panose="020B0604020202020204"/>
              <a:buChar char="•"/>
            </a:pPr>
            <a:r>
              <a:rPr lang="zh-CN" altLang="en-US" sz="1600"/>
              <a:t>初始种群通过 </a:t>
            </a:r>
            <a:r>
              <a:rPr lang="en-US" altLang="zh-CN" sz="1600"/>
              <a:t>Sobol </a:t>
            </a:r>
            <a:r>
              <a:rPr lang="zh-CN" altLang="en-US" sz="1600"/>
              <a:t>序列生成；</a:t>
            </a:r>
            <a:endParaRPr lang="zh-CN" altLang="en-US" sz="1600"/>
          </a:p>
          <a:p>
            <a:pPr>
              <a:buFont typeface="Arial" panose="020B0604020202020204"/>
              <a:buChar char="•"/>
            </a:pPr>
            <a:endParaRPr lang="zh-CN" altLang="en-US" sz="1600"/>
          </a:p>
          <a:p>
            <a:pPr>
              <a:buFont typeface="Arial" panose="020B0604020202020204"/>
              <a:buChar char="•"/>
            </a:pPr>
            <a:r>
              <a:rPr lang="zh-CN" altLang="en-US" sz="1600"/>
              <a:t>采用并行子群与精英池机制，防止陷入局部最优；</a:t>
            </a:r>
            <a:endParaRPr lang="zh-CN" altLang="en-US" sz="1600"/>
          </a:p>
          <a:p>
            <a:pPr>
              <a:buFont typeface="Arial" panose="020B0604020202020204"/>
              <a:buChar char="•"/>
            </a:pPr>
            <a:endParaRPr lang="zh-CN" altLang="en-US" sz="1600"/>
          </a:p>
          <a:p>
            <a:pPr>
              <a:buFont typeface="Arial" panose="020B0604020202020204"/>
              <a:buChar char="•"/>
            </a:pPr>
            <a:r>
              <a:rPr lang="zh-CN" altLang="en-US" sz="1600"/>
              <a:t>后期使用 </a:t>
            </a:r>
            <a:r>
              <a:rPr lang="en-US" altLang="zh-CN" sz="1600"/>
              <a:t>Lévy </a:t>
            </a:r>
            <a:r>
              <a:rPr lang="zh-CN" altLang="en-US" sz="1600"/>
              <a:t>飞行 </a:t>
            </a:r>
            <a:r>
              <a:rPr lang="en-US" altLang="zh-CN" sz="1600"/>
              <a:t>+ </a:t>
            </a:r>
            <a:r>
              <a:rPr lang="zh-CN" altLang="en-US" sz="1600"/>
              <a:t>梯度微调进一步降低误差；</a:t>
            </a:r>
            <a:endParaRPr lang="zh-CN" altLang="en-US" sz="1600"/>
          </a:p>
          <a:p>
            <a:pPr>
              <a:buFont typeface="Arial" panose="020B0604020202020204"/>
              <a:buChar char="•"/>
            </a:pPr>
            <a:endParaRPr lang="zh-CN" altLang="en-US" sz="1600"/>
          </a:p>
          <a:p>
            <a:pPr>
              <a:buFont typeface="Arial" panose="020B0604020202020204"/>
              <a:buChar char="•"/>
            </a:pPr>
            <a:r>
              <a:rPr lang="zh-CN" altLang="en-US" sz="1600"/>
              <a:t>目标是 最小化全网平均定位误差 </a:t>
            </a:r>
            <a:r>
              <a:rPr lang="en-US" altLang="zh-CN" sz="1600"/>
              <a:t>(ALE)</a:t>
            </a:r>
            <a:r>
              <a:rPr lang="zh-CN" altLang="en-US" sz="1600"/>
              <a:t>。</a:t>
            </a:r>
            <a:endParaRPr lang="zh-CN" altLang="en-US" sz="1600"/>
          </a:p>
        </p:txBody>
      </p:sp>
    </p:spTree>
  </p:cSld>
  <p:clrMapOvr>
    <a:masterClrMapping/>
  </p:clrMapOvr>
  <p:transition spd="slow">
    <p:cover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35361" y="116633"/>
            <a:ext cx="11569986" cy="6681374"/>
            <a:chOff x="335361" y="116633"/>
            <a:chExt cx="11569986" cy="6681374"/>
          </a:xfrm>
        </p:grpSpPr>
        <p:grpSp>
          <p:nvGrpSpPr>
            <p:cNvPr id="3" name="组合 2"/>
            <p:cNvGrpSpPr/>
            <p:nvPr/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8" name="平行四边形 7"/>
              <p:cNvSpPr/>
              <p:nvPr/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chemeClr val="accent1">
                  <a:lumMod val="100000"/>
                </a:schemeClr>
              </a:solidFill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/>
              <p:cNvSpPr/>
              <p:nvPr/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4" name="直接连接符 3"/>
            <p:cNvCxnSpPr/>
            <p:nvPr/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chemeClr val="accent1">
                  <a:lumMod val="100000"/>
                </a:schemeClr>
              </a:solidFill>
              <a:prstDash val="solid"/>
            </a:ln>
            <a:effectLst/>
          </p:spPr>
        </p:cxnSp>
        <p:sp>
          <p:nvSpPr>
            <p:cNvPr id="5" name="文本占位符 5"/>
            <p:cNvSpPr txBox="1"/>
            <p:nvPr/>
          </p:nvSpPr>
          <p:spPr>
            <a:xfrm>
              <a:off x="1127206" y="194103"/>
              <a:ext cx="6715125" cy="6127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1" kern="1200">
                  <a:solidFill>
                    <a:srgbClr val="024282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lang="en-US" altLang="zh-CN" noProof="0" dirty="0">
                  <a:ln>
                    <a:noFill/>
                  </a:ln>
                  <a:solidFill>
                    <a:schemeClr val="accent1">
                      <a:lumMod val="100000"/>
                    </a:schemeClr>
                  </a:solidFill>
                  <a:effectLst/>
                  <a:uLnTx/>
                  <a:uFillTx/>
                  <a:sym typeface="+mn-ea"/>
                </a:rPr>
                <a:t>3D WSN </a:t>
              </a:r>
              <a:r>
                <a:rPr lang="zh-CN" altLang="en-US" noProof="0" dirty="0">
                  <a:ln>
                    <a:noFill/>
                  </a:ln>
                  <a:solidFill>
                    <a:schemeClr val="accent1">
                      <a:lumMod val="100000"/>
                    </a:schemeClr>
                  </a:solidFill>
                  <a:effectLst/>
                  <a:uLnTx/>
                  <a:uFillTx/>
                  <a:sym typeface="+mn-ea"/>
                </a:rPr>
                <a:t>节点定位</a:t>
              </a: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0805366" y="6428675"/>
              <a:ext cx="10999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rPr>
                <a:t>JUNE 12</a:t>
              </a:r>
              <a:r>
                <a:rPr kumimoji="0" lang="en-US" altLang="zh-CN" sz="1800" b="1" i="0" u="none" strike="noStrike" kern="0" cap="none" spc="0" normalizeH="0" baseline="3000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rPr>
                <a:t>th</a:t>
              </a:r>
              <a:endParaRPr kumimoji="0" lang="zh-CN" altLang="en-US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364490" y="819785"/>
            <a:ext cx="11513185" cy="5461635"/>
          </a:xfrm>
          <a:prstGeom prst="rect">
            <a:avLst/>
          </a:prstGeom>
          <a:solidFill>
            <a:schemeClr val="accent1">
              <a:lumMod val="100000"/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5033" y="6425619"/>
            <a:ext cx="27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accent1">
                    <a:lumMod val="100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惟真求新</a:t>
            </a:r>
            <a:endParaRPr lang="zh-CN" altLang="en-US" dirty="0">
              <a:solidFill>
                <a:schemeClr val="accent1">
                  <a:lumMod val="100000"/>
                </a:schemeClr>
              </a:solidFill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643255" y="1856105"/>
          <a:ext cx="10485120" cy="0"/>
        </p:xfrm>
        <a:graphic>
          <a:graphicData uri="http://schemas.openxmlformats.org/drawingml/2006/table">
            <a:tbl>
              <a:tblPr/>
              <a:tblGrid>
                <a:gridCol w="5242560"/>
                <a:gridCol w="5242560"/>
              </a:tblGrid>
              <a:tr h="0">
                <a:tc>
                  <a:txBody>
                    <a:bodyPr/>
                    <a:p>
                      <a:r>
                        <a:rPr lang="zh-CN" altLang="en-US" sz="1100"/>
                        <a:t>参数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值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zh-CN" altLang="en-US" sz="1100"/>
                        <a:t>网络区域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100 × 100 × 100 m³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zh-CN" altLang="en-US" sz="1100"/>
                        <a:t>节点总数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200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zh-CN" altLang="en-US" sz="1100"/>
                        <a:t>锚节点数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30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zh-CN" altLang="en-US" sz="1100"/>
                        <a:t>未知节点数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170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zh-CN" altLang="en-US" sz="1100"/>
                        <a:t>通信半径 </a:t>
                      </a:r>
                      <a:r>
                        <a:rPr lang="en-US" altLang="zh-CN" sz="1100"/>
                        <a:t>R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25, 30, 35, 40, 45, 50 m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zh-CN" altLang="en-US" sz="1100"/>
                        <a:t>仿真次数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30 </a:t>
                      </a:r>
                      <a:r>
                        <a:rPr lang="zh-CN" altLang="en-US" sz="1100"/>
                        <a:t>次独立实验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zh-CN" altLang="en-US" sz="1100"/>
                        <a:t>对比算法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原始 </a:t>
                      </a:r>
                      <a:r>
                        <a:rPr lang="en-US" altLang="zh-CN" sz="1100"/>
                        <a:t>DV-Hop</a:t>
                      </a:r>
                      <a:r>
                        <a:rPr lang="zh-CN" altLang="en-US" sz="1100"/>
                        <a:t>、</a:t>
                      </a:r>
                      <a:r>
                        <a:rPr lang="en-US" altLang="zh-CN" sz="1100"/>
                        <a:t>WOA-DV-Hop</a:t>
                      </a:r>
                      <a:r>
                        <a:rPr lang="zh-CN" altLang="en-US" sz="1100"/>
                        <a:t>、</a:t>
                      </a:r>
                      <a:r>
                        <a:rPr lang="en-US" altLang="zh-CN" sz="1100"/>
                        <a:t>PPLO-DV-Hop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557530" y="112426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1600"/>
              <a:t>三、实验设置</a:t>
            </a:r>
            <a:endParaRPr lang="zh-CN" altLang="en-US" sz="1600"/>
          </a:p>
        </p:txBody>
      </p:sp>
      <p:sp>
        <p:nvSpPr>
          <p:cNvPr id="12" name="文本框 11"/>
          <p:cNvSpPr txBox="1"/>
          <p:nvPr/>
        </p:nvSpPr>
        <p:spPr>
          <a:xfrm>
            <a:off x="364490" y="338169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1600"/>
              <a:t>四、实验评价指标</a:t>
            </a:r>
            <a:endParaRPr lang="zh-CN" altLang="en-US" sz="160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540" y="4021455"/>
            <a:ext cx="4871720" cy="184467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0170" y="3953510"/>
            <a:ext cx="5048250" cy="198120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6226810" y="338169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1600"/>
              <a:t>五、结果与对比分析</a:t>
            </a:r>
            <a:endParaRPr lang="zh-CN" altLang="en-US" sz="1600"/>
          </a:p>
        </p:txBody>
      </p:sp>
    </p:spTree>
  </p:cSld>
  <p:clrMapOvr>
    <a:masterClrMapping/>
  </p:clrMapOvr>
  <p:transition spd="slow">
    <p:cover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35361" y="116633"/>
            <a:ext cx="11569986" cy="6681374"/>
            <a:chOff x="335361" y="116633"/>
            <a:chExt cx="11569986" cy="6681374"/>
          </a:xfrm>
        </p:grpSpPr>
        <p:grpSp>
          <p:nvGrpSpPr>
            <p:cNvPr id="3" name="组合 2"/>
            <p:cNvGrpSpPr/>
            <p:nvPr/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8" name="平行四边形 7"/>
              <p:cNvSpPr/>
              <p:nvPr/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chemeClr val="accent1">
                  <a:lumMod val="100000"/>
                </a:schemeClr>
              </a:solidFill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/>
              <p:cNvSpPr/>
              <p:nvPr/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4" name="直接连接符 3"/>
            <p:cNvCxnSpPr/>
            <p:nvPr/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chemeClr val="accent1">
                  <a:lumMod val="100000"/>
                </a:schemeClr>
              </a:solidFill>
              <a:prstDash val="solid"/>
            </a:ln>
            <a:effectLst/>
          </p:spPr>
        </p:cxnSp>
        <p:sp>
          <p:nvSpPr>
            <p:cNvPr id="5" name="文本占位符 5"/>
            <p:cNvSpPr txBox="1"/>
            <p:nvPr/>
          </p:nvSpPr>
          <p:spPr>
            <a:xfrm>
              <a:off x="1127206" y="194103"/>
              <a:ext cx="6715125" cy="6127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1" kern="1200">
                  <a:solidFill>
                    <a:srgbClr val="024282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lang="en-US" altLang="zh-CN" noProof="0" dirty="0">
                  <a:ln>
                    <a:noFill/>
                  </a:ln>
                  <a:solidFill>
                    <a:schemeClr val="accent1">
                      <a:lumMod val="100000"/>
                    </a:schemeClr>
                  </a:solidFill>
                  <a:effectLst/>
                  <a:uLnTx/>
                  <a:uFillTx/>
                  <a:sym typeface="+mn-ea"/>
                </a:rPr>
                <a:t>3D WSN </a:t>
              </a:r>
              <a:r>
                <a:rPr lang="zh-CN" altLang="en-US" noProof="0" dirty="0">
                  <a:ln>
                    <a:noFill/>
                  </a:ln>
                  <a:solidFill>
                    <a:schemeClr val="accent1">
                      <a:lumMod val="100000"/>
                    </a:schemeClr>
                  </a:solidFill>
                  <a:effectLst/>
                  <a:uLnTx/>
                  <a:uFillTx/>
                  <a:sym typeface="+mn-ea"/>
                </a:rPr>
                <a:t>节点定位</a:t>
              </a: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0805366" y="6428675"/>
              <a:ext cx="10999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rPr>
                <a:t>JUNE 12</a:t>
              </a:r>
              <a:r>
                <a:rPr kumimoji="0" lang="en-US" altLang="zh-CN" sz="1800" b="1" i="0" u="none" strike="noStrike" kern="0" cap="none" spc="0" normalizeH="0" baseline="3000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rPr>
                <a:t>th</a:t>
              </a:r>
              <a:endParaRPr kumimoji="0" lang="zh-CN" altLang="en-US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364490" y="819785"/>
            <a:ext cx="11513185" cy="5461635"/>
          </a:xfrm>
          <a:prstGeom prst="rect">
            <a:avLst/>
          </a:prstGeom>
          <a:solidFill>
            <a:schemeClr val="accent1">
              <a:lumMod val="100000"/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5033" y="6425619"/>
            <a:ext cx="27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accent1">
                    <a:lumMod val="100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惟真求新</a:t>
            </a:r>
            <a:endParaRPr lang="zh-CN" altLang="en-US" dirty="0">
              <a:solidFill>
                <a:schemeClr val="accent1">
                  <a:lumMod val="100000"/>
                </a:schemeClr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67665" y="3549650"/>
            <a:ext cx="4121785" cy="156845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/>
              <a:t>曲线趋势：所有算法误差随 </a:t>
            </a:r>
            <a:r>
              <a:rPr lang="en-US" altLang="zh-CN" sz="1600"/>
              <a:t>R </a:t>
            </a:r>
            <a:r>
              <a:rPr lang="zh-CN" altLang="en-US" sz="1600"/>
              <a:t>增大而减小；</a:t>
            </a:r>
            <a:endParaRPr lang="zh-CN" altLang="en-US" sz="1600"/>
          </a:p>
          <a:p>
            <a:r>
              <a:rPr lang="en-US" altLang="zh-CN" sz="1600"/>
              <a:t>PPLO-DV-Hop </a:t>
            </a:r>
            <a:r>
              <a:rPr lang="zh-CN" altLang="en-US" sz="1600"/>
              <a:t>始终保持最低 </a:t>
            </a:r>
            <a:r>
              <a:rPr lang="en-US" altLang="zh-CN" sz="1600"/>
              <a:t>ALE </a:t>
            </a:r>
            <a:r>
              <a:rPr lang="zh-CN" altLang="en-US" sz="1600"/>
              <a:t>值；</a:t>
            </a:r>
            <a:endParaRPr lang="zh-CN" altLang="en-US" sz="1600"/>
          </a:p>
          <a:p>
            <a:r>
              <a:rPr lang="zh-CN" altLang="en-US" sz="1600"/>
              <a:t>在 </a:t>
            </a:r>
            <a:r>
              <a:rPr lang="en-US" altLang="zh-CN" sz="1600"/>
              <a:t>R = 30m </a:t>
            </a:r>
            <a:r>
              <a:rPr lang="zh-CN" altLang="en-US" sz="1600"/>
              <a:t>时，</a:t>
            </a:r>
            <a:r>
              <a:rPr lang="en-US" altLang="zh-CN" sz="1600"/>
              <a:t>ALE </a:t>
            </a:r>
            <a:r>
              <a:rPr lang="zh-CN" altLang="en-US" sz="1600"/>
              <a:t>从 </a:t>
            </a:r>
            <a:r>
              <a:rPr lang="en-US" altLang="zh-CN" sz="1600"/>
              <a:t>1.8574 </a:t>
            </a:r>
            <a:r>
              <a:rPr lang="zh-CN" altLang="en-US" sz="1600"/>
              <a:t>降至 </a:t>
            </a:r>
            <a:r>
              <a:rPr lang="en-US" altLang="zh-CN" sz="1600"/>
              <a:t>1.3244</a:t>
            </a:r>
            <a:r>
              <a:rPr lang="zh-CN" altLang="en-US" sz="1600"/>
              <a:t>（下降 </a:t>
            </a:r>
            <a:r>
              <a:rPr lang="en-US" altLang="zh-CN" sz="1600"/>
              <a:t>28.7%</a:t>
            </a:r>
            <a:r>
              <a:rPr lang="zh-CN" altLang="en-US" sz="1600"/>
              <a:t>）；</a:t>
            </a:r>
            <a:endParaRPr lang="zh-CN" altLang="en-US" sz="1600"/>
          </a:p>
          <a:p>
            <a:r>
              <a:rPr lang="zh-CN" altLang="en-US" sz="1600"/>
              <a:t>在 </a:t>
            </a:r>
            <a:r>
              <a:rPr lang="en-US" altLang="zh-CN" sz="1600"/>
              <a:t>R = 50m </a:t>
            </a:r>
            <a:r>
              <a:rPr lang="zh-CN" altLang="en-US" sz="1600"/>
              <a:t>时仍保持微弱下降趋势，说明 </a:t>
            </a:r>
            <a:r>
              <a:rPr lang="en-US" altLang="zh-CN" sz="1600"/>
              <a:t>PPLO-DV-Hop </a:t>
            </a:r>
            <a:r>
              <a:rPr lang="zh-CN" altLang="en-US" sz="1600"/>
              <a:t>稳定性更好。</a:t>
            </a:r>
            <a:endParaRPr lang="zh-CN" altLang="en-US" sz="160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685" y="889635"/>
            <a:ext cx="3771900" cy="2419350"/>
          </a:xfrm>
          <a:prstGeom prst="rect">
            <a:avLst/>
          </a:prstGeom>
        </p:spPr>
      </p:pic>
      <p:graphicFrame>
        <p:nvGraphicFramePr>
          <p:cNvPr id="12" name="表格 11"/>
          <p:cNvGraphicFramePr/>
          <p:nvPr>
            <p:custDataLst>
              <p:tags r:id="rId2"/>
            </p:custDataLst>
          </p:nvPr>
        </p:nvGraphicFramePr>
        <p:xfrm>
          <a:off x="471170" y="5266690"/>
          <a:ext cx="6143625" cy="838200"/>
        </p:xfrm>
        <a:graphic>
          <a:graphicData uri="http://schemas.openxmlformats.org/drawingml/2006/table">
            <a:tbl>
              <a:tblPr/>
              <a:tblGrid>
                <a:gridCol w="1228725"/>
                <a:gridCol w="1228725"/>
                <a:gridCol w="1228725"/>
                <a:gridCol w="1228725"/>
                <a:gridCol w="1228725"/>
              </a:tblGrid>
              <a:tr h="0">
                <a:tc>
                  <a:txBody>
                    <a:bodyPr/>
                    <a:p>
                      <a:r>
                        <a:rPr lang="zh-CN" altLang="en-US" sz="1100"/>
                        <a:t>性能指标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DV-Hop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WOA-DV-Hop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PPLO-DV-Hop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改进率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zh-CN" altLang="en-US" sz="1100"/>
                        <a:t>平均 </a:t>
                      </a:r>
                      <a:r>
                        <a:rPr lang="en-US" altLang="zh-CN" sz="1100"/>
                        <a:t>ALE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1.705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1.378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1.253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↑ 26.5%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zh-CN" altLang="en-US" sz="1100"/>
                        <a:t>稳定性（方差）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高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中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最低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提升显著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zh-CN" altLang="en-US" sz="1100"/>
                        <a:t>收敛速度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慢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中等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快且平稳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—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zh-CN" altLang="en-US" sz="1100"/>
                        <a:t>高维可扩展性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弱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一般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优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—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8815" y="869950"/>
            <a:ext cx="3524250" cy="264795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3875" y="861695"/>
            <a:ext cx="3733800" cy="269875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4272915" y="3637915"/>
            <a:ext cx="1520190" cy="991870"/>
          </a:xfrm>
          <a:prstGeom prst="rect">
            <a:avLst/>
          </a:prstGeom>
        </p:spPr>
        <p:txBody>
          <a:bodyPr>
            <a:noAutofit/>
          </a:bodyPr>
          <a:p>
            <a:r>
              <a:rPr lang="zh-CN" altLang="en-US" sz="1600"/>
              <a:t>可见 </a:t>
            </a:r>
            <a:r>
              <a:rPr lang="en-US" altLang="zh-CN" sz="1600"/>
              <a:t>PPLO-DV-Hop </a:t>
            </a:r>
            <a:r>
              <a:rPr lang="zh-CN" altLang="en-US" sz="1600"/>
              <a:t>的误差线更短、更集中。</a:t>
            </a:r>
            <a:endParaRPr lang="zh-CN" altLang="en-US" sz="1600"/>
          </a:p>
        </p:txBody>
      </p:sp>
      <p:sp>
        <p:nvSpPr>
          <p:cNvPr id="16" name="文本框 15"/>
          <p:cNvSpPr txBox="1"/>
          <p:nvPr/>
        </p:nvSpPr>
        <p:spPr>
          <a:xfrm>
            <a:off x="6072505" y="3612515"/>
            <a:ext cx="5784215" cy="2606675"/>
          </a:xfrm>
          <a:prstGeom prst="rect">
            <a:avLst/>
          </a:prstGeom>
        </p:spPr>
        <p:txBody>
          <a:bodyPr>
            <a:noAutofit/>
          </a:bodyPr>
          <a:p>
            <a:r>
              <a:rPr lang="zh-CN" altLang="en-US" sz="1600"/>
              <a:t>定位精度提升显著： 平均误差较传统 </a:t>
            </a:r>
            <a:r>
              <a:rPr lang="en-US" altLang="zh-CN" sz="1600"/>
              <a:t>DV-Hop </a:t>
            </a:r>
            <a:r>
              <a:rPr lang="zh-CN" altLang="en-US" sz="1600"/>
              <a:t>降低约 </a:t>
            </a:r>
            <a:r>
              <a:rPr lang="en-US" altLang="zh-CN" sz="1600"/>
              <a:t>26.5%</a:t>
            </a:r>
            <a:r>
              <a:rPr lang="zh-CN" altLang="en-US" sz="1600"/>
              <a:t>，较 </a:t>
            </a:r>
            <a:r>
              <a:rPr lang="en-US" altLang="zh-CN" sz="1600"/>
              <a:t>WOA-DV-Hop </a:t>
            </a:r>
            <a:r>
              <a:rPr lang="zh-CN" altLang="en-US" sz="1600"/>
              <a:t>降低约 </a:t>
            </a:r>
            <a:r>
              <a:rPr lang="en-US" altLang="zh-CN" sz="1600"/>
              <a:t>9.1%</a:t>
            </a:r>
            <a:r>
              <a:rPr lang="zh-CN" altLang="en-US" sz="1600"/>
              <a:t>。稳定性更好： </a:t>
            </a:r>
            <a:r>
              <a:rPr lang="en-US" altLang="zh-CN" sz="1600"/>
              <a:t>ALE </a:t>
            </a:r>
            <a:r>
              <a:rPr lang="zh-CN" altLang="en-US" sz="1600"/>
              <a:t>方差显著减小，说明 </a:t>
            </a:r>
            <a:r>
              <a:rPr lang="en-US" altLang="zh-CN" sz="1600"/>
              <a:t>PPLO-DV-Hop </a:t>
            </a:r>
            <a:r>
              <a:rPr lang="zh-CN" altLang="en-US" sz="1600"/>
              <a:t>对随机初值不敏感。收敛速度快： </a:t>
            </a:r>
            <a:r>
              <a:rPr lang="en-US" altLang="zh-CN" sz="1600"/>
              <a:t>PPLO </a:t>
            </a:r>
            <a:r>
              <a:rPr lang="zh-CN" altLang="en-US" sz="1600"/>
              <a:t>在 </a:t>
            </a:r>
            <a:r>
              <a:rPr lang="en-US" altLang="zh-CN" sz="1600"/>
              <a:t>200 </a:t>
            </a:r>
            <a:r>
              <a:rPr lang="zh-CN" altLang="en-US" sz="1600"/>
              <a:t>次迭代内达到稳定，而 </a:t>
            </a:r>
            <a:r>
              <a:rPr lang="en-US" altLang="zh-CN" sz="1600"/>
              <a:t>WOA </a:t>
            </a:r>
            <a:r>
              <a:rPr lang="zh-CN" altLang="en-US" sz="1600"/>
              <a:t>约需 </a:t>
            </a:r>
            <a:r>
              <a:rPr lang="en-US" altLang="zh-CN" sz="1600"/>
              <a:t>400 </a:t>
            </a:r>
            <a:r>
              <a:rPr lang="zh-CN" altLang="en-US" sz="1600"/>
              <a:t>次。全局性与可扩展性强： 多子群并行结构使算法在大规模 </a:t>
            </a:r>
            <a:r>
              <a:rPr lang="en-US" altLang="zh-CN" sz="1600"/>
              <a:t>3D </a:t>
            </a:r>
            <a:r>
              <a:rPr lang="zh-CN" altLang="en-US" sz="1600"/>
              <a:t>网络中仍具良好性能。工程可应用性： 可用于无人机集群协同定位、传感器部署优化、物联网节点重定位等场景。</a:t>
            </a:r>
            <a:endParaRPr lang="zh-CN" altLang="en-US" sz="1600"/>
          </a:p>
        </p:txBody>
      </p:sp>
    </p:spTree>
  </p:cSld>
  <p:clrMapOvr>
    <a:masterClrMapping/>
  </p:clrMapOvr>
  <p:transition spd="slow">
    <p:cover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35361" y="116633"/>
            <a:ext cx="11569986" cy="6681374"/>
            <a:chOff x="335361" y="116633"/>
            <a:chExt cx="11569986" cy="6681374"/>
          </a:xfrm>
        </p:grpSpPr>
        <p:grpSp>
          <p:nvGrpSpPr>
            <p:cNvPr id="3" name="组合 2"/>
            <p:cNvGrpSpPr/>
            <p:nvPr/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8" name="平行四边形 7"/>
              <p:cNvSpPr/>
              <p:nvPr/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chemeClr val="accent1">
                  <a:lumMod val="100000"/>
                </a:schemeClr>
              </a:solidFill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/>
              <p:cNvSpPr/>
              <p:nvPr/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4" name="直接连接符 3"/>
            <p:cNvCxnSpPr/>
            <p:nvPr/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chemeClr val="accent1">
                  <a:lumMod val="100000"/>
                </a:schemeClr>
              </a:solidFill>
              <a:prstDash val="solid"/>
            </a:ln>
            <a:effectLst/>
          </p:spPr>
        </p:cxnSp>
        <p:sp>
          <p:nvSpPr>
            <p:cNvPr id="5" name="文本占位符 5"/>
            <p:cNvSpPr txBox="1"/>
            <p:nvPr/>
          </p:nvSpPr>
          <p:spPr>
            <a:xfrm>
              <a:off x="1127206" y="194103"/>
              <a:ext cx="6715125" cy="6127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1" kern="1200">
                  <a:solidFill>
                    <a:srgbClr val="024282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lang="zh-CN" altLang="en-US" dirty="0">
                  <a:solidFill>
                    <a:srgbClr val="768394">
                      <a:lumMod val="75000"/>
                    </a:srgbClr>
                  </a:solidFill>
                  <a:latin typeface="Arial" panose="020B0604020202020204"/>
                  <a:cs typeface="+mn-ea"/>
                  <a:sym typeface="+mn-lt"/>
                </a:rPr>
                <a:t>结论</a:t>
              </a:r>
              <a:endParaRPr lang="zh-CN" altLang="en-US" dirty="0">
                <a:solidFill>
                  <a:srgbClr val="768394">
                    <a:lumMod val="75000"/>
                  </a:srgbClr>
                </a:solidFill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0805366" y="6428675"/>
              <a:ext cx="10999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rPr>
                <a:t>JUNE 12</a:t>
              </a:r>
              <a:r>
                <a:rPr kumimoji="0" lang="en-US" altLang="zh-CN" sz="1800" b="1" i="0" u="none" strike="noStrike" kern="0" cap="none" spc="0" normalizeH="0" baseline="3000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rPr>
                <a:t>th</a:t>
              </a:r>
              <a:endParaRPr kumimoji="0" lang="zh-CN" altLang="en-US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364490" y="819785"/>
            <a:ext cx="11513185" cy="5461635"/>
          </a:xfrm>
          <a:prstGeom prst="rect">
            <a:avLst/>
          </a:prstGeom>
          <a:solidFill>
            <a:schemeClr val="accent1">
              <a:lumMod val="100000"/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5033" y="6425619"/>
            <a:ext cx="27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accent1">
                    <a:lumMod val="100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惟真求新</a:t>
            </a:r>
            <a:endParaRPr lang="zh-CN" altLang="en-US" dirty="0">
              <a:solidFill>
                <a:schemeClr val="accent1">
                  <a:lumMod val="100000"/>
                </a:schemeClr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35280" y="812165"/>
            <a:ext cx="11541760" cy="5180330"/>
          </a:xfrm>
          <a:prstGeom prst="rect">
            <a:avLst/>
          </a:prstGeom>
        </p:spPr>
        <p:txBody>
          <a:bodyPr>
            <a:noAutofit/>
          </a:bodyPr>
          <a:p>
            <a:pPr>
              <a:spcAft>
                <a:spcPct val="60000"/>
              </a:spcAft>
            </a:pPr>
            <a:r>
              <a:rPr lang="en-US" altLang="zh-CN" sz="2300" b="1"/>
              <a:t>1</a:t>
            </a:r>
            <a:r>
              <a:rPr lang="zh-CN" altLang="en-US" sz="2300" b="1"/>
              <a:t>研究目标与创新回顾</a:t>
            </a:r>
            <a:endParaRPr lang="zh-CN" altLang="en-US" sz="2300" b="1"/>
          </a:p>
          <a:p>
            <a:r>
              <a:rPr lang="zh-CN" altLang="en-US" sz="1600"/>
              <a:t>论文提出 </a:t>
            </a:r>
            <a:r>
              <a:rPr lang="en-US" altLang="zh-CN" sz="1600"/>
              <a:t>PPLO</a:t>
            </a:r>
            <a:r>
              <a:rPr lang="zh-CN" altLang="en-US" sz="1600"/>
              <a:t>（</a:t>
            </a:r>
            <a:r>
              <a:rPr lang="en-US" altLang="zh-CN" sz="1600"/>
              <a:t>Parallel Polarization Learning Optimizer</a:t>
            </a:r>
            <a:r>
              <a:rPr lang="zh-CN" altLang="en-US" sz="1600"/>
              <a:t>），这是对 </a:t>
            </a:r>
            <a:r>
              <a:rPr lang="en-US" altLang="zh-CN" sz="1600"/>
              <a:t>PLO</a:t>
            </a:r>
            <a:r>
              <a:rPr lang="zh-CN" altLang="en-US" sz="1600"/>
              <a:t>（</a:t>
            </a:r>
            <a:r>
              <a:rPr lang="en-US" altLang="zh-CN" sz="1600"/>
              <a:t>Polarization Learning Optimizer</a:t>
            </a:r>
            <a:r>
              <a:rPr lang="zh-CN" altLang="en-US" sz="1600"/>
              <a:t>）的增强版。</a:t>
            </a:r>
            <a:endParaRPr lang="zh-CN" altLang="en-US" sz="1600"/>
          </a:p>
          <a:p>
            <a:r>
              <a:rPr lang="zh-CN" altLang="en-US" sz="1600"/>
              <a:t>主要创新：</a:t>
            </a:r>
            <a:endParaRPr lang="zh-CN" altLang="en-US" sz="1600"/>
          </a:p>
          <a:p>
            <a:endParaRPr lang="zh-CN" altLang="en-US" sz="1600"/>
          </a:p>
          <a:p>
            <a:pPr>
              <a:buAutoNum type="arabicPeriod"/>
            </a:pPr>
            <a:r>
              <a:rPr lang="en-US" altLang="zh-CN" sz="1600"/>
              <a:t>Sobol </a:t>
            </a:r>
            <a:r>
              <a:rPr lang="zh-CN" altLang="en-US" sz="1600"/>
              <a:t>序列初始化 </a:t>
            </a:r>
            <a:r>
              <a:rPr lang="en-US" altLang="zh-CN" sz="1600"/>
              <a:t>→ </a:t>
            </a:r>
            <a:r>
              <a:rPr lang="zh-CN" altLang="en-US" sz="1600"/>
              <a:t>提高搜索空间覆盖度；</a:t>
            </a:r>
            <a:endParaRPr lang="zh-CN" altLang="en-US" sz="1600"/>
          </a:p>
          <a:p>
            <a:pPr>
              <a:buAutoNum type="arabicPeriod"/>
            </a:pPr>
            <a:endParaRPr lang="zh-CN" altLang="en-US" sz="1600"/>
          </a:p>
          <a:p>
            <a:pPr>
              <a:buAutoNum type="arabicPeriod"/>
            </a:pPr>
            <a:r>
              <a:rPr lang="zh-CN" altLang="en-US" sz="1600"/>
              <a:t>并行子群结构 </a:t>
            </a:r>
            <a:r>
              <a:rPr lang="en-US" altLang="zh-CN" sz="1600"/>
              <a:t>+ </a:t>
            </a:r>
            <a:r>
              <a:rPr lang="zh-CN" altLang="en-US" sz="1600"/>
              <a:t>精英迁移机制 </a:t>
            </a:r>
            <a:r>
              <a:rPr lang="en-US" altLang="zh-CN" sz="1600"/>
              <a:t>→ </a:t>
            </a:r>
            <a:r>
              <a:rPr lang="zh-CN" altLang="en-US" sz="1600"/>
              <a:t>保持多样性、促进全局交流；</a:t>
            </a:r>
            <a:endParaRPr lang="zh-CN" altLang="en-US" sz="1600"/>
          </a:p>
          <a:p>
            <a:pPr>
              <a:buAutoNum type="arabicPeriod"/>
            </a:pPr>
            <a:endParaRPr lang="zh-CN" altLang="en-US" sz="1600"/>
          </a:p>
          <a:p>
            <a:pPr>
              <a:buAutoNum type="arabicPeriod"/>
            </a:pPr>
            <a:r>
              <a:rPr lang="zh-CN" altLang="en-US" sz="1600"/>
              <a:t>精英池 </a:t>
            </a:r>
            <a:r>
              <a:rPr lang="en-US" altLang="zh-CN" sz="1600"/>
              <a:t>+ </a:t>
            </a:r>
            <a:r>
              <a:rPr lang="zh-CN" altLang="en-US" sz="1600"/>
              <a:t>停滞复苏机制 </a:t>
            </a:r>
            <a:r>
              <a:rPr lang="en-US" altLang="zh-CN" sz="1600"/>
              <a:t>→ </a:t>
            </a:r>
            <a:r>
              <a:rPr lang="zh-CN" altLang="en-US" sz="1600"/>
              <a:t>避免陷入局部最优；</a:t>
            </a:r>
            <a:endParaRPr lang="zh-CN" altLang="en-US" sz="1600"/>
          </a:p>
          <a:p>
            <a:pPr>
              <a:buAutoNum type="arabicPeriod"/>
            </a:pPr>
            <a:endParaRPr lang="zh-CN" altLang="en-US" sz="1600"/>
          </a:p>
          <a:p>
            <a:pPr>
              <a:buAutoNum type="arabicPeriod"/>
            </a:pPr>
            <a:r>
              <a:rPr lang="zh-CN" altLang="en-US" sz="1600"/>
              <a:t>自适应非线性参数调整 </a:t>
            </a:r>
            <a:r>
              <a:rPr lang="en-US" altLang="zh-CN" sz="1600"/>
              <a:t>→ </a:t>
            </a:r>
            <a:r>
              <a:rPr lang="zh-CN" altLang="en-US" sz="1600"/>
              <a:t>提升收敛速度与稳定性；</a:t>
            </a:r>
            <a:endParaRPr lang="zh-CN" altLang="en-US" sz="1600"/>
          </a:p>
          <a:p>
            <a:pPr>
              <a:buAutoNum type="arabicPeriod"/>
            </a:pPr>
            <a:endParaRPr lang="zh-CN" altLang="en-US" sz="1600"/>
          </a:p>
          <a:p>
            <a:pPr>
              <a:buAutoNum type="arabicPeriod"/>
            </a:pPr>
            <a:r>
              <a:rPr lang="zh-CN" altLang="en-US" sz="1600"/>
              <a:t>后期强化策略（</a:t>
            </a:r>
            <a:r>
              <a:rPr lang="en-US" altLang="zh-CN" sz="1600"/>
              <a:t>Lévy flight + </a:t>
            </a:r>
            <a:r>
              <a:rPr lang="zh-CN" altLang="en-US" sz="1600"/>
              <a:t>梯度微调 </a:t>
            </a:r>
            <a:r>
              <a:rPr lang="en-US" altLang="zh-CN" sz="1600"/>
              <a:t>+ </a:t>
            </a:r>
            <a:r>
              <a:rPr lang="zh-CN" altLang="en-US" sz="1600"/>
              <a:t>高斯噪声） </a:t>
            </a:r>
            <a:r>
              <a:rPr lang="en-US" altLang="zh-CN" sz="1600"/>
              <a:t>→ </a:t>
            </a:r>
            <a:r>
              <a:rPr lang="zh-CN" altLang="en-US" sz="1600"/>
              <a:t>优化精度显著提升。</a:t>
            </a:r>
            <a:endParaRPr lang="zh-CN" altLang="en-US" sz="1600"/>
          </a:p>
          <a:p>
            <a:r>
              <a:rPr lang="zh-CN" altLang="en-US" sz="1600"/>
              <a:t>这五个机制协同工作，使 </a:t>
            </a:r>
            <a:r>
              <a:rPr lang="en-US" altLang="zh-CN" sz="1600"/>
              <a:t>PPLO </a:t>
            </a:r>
            <a:r>
              <a:rPr lang="zh-CN" altLang="en-US" sz="1600"/>
              <a:t>在“探索</a:t>
            </a:r>
            <a:r>
              <a:rPr lang="en-US" altLang="zh-CN" sz="1600"/>
              <a:t>–</a:t>
            </a:r>
            <a:r>
              <a:rPr lang="zh-CN" altLang="en-US" sz="1600"/>
              <a:t>利用”平衡上优于传统算法。</a:t>
            </a:r>
            <a:endParaRPr lang="zh-CN" altLang="en-US" sz="1600"/>
          </a:p>
        </p:txBody>
      </p:sp>
    </p:spTree>
  </p:cSld>
  <p:clrMapOvr>
    <a:masterClrMapping/>
  </p:clrMapOvr>
  <p:transition spd="slow">
    <p:cover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35361" y="116633"/>
            <a:ext cx="11569986" cy="6681374"/>
            <a:chOff x="335361" y="116633"/>
            <a:chExt cx="11569986" cy="6681374"/>
          </a:xfrm>
        </p:grpSpPr>
        <p:grpSp>
          <p:nvGrpSpPr>
            <p:cNvPr id="3" name="组合 2"/>
            <p:cNvGrpSpPr/>
            <p:nvPr/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8" name="平行四边形 7"/>
              <p:cNvSpPr/>
              <p:nvPr/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chemeClr val="accent1">
                  <a:lumMod val="100000"/>
                </a:schemeClr>
              </a:solidFill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/>
              <p:cNvSpPr/>
              <p:nvPr/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4" name="直接连接符 3"/>
            <p:cNvCxnSpPr/>
            <p:nvPr/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chemeClr val="accent1">
                  <a:lumMod val="100000"/>
                </a:schemeClr>
              </a:solidFill>
              <a:prstDash val="solid"/>
            </a:ln>
            <a:effectLst/>
          </p:spPr>
        </p:cxnSp>
        <p:sp>
          <p:nvSpPr>
            <p:cNvPr id="5" name="文本占位符 5"/>
            <p:cNvSpPr txBox="1"/>
            <p:nvPr/>
          </p:nvSpPr>
          <p:spPr>
            <a:xfrm>
              <a:off x="1127206" y="194103"/>
              <a:ext cx="6715125" cy="6127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1" kern="1200">
                  <a:solidFill>
                    <a:srgbClr val="024282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lang="en-US" altLang="zh-CN" noProof="0" dirty="0">
                  <a:ln>
                    <a:noFill/>
                  </a:ln>
                  <a:solidFill>
                    <a:schemeClr val="accent1">
                      <a:lumMod val="100000"/>
                    </a:schemeClr>
                  </a:solidFill>
                  <a:effectLst/>
                  <a:uLnTx/>
                  <a:uFillTx/>
                  <a:sym typeface="+mn-ea"/>
                </a:rPr>
                <a:t>3D WSN </a:t>
              </a:r>
              <a:r>
                <a:rPr lang="zh-CN" altLang="en-US" noProof="0" dirty="0">
                  <a:ln>
                    <a:noFill/>
                  </a:ln>
                  <a:solidFill>
                    <a:schemeClr val="accent1">
                      <a:lumMod val="100000"/>
                    </a:schemeClr>
                  </a:solidFill>
                  <a:effectLst/>
                  <a:uLnTx/>
                  <a:uFillTx/>
                  <a:sym typeface="+mn-ea"/>
                </a:rPr>
                <a:t>节点定位</a:t>
              </a: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0805366" y="6428675"/>
              <a:ext cx="10999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rPr>
                <a:t>JUNE 12</a:t>
              </a:r>
              <a:r>
                <a:rPr kumimoji="0" lang="en-US" altLang="zh-CN" sz="1800" b="1" i="0" u="none" strike="noStrike" kern="0" cap="none" spc="0" normalizeH="0" baseline="3000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rPr>
                <a:t>th</a:t>
              </a:r>
              <a:endParaRPr kumimoji="0" lang="zh-CN" altLang="en-US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392430" y="846455"/>
            <a:ext cx="11513185" cy="5461635"/>
          </a:xfrm>
          <a:prstGeom prst="rect">
            <a:avLst/>
          </a:prstGeom>
          <a:solidFill>
            <a:schemeClr val="accent1">
              <a:lumMod val="100000"/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5033" y="6425619"/>
            <a:ext cx="27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accent1">
                    <a:lumMod val="100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惟真求新</a:t>
            </a:r>
            <a:endParaRPr lang="zh-CN" altLang="en-US" dirty="0">
              <a:solidFill>
                <a:schemeClr val="accent1">
                  <a:lumMod val="100000"/>
                </a:schemeClr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3175" y="1052830"/>
            <a:ext cx="5067300" cy="15621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35280" y="1110298"/>
            <a:ext cx="5080000" cy="920750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lang="en-US" altLang="zh-CN" sz="2300" b="1"/>
              <a:t>2 </a:t>
            </a:r>
            <a:r>
              <a:rPr lang="zh-CN" altLang="en-US" sz="2300" b="1"/>
              <a:t>实验结果综合分析</a:t>
            </a:r>
            <a:endParaRPr lang="zh-CN" altLang="en-US" sz="2300" b="1"/>
          </a:p>
          <a:p>
            <a:r>
              <a:rPr lang="zh-CN" altLang="en-US" sz="1600"/>
              <a:t>论文通过三大类实验全面验证了 </a:t>
            </a:r>
            <a:r>
              <a:rPr lang="en-US" altLang="zh-CN" sz="1600"/>
              <a:t>PPLO </a:t>
            </a:r>
            <a:r>
              <a:rPr lang="zh-CN" altLang="en-US" sz="1600"/>
              <a:t>的性能：</a:t>
            </a:r>
            <a:endParaRPr lang="zh-CN" altLang="en-US" sz="1600"/>
          </a:p>
        </p:txBody>
      </p:sp>
      <p:sp>
        <p:nvSpPr>
          <p:cNvPr id="12" name="文本框 11"/>
          <p:cNvSpPr txBox="1"/>
          <p:nvPr/>
        </p:nvSpPr>
        <p:spPr>
          <a:xfrm>
            <a:off x="477520" y="2860675"/>
            <a:ext cx="11379200" cy="82994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/>
              <a:t>整体性能总结：</a:t>
            </a:r>
            <a:endParaRPr lang="zh-CN" altLang="en-US" sz="1600"/>
          </a:p>
          <a:p>
            <a:r>
              <a:rPr lang="zh-CN" altLang="en-US" sz="1600"/>
              <a:t>收敛速度更快（</a:t>
            </a:r>
            <a:r>
              <a:rPr lang="en-US" altLang="zh-CN" sz="1600"/>
              <a:t>50%</a:t>
            </a:r>
            <a:r>
              <a:rPr lang="zh-CN" altLang="en-US" sz="1600"/>
              <a:t>～</a:t>
            </a:r>
            <a:r>
              <a:rPr lang="en-US" altLang="zh-CN" sz="1600"/>
              <a:t>60% </a:t>
            </a:r>
            <a:r>
              <a:rPr lang="zh-CN" altLang="en-US" sz="1600"/>
              <a:t>迭代即可达到最优区间）；稳定性更高（误差方差降低约 </a:t>
            </a:r>
            <a:r>
              <a:rPr lang="en-US" altLang="zh-CN" sz="1600"/>
              <a:t>40%</a:t>
            </a:r>
            <a:r>
              <a:rPr lang="zh-CN" altLang="en-US" sz="1600"/>
              <a:t>）；跨领域适用性强（从数值优化到工程应用均表现优异）。</a:t>
            </a:r>
            <a:endParaRPr lang="zh-CN" altLang="en-US" sz="1600"/>
          </a:p>
        </p:txBody>
      </p:sp>
      <p:sp>
        <p:nvSpPr>
          <p:cNvPr id="15" name="文本框 14"/>
          <p:cNvSpPr txBox="1"/>
          <p:nvPr/>
        </p:nvSpPr>
        <p:spPr>
          <a:xfrm>
            <a:off x="551180" y="379190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1600"/>
              <a:t>未来工作方向</a:t>
            </a:r>
            <a:endParaRPr lang="zh-CN" altLang="en-US" sz="1600"/>
          </a:p>
        </p:txBody>
      </p:sp>
      <p:sp>
        <p:nvSpPr>
          <p:cNvPr id="16" name="文本框 15"/>
          <p:cNvSpPr txBox="1"/>
          <p:nvPr/>
        </p:nvSpPr>
        <p:spPr>
          <a:xfrm>
            <a:off x="551180" y="4231005"/>
            <a:ext cx="10056495" cy="58356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buFont typeface="Arial" panose="020B0604020202020204"/>
              <a:buChar char="•"/>
            </a:pPr>
            <a:r>
              <a:rPr lang="zh-CN" altLang="en-US" sz="1600"/>
              <a:t>为计算代价高的问题（如无人机动态避障），可引入代理模型（</a:t>
            </a:r>
            <a:r>
              <a:rPr lang="en-US" altLang="zh-CN" sz="1600"/>
              <a:t>surrogate model</a:t>
            </a:r>
            <a:r>
              <a:rPr lang="zh-CN" altLang="en-US" sz="1600"/>
              <a:t>）或神经网络预测器；</a:t>
            </a:r>
            <a:endParaRPr lang="zh-CN" altLang="en-US" sz="1600"/>
          </a:p>
          <a:p>
            <a:pPr>
              <a:buFont typeface="Arial" panose="020B0604020202020204"/>
              <a:buChar char="•"/>
            </a:pPr>
            <a:r>
              <a:rPr lang="zh-CN" altLang="en-US" sz="1600"/>
              <a:t>当前 </a:t>
            </a:r>
            <a:r>
              <a:rPr lang="en-US" altLang="zh-CN" sz="1600"/>
              <a:t>PPLO </a:t>
            </a:r>
            <a:r>
              <a:rPr lang="zh-CN" altLang="en-US" sz="1600"/>
              <a:t>为 </a:t>
            </a:r>
            <a:r>
              <a:rPr lang="en-US" altLang="zh-CN" sz="1600"/>
              <a:t>CPU </a:t>
            </a:r>
            <a:r>
              <a:rPr lang="zh-CN" altLang="en-US" sz="1600"/>
              <a:t>并行版本，可进一步迁移至 </a:t>
            </a:r>
            <a:r>
              <a:rPr lang="en-US" altLang="zh-CN" sz="1600"/>
              <a:t>GPU </a:t>
            </a:r>
            <a:r>
              <a:rPr lang="zh-CN" altLang="en-US" sz="1600"/>
              <a:t>或分布式框架（如 </a:t>
            </a:r>
            <a:r>
              <a:rPr lang="en-US" altLang="zh-CN" sz="1600"/>
              <a:t>CUDA/OpenMP</a:t>
            </a:r>
            <a:r>
              <a:rPr lang="zh-CN" altLang="en-US" sz="1600"/>
              <a:t>），实现数百子群并行。</a:t>
            </a:r>
            <a:endParaRPr lang="zh-CN" altLang="en-US" sz="1600"/>
          </a:p>
        </p:txBody>
      </p:sp>
    </p:spTree>
  </p:cSld>
  <p:clrMapOvr>
    <a:masterClrMapping/>
  </p:clrMapOvr>
  <p:transition spd="slow">
    <p:cover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35361" y="116633"/>
            <a:ext cx="11569986" cy="6681374"/>
            <a:chOff x="335361" y="116633"/>
            <a:chExt cx="11569986" cy="6681374"/>
          </a:xfrm>
        </p:grpSpPr>
        <p:grpSp>
          <p:nvGrpSpPr>
            <p:cNvPr id="3" name="组合 2"/>
            <p:cNvGrpSpPr/>
            <p:nvPr/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8" name="平行四边形 7"/>
              <p:cNvSpPr/>
              <p:nvPr/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chemeClr val="accent1">
                  <a:lumMod val="100000"/>
                </a:schemeClr>
              </a:solidFill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/>
              <p:cNvSpPr/>
              <p:nvPr/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4" name="直接连接符 3"/>
            <p:cNvCxnSpPr/>
            <p:nvPr/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chemeClr val="accent1">
                  <a:lumMod val="100000"/>
                </a:schemeClr>
              </a:solidFill>
              <a:prstDash val="solid"/>
            </a:ln>
            <a:effectLst/>
          </p:spPr>
        </p:cxnSp>
        <p:sp>
          <p:nvSpPr>
            <p:cNvPr id="5" name="文本占位符 5"/>
            <p:cNvSpPr txBox="1"/>
            <p:nvPr/>
          </p:nvSpPr>
          <p:spPr>
            <a:xfrm>
              <a:off x="1127448" y="193957"/>
              <a:ext cx="5040313" cy="6127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1" kern="1200">
                  <a:solidFill>
                    <a:srgbClr val="024282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100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 </a:t>
              </a: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0805366" y="6428675"/>
              <a:ext cx="10999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JUNE 12</a:t>
              </a:r>
              <a:r>
                <a:rPr kumimoji="0" lang="en-US" altLang="zh-CN" sz="1800" b="1" i="0" u="none" strike="noStrike" kern="0" cap="none" spc="0" normalizeH="0" baseline="3000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th</a:t>
              </a:r>
              <a:endParaRPr kumimoji="0" lang="zh-CN" altLang="en-US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5" name="矩形 14"/>
          <p:cNvSpPr/>
          <p:nvPr/>
        </p:nvSpPr>
        <p:spPr>
          <a:xfrm>
            <a:off x="621847" y="2670828"/>
            <a:ext cx="10183766" cy="16148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sz="6600" b="1" i="1" dirty="0">
                <a:solidFill>
                  <a:schemeClr val="accent1">
                    <a:lumMod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谢谢</a:t>
            </a:r>
            <a:endParaRPr lang="zh-CN" sz="6600" b="1" i="1" dirty="0">
              <a:solidFill>
                <a:schemeClr val="accent1">
                  <a:lumMod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slow">
    <p:cover/>
  </p:transition>
</p:sld>
</file>

<file path=ppt/tags/tag1.xml><?xml version="1.0" encoding="utf-8"?>
<p:tagLst xmlns:p="http://schemas.openxmlformats.org/presentationml/2006/main">
  <p:tag name="PA" val="v5.2.9"/>
</p:tagLst>
</file>

<file path=ppt/tags/tag2.xml><?xml version="1.0" encoding="utf-8"?>
<p:tagLst xmlns:p="http://schemas.openxmlformats.org/presentationml/2006/main">
  <p:tag name="PA" val="v5.2.9"/>
</p:tagLst>
</file>

<file path=ppt/tags/tag3.xml><?xml version="1.0" encoding="utf-8"?>
<p:tagLst xmlns:p="http://schemas.openxmlformats.org/presentationml/2006/main">
  <p:tag name="PA" val="v5.2.9"/>
  <p:tag name="KSO_WM_DIAGRAM_VIRTUALLY_FRAME" val="{&quot;height&quot;:390.7438582677165,&quot;left&quot;:510.1675590551181,&quot;top&quot;:54.448818897637786,&quot;width&quot;:337.2855905511812}"/>
</p:tagLst>
</file>

<file path=ppt/tags/tag4.xml><?xml version="1.0" encoding="utf-8"?>
<p:tagLst xmlns:p="http://schemas.openxmlformats.org/presentationml/2006/main">
  <p:tag name="PA" val="v5.2.9"/>
  <p:tag name="KSO_WM_DIAGRAM_VIRTUALLY_FRAME" val="{&quot;height&quot;:390.7438582677165,&quot;left&quot;:510.1675590551181,&quot;top&quot;:54.448818897637786,&quot;width&quot;:337.2855905511812}"/>
</p:tagLst>
</file>

<file path=ppt/tags/tag5.xml><?xml version="1.0" encoding="utf-8"?>
<p:tagLst xmlns:p="http://schemas.openxmlformats.org/presentationml/2006/main">
  <p:tag name="PA" val="v5.2.9"/>
  <p:tag name="KSO_WM_DIAGRAM_VIRTUALLY_FRAME" val="{&quot;height&quot;:390.7438582677165,&quot;left&quot;:510.1675590551181,&quot;top&quot;:54.448818897637786,&quot;width&quot;:337.2855905511812}"/>
</p:tagLst>
</file>

<file path=ppt/tags/tag6.xml><?xml version="1.0" encoding="utf-8"?>
<p:tagLst xmlns:p="http://schemas.openxmlformats.org/presentationml/2006/main">
  <p:tag name="PA" val="v5.2.9"/>
  <p:tag name="KSO_WM_DIAGRAM_VIRTUALLY_FRAME" val="{&quot;height&quot;:390.7438582677165,&quot;left&quot;:510.1675590551181,&quot;top&quot;:54.448818897637786,&quot;width&quot;:337.2855905511812}"/>
</p:tagLst>
</file>

<file path=ppt/tags/tag7.xml><?xml version="1.0" encoding="utf-8"?>
<p:tagLst xmlns:p="http://schemas.openxmlformats.org/presentationml/2006/main">
  <p:tag name="PA" val="v5.2.9"/>
  <p:tag name="KSO_WM_DIAGRAM_VIRTUALLY_FRAME" val="{&quot;height&quot;:390.7438582677165,&quot;left&quot;:510.1675590551181,&quot;top&quot;:54.448818897637786,&quot;width&quot;:337.2855905511812}"/>
</p:tagLst>
</file>

<file path=ppt/tags/tag8.xml><?xml version="1.0" encoding="utf-8"?>
<p:tagLst xmlns:p="http://schemas.openxmlformats.org/presentationml/2006/main">
  <p:tag name="PA" val="v5.2.9"/>
  <p:tag name="KSO_WM_DIAGRAM_VIRTUALLY_FRAME" val="{&quot;height&quot;:390.7438582677165,&quot;left&quot;:510.1675590551181,&quot;top&quot;:54.448818897637786,&quot;width&quot;:337.2855905511812}"/>
</p:tagLst>
</file>

<file path=ppt/tags/tag9.xml><?xml version="1.0" encoding="utf-8"?>
<p:tagLst xmlns:p="http://schemas.openxmlformats.org/presentationml/2006/main">
  <p:tag name="PA" val="v5.2.9"/>
  <p:tag name="KSO_WM_DIAGRAM_VIRTUALLY_FRAME" val="{&quot;height&quot;:390.7438582677165,&quot;left&quot;:510.1675590551181,&quot;top&quot;:54.448818897637786,&quot;width&quot;:337.2855905511812}"/>
</p:tagLst>
</file>

<file path=ppt/tags/tag10.xml><?xml version="1.0" encoding="utf-8"?>
<p:tagLst xmlns:p="http://schemas.openxmlformats.org/presentationml/2006/main">
  <p:tag name="PA" val="v5.2.9"/>
  <p:tag name="KSO_WM_DIAGRAM_VIRTUALLY_FRAME" val="{&quot;height&quot;:390.7438582677165,&quot;left&quot;:510.1675590551181,&quot;top&quot;:54.448818897637786,&quot;width&quot;:337.2855905511812}"/>
</p:tagLst>
</file>

<file path=ppt/tags/tag11.xml><?xml version="1.0" encoding="utf-8"?>
<p:tagLst xmlns:p="http://schemas.openxmlformats.org/presentationml/2006/main">
  <p:tag name="PA" val="v5.2.9"/>
  <p:tag name="KSO_WM_DIAGRAM_VIRTUALLY_FRAME" val="{&quot;height&quot;:390.7438582677165,&quot;left&quot;:510.1675590551181,&quot;top&quot;:54.448818897637786,&quot;width&quot;:337.2855905511812}"/>
</p:tagLst>
</file>

<file path=ppt/tags/tag12.xml><?xml version="1.0" encoding="utf-8"?>
<p:tagLst xmlns:p="http://schemas.openxmlformats.org/presentationml/2006/main">
  <p:tag name="PA" val="v5.2.9"/>
  <p:tag name="KSO_WM_DIAGRAM_VIRTUALLY_FRAME" val="{&quot;height&quot;:390.7438582677165,&quot;left&quot;:510.1675590551181,&quot;top&quot;:54.448818897637786,&quot;width&quot;:337.2855905511812}"/>
</p:tagLst>
</file>

<file path=ppt/tags/tag13.xml><?xml version="1.0" encoding="utf-8"?>
<p:tagLst xmlns:p="http://schemas.openxmlformats.org/presentationml/2006/main">
  <p:tag name="PA" val="v5.2.9"/>
  <p:tag name="KSO_WM_DIAGRAM_VIRTUALLY_FRAME" val="{&quot;height&quot;:390.7438582677165,&quot;left&quot;:510.1675590551181,&quot;top&quot;:54.448818897637786,&quot;width&quot;:337.2855905511812}"/>
</p:tagLst>
</file>

<file path=ppt/tags/tag14.xml><?xml version="1.0" encoding="utf-8"?>
<p:tagLst xmlns:p="http://schemas.openxmlformats.org/presentationml/2006/main">
  <p:tag name="PA" val="v5.2.9"/>
  <p:tag name="KSO_WM_DIAGRAM_VIRTUALLY_FRAME" val="{&quot;height&quot;:390.7438582677165,&quot;left&quot;:510.1675590551181,&quot;top&quot;:54.448818897637786,&quot;width&quot;:337.2855905511812}"/>
</p:tagLst>
</file>

<file path=ppt/tags/tag15.xml><?xml version="1.0" encoding="utf-8"?>
<p:tagLst xmlns:p="http://schemas.openxmlformats.org/presentationml/2006/main">
  <p:tag name="PA" val="v5.2.9"/>
  <p:tag name="KSO_WM_DIAGRAM_VIRTUALLY_FRAME" val="{&quot;height&quot;:390.7438582677165,&quot;left&quot;:510.1675590551181,&quot;top&quot;:54.448818897637786,&quot;width&quot;:337.2855905511812}"/>
</p:tagLst>
</file>

<file path=ppt/tags/tag16.xml><?xml version="1.0" encoding="utf-8"?>
<p:tagLst xmlns:p="http://schemas.openxmlformats.org/presentationml/2006/main">
  <p:tag name="PA" val="v5.2.9"/>
  <p:tag name="KSO_WM_DIAGRAM_VIRTUALLY_FRAME" val="{&quot;height&quot;:390.7438582677165,&quot;left&quot;:510.1675590551181,&quot;top&quot;:54.448818897637786,&quot;width&quot;:337.2855905511812}"/>
</p:tagLst>
</file>

<file path=ppt/tags/tag17.xml><?xml version="1.0" encoding="utf-8"?>
<p:tagLst xmlns:p="http://schemas.openxmlformats.org/presentationml/2006/main">
  <p:tag name="PA" val="v5.2.9"/>
  <p:tag name="KSO_WM_DIAGRAM_VIRTUALLY_FRAME" val="{&quot;height&quot;:390.7438582677165,&quot;left&quot;:510.1675590551181,&quot;top&quot;:54.448818897637786,&quot;width&quot;:337.2855905511812}"/>
</p:tagLst>
</file>

<file path=ppt/tags/tag18.xml><?xml version="1.0" encoding="utf-8"?>
<p:tagLst xmlns:p="http://schemas.openxmlformats.org/presentationml/2006/main">
  <p:tag name="PA" val="v5.2.9"/>
</p:tagLst>
</file>

<file path=ppt/tags/tag19.xml><?xml version="1.0" encoding="utf-8"?>
<p:tagLst xmlns:p="http://schemas.openxmlformats.org/presentationml/2006/main">
  <p:tag name="PA" val="v5.2.9"/>
</p:tagLst>
</file>

<file path=ppt/tags/tag20.xml><?xml version="1.0" encoding="utf-8"?>
<p:tagLst xmlns:p="http://schemas.openxmlformats.org/presentationml/2006/main">
  <p:tag name="PA" val="v5.2.9"/>
  <p:tag name="KSO_WM_DIAGRAM_VIRTUALLY_FRAME" val="{&quot;height&quot;:390.7438582677165,&quot;left&quot;:510.1675590551181,&quot;top&quot;:54.448818897637786,&quot;width&quot;:337.2855905511812}"/>
</p:tagLst>
</file>

<file path=ppt/tags/tag21.xml><?xml version="1.0" encoding="utf-8"?>
<p:tagLst xmlns:p="http://schemas.openxmlformats.org/presentationml/2006/main">
  <p:tag name="PA" val="v5.2.9"/>
</p:tagLst>
</file>

<file path=ppt/tags/tag22.xml><?xml version="1.0" encoding="utf-8"?>
<p:tagLst xmlns:p="http://schemas.openxmlformats.org/presentationml/2006/main">
  <p:tag name="PA" val="v5.2.9"/>
</p:tagLst>
</file>

<file path=ppt/tags/tag23.xml><?xml version="1.0" encoding="utf-8"?>
<p:tagLst xmlns:p="http://schemas.openxmlformats.org/presentationml/2006/main">
  <p:tag name="PA" val="v5.2.9"/>
</p:tagLst>
</file>

<file path=ppt/tags/tag24.xml><?xml version="1.0" encoding="utf-8"?>
<p:tagLst xmlns:p="http://schemas.openxmlformats.org/presentationml/2006/main">
  <p:tag name="PA" val="v5.2.9"/>
</p:tagLst>
</file>

<file path=ppt/tags/tag25.xml><?xml version="1.0" encoding="utf-8"?>
<p:tagLst xmlns:p="http://schemas.openxmlformats.org/presentationml/2006/main">
  <p:tag name="PA" val="v5.2.9"/>
</p:tagLst>
</file>

<file path=ppt/tags/tag26.xml><?xml version="1.0" encoding="utf-8"?>
<p:tagLst xmlns:p="http://schemas.openxmlformats.org/presentationml/2006/main">
  <p:tag name="PA" val="v5.2.9"/>
</p:tagLst>
</file>

<file path=ppt/tags/tag27.xml><?xml version="1.0" encoding="utf-8"?>
<p:tagLst xmlns:p="http://schemas.openxmlformats.org/presentationml/2006/main">
  <p:tag name="PA" val="v5.2.9"/>
</p:tagLst>
</file>

<file path=ppt/tags/tag28.xml><?xml version="1.0" encoding="utf-8"?>
<p:tagLst xmlns:p="http://schemas.openxmlformats.org/presentationml/2006/main">
  <p:tag name="PA" val="v5.2.9"/>
</p:tagLst>
</file>

<file path=ppt/tags/tag29.xml><?xml version="1.0" encoding="utf-8"?>
<p:tagLst xmlns:p="http://schemas.openxmlformats.org/presentationml/2006/main">
  <p:tag name="PA" val="v5.2.9"/>
</p:tagLst>
</file>

<file path=ppt/tags/tag30.xml><?xml version="1.0" encoding="utf-8"?>
<p:tagLst xmlns:p="http://schemas.openxmlformats.org/presentationml/2006/main">
  <p:tag name="PA" val="v5.2.9"/>
</p:tagLst>
</file>

<file path=ppt/tags/tag31.xml><?xml version="1.0" encoding="utf-8"?>
<p:tagLst xmlns:p="http://schemas.openxmlformats.org/presentationml/2006/main">
  <p:tag name="PA" val="v5.2.9"/>
</p:tagLst>
</file>

<file path=ppt/tags/tag32.xml><?xml version="1.0" encoding="utf-8"?>
<p:tagLst xmlns:p="http://schemas.openxmlformats.org/presentationml/2006/main">
  <p:tag name="PA" val="v5.2.9"/>
</p:tagLst>
</file>

<file path=ppt/tags/tag33.xml><?xml version="1.0" encoding="utf-8"?>
<p:tagLst xmlns:p="http://schemas.openxmlformats.org/presentationml/2006/main">
  <p:tag name="PA" val="v5.2.9"/>
</p:tagLst>
</file>

<file path=ppt/tags/tag34.xml><?xml version="1.0" encoding="utf-8"?>
<p:tagLst xmlns:p="http://schemas.openxmlformats.org/presentationml/2006/main">
  <p:tag name="PA" val="v5.2.9"/>
</p:tagLst>
</file>

<file path=ppt/tags/tag35.xml><?xml version="1.0" encoding="utf-8"?>
<p:tagLst xmlns:p="http://schemas.openxmlformats.org/presentationml/2006/main">
  <p:tag name="PA" val="v5.2.9"/>
</p:tagLst>
</file>

<file path=ppt/tags/tag36.xml><?xml version="1.0" encoding="utf-8"?>
<p:tagLst xmlns:p="http://schemas.openxmlformats.org/presentationml/2006/main">
  <p:tag name="PA" val="v5.2.9"/>
  <p:tag name="KSO_WM_DIAGRAM_VIRTUALLY_FRAME" val="{&quot;height&quot;:390.7438582677165,&quot;left&quot;:510.1675590551181,&quot;top&quot;:54.448818897637786,&quot;width&quot;:337.2855905511812}"/>
</p:tagLst>
</file>

<file path=ppt/tags/tag37.xml><?xml version="1.0" encoding="utf-8"?>
<p:tagLst xmlns:p="http://schemas.openxmlformats.org/presentationml/2006/main">
  <p:tag name="PA" val="v5.2.9"/>
  <p:tag name="KSO_WM_DIAGRAM_VIRTUALLY_FRAME" val="{&quot;height&quot;:390.7438582677165,&quot;left&quot;:510.1675590551181,&quot;top&quot;:54.448818897637786,&quot;width&quot;:337.2855905511812}"/>
</p:tagLst>
</file>

<file path=ppt/tags/tag38.xml><?xml version="1.0" encoding="utf-8"?>
<p:tagLst xmlns:p="http://schemas.openxmlformats.org/presentationml/2006/main">
  <p:tag name="PA" val="v5.2.9"/>
  <p:tag name="KSO_WM_DIAGRAM_VIRTUALLY_FRAME" val="{&quot;height&quot;:390.7438582677165,&quot;left&quot;:510.1675590551181,&quot;top&quot;:54.448818897637786,&quot;width&quot;:337.2855905511812}"/>
</p:tagLst>
</file>

<file path=ppt/tags/tag39.xml><?xml version="1.0" encoding="utf-8"?>
<p:tagLst xmlns:p="http://schemas.openxmlformats.org/presentationml/2006/main">
  <p:tag name="TABLE_ENDDRAG_ORIGIN_RECT" val="483*66"/>
  <p:tag name="TABLE_ENDDRAG_RECT" val="37*414*483*66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13A89"/>
      </a:accent1>
      <a:accent2>
        <a:srgbClr val="ED7D31"/>
      </a:accent2>
      <a:accent3>
        <a:srgbClr val="00A2E9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6B0261">
            <a:alpha val="82000"/>
          </a:srgbClr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ctr">
          <a:defRPr kern="0" dirty="0">
            <a:solidFill>
              <a:srgbClr val="FFFFFF"/>
            </a:solidFill>
            <a:latin typeface="Arial" panose="020B0604020202020204"/>
            <a:ea typeface="微软雅黑" panose="020B0503020204020204" charset="-122"/>
            <a:cs typeface="+mn-ea"/>
            <a:sym typeface="+mn-lt"/>
          </a:defRPr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13A89"/>
      </a:accent1>
      <a:accent2>
        <a:srgbClr val="ED7D31"/>
      </a:accent2>
      <a:accent3>
        <a:srgbClr val="00A2E9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6B0261">
            <a:alpha val="82000"/>
          </a:srgbClr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ctr">
          <a:defRPr kern="0" dirty="0">
            <a:solidFill>
              <a:srgbClr val="FFFFFF"/>
            </a:solidFill>
            <a:latin typeface="Arial" panose="020B0604020202020204"/>
            <a:ea typeface="微软雅黑" panose="020B0503020204020204" charset="-122"/>
            <a:cs typeface="+mn-ea"/>
            <a:sym typeface="+mn-lt"/>
          </a:defRPr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13A89"/>
    </a:accent1>
    <a:accent2>
      <a:srgbClr val="ED7D31"/>
    </a:accent2>
    <a:accent3>
      <a:srgbClr val="00A2E9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13A89"/>
    </a:accent1>
    <a:accent2>
      <a:srgbClr val="ED7D31"/>
    </a:accent2>
    <a:accent3>
      <a:srgbClr val="00A2E9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13A89"/>
    </a:accent1>
    <a:accent2>
      <a:srgbClr val="ED7D31"/>
    </a:accent2>
    <a:accent3>
      <a:srgbClr val="00A2E9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13A89"/>
    </a:accent1>
    <a:accent2>
      <a:srgbClr val="ED7D31"/>
    </a:accent2>
    <a:accent3>
      <a:srgbClr val="00A2E9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13A89"/>
    </a:accent1>
    <a:accent2>
      <a:srgbClr val="ED7D31"/>
    </a:accent2>
    <a:accent3>
      <a:srgbClr val="00A2E9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13A89"/>
    </a:accent1>
    <a:accent2>
      <a:srgbClr val="ED7D31"/>
    </a:accent2>
    <a:accent3>
      <a:srgbClr val="00A2E9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13A89"/>
    </a:accent1>
    <a:accent2>
      <a:srgbClr val="ED7D31"/>
    </a:accent2>
    <a:accent3>
      <a:srgbClr val="00A2E9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13A89"/>
    </a:accent1>
    <a:accent2>
      <a:srgbClr val="ED7D31"/>
    </a:accent2>
    <a:accent3>
      <a:srgbClr val="00A2E9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13A89"/>
    </a:accent1>
    <a:accent2>
      <a:srgbClr val="ED7D31"/>
    </a:accent2>
    <a:accent3>
      <a:srgbClr val="00A2E9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13A89"/>
    </a:accent1>
    <a:accent2>
      <a:srgbClr val="ED7D31"/>
    </a:accent2>
    <a:accent3>
      <a:srgbClr val="00A2E9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13A89"/>
    </a:accent1>
    <a:accent2>
      <a:srgbClr val="ED7D31"/>
    </a:accent2>
    <a:accent3>
      <a:srgbClr val="00A2E9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13A89"/>
    </a:accent1>
    <a:accent2>
      <a:srgbClr val="ED7D31"/>
    </a:accent2>
    <a:accent3>
      <a:srgbClr val="00A2E9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3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13A89"/>
    </a:accent1>
    <a:accent2>
      <a:srgbClr val="ED7D31"/>
    </a:accent2>
    <a:accent3>
      <a:srgbClr val="00A2E9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4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13A89"/>
    </a:accent1>
    <a:accent2>
      <a:srgbClr val="ED7D31"/>
    </a:accent2>
    <a:accent3>
      <a:srgbClr val="00A2E9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5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13A89"/>
    </a:accent1>
    <a:accent2>
      <a:srgbClr val="ED7D31"/>
    </a:accent2>
    <a:accent3>
      <a:srgbClr val="00A2E9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6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13A89"/>
    </a:accent1>
    <a:accent2>
      <a:srgbClr val="ED7D31"/>
    </a:accent2>
    <a:accent3>
      <a:srgbClr val="00A2E9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7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13A89"/>
    </a:accent1>
    <a:accent2>
      <a:srgbClr val="ED7D31"/>
    </a:accent2>
    <a:accent3>
      <a:srgbClr val="00A2E9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8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13A89"/>
    </a:accent1>
    <a:accent2>
      <a:srgbClr val="ED7D31"/>
    </a:accent2>
    <a:accent3>
      <a:srgbClr val="00A2E9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9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13A89"/>
    </a:accent1>
    <a:accent2>
      <a:srgbClr val="ED7D31"/>
    </a:accent2>
    <a:accent3>
      <a:srgbClr val="00A2E9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0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13A89"/>
    </a:accent1>
    <a:accent2>
      <a:srgbClr val="ED7D31"/>
    </a:accent2>
    <a:accent3>
      <a:srgbClr val="00A2E9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13A89"/>
    </a:accent1>
    <a:accent2>
      <a:srgbClr val="ED7D31"/>
    </a:accent2>
    <a:accent3>
      <a:srgbClr val="00A2E9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2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13A89"/>
    </a:accent1>
    <a:accent2>
      <a:srgbClr val="ED7D31"/>
    </a:accent2>
    <a:accent3>
      <a:srgbClr val="00A2E9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3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13A89"/>
    </a:accent1>
    <a:accent2>
      <a:srgbClr val="ED7D31"/>
    </a:accent2>
    <a:accent3>
      <a:srgbClr val="00A2E9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4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13A89"/>
    </a:accent1>
    <a:accent2>
      <a:srgbClr val="ED7D31"/>
    </a:accent2>
    <a:accent3>
      <a:srgbClr val="00A2E9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5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13A89"/>
    </a:accent1>
    <a:accent2>
      <a:srgbClr val="ED7D31"/>
    </a:accent2>
    <a:accent3>
      <a:srgbClr val="00A2E9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6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13A89"/>
    </a:accent1>
    <a:accent2>
      <a:srgbClr val="ED7D31"/>
    </a:accent2>
    <a:accent3>
      <a:srgbClr val="00A2E9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7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13A89"/>
    </a:accent1>
    <a:accent2>
      <a:srgbClr val="ED7D31"/>
    </a:accent2>
    <a:accent3>
      <a:srgbClr val="00A2E9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8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13A89"/>
    </a:accent1>
    <a:accent2>
      <a:srgbClr val="ED7D31"/>
    </a:accent2>
    <a:accent3>
      <a:srgbClr val="00A2E9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9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13A89"/>
    </a:accent1>
    <a:accent2>
      <a:srgbClr val="ED7D31"/>
    </a:accent2>
    <a:accent3>
      <a:srgbClr val="00A2E9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0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13A89"/>
    </a:accent1>
    <a:accent2>
      <a:srgbClr val="ED7D31"/>
    </a:accent2>
    <a:accent3>
      <a:srgbClr val="00A2E9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13A89"/>
    </a:accent1>
    <a:accent2>
      <a:srgbClr val="ED7D31"/>
    </a:accent2>
    <a:accent3>
      <a:srgbClr val="00A2E9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2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13A89"/>
    </a:accent1>
    <a:accent2>
      <a:srgbClr val="ED7D31"/>
    </a:accent2>
    <a:accent3>
      <a:srgbClr val="00A2E9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3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13A89"/>
    </a:accent1>
    <a:accent2>
      <a:srgbClr val="ED7D31"/>
    </a:accent2>
    <a:accent3>
      <a:srgbClr val="00A2E9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6712</Words>
  <Application>WPS 演示</Application>
  <PresentationFormat>宽屏</PresentationFormat>
  <Paragraphs>753</Paragraphs>
  <Slides>34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34</vt:i4>
      </vt:variant>
    </vt:vector>
  </HeadingPairs>
  <TitlesOfParts>
    <vt:vector size="53" baseType="lpstr">
      <vt:lpstr>Arial</vt:lpstr>
      <vt:lpstr>宋体</vt:lpstr>
      <vt:lpstr>Wingdings</vt:lpstr>
      <vt:lpstr>Arial</vt:lpstr>
      <vt:lpstr>微软雅黑</vt:lpstr>
      <vt:lpstr>华文行楷</vt:lpstr>
      <vt:lpstr>阿里巴巴普惠体 B</vt:lpstr>
      <vt:lpstr>等线</vt:lpstr>
      <vt:lpstr>Impact</vt:lpstr>
      <vt:lpstr>Arial Black</vt:lpstr>
      <vt:lpstr>Calibri</vt:lpstr>
      <vt:lpstr>阿里巴巴普惠体 R</vt:lpstr>
      <vt:lpstr>Segoe Print</vt:lpstr>
      <vt:lpstr>阿里巴巴普惠体 M</vt:lpstr>
      <vt:lpstr>Arial Unicode MS</vt:lpstr>
      <vt:lpstr>等线 Light</vt:lpstr>
      <vt:lpstr>BatangChe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ASUS</dc:creator>
  <cp:lastModifiedBy>WPS_1601818477</cp:lastModifiedBy>
  <cp:revision>58</cp:revision>
  <dcterms:created xsi:type="dcterms:W3CDTF">2020-08-12T02:12:00Z</dcterms:created>
  <dcterms:modified xsi:type="dcterms:W3CDTF">2025-10-29T14:07:59Z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036276D5B00E4DAEB260FCFBF3E8FA4B_13</vt:lpwstr>
  </property>
  <property fmtid="{D5CDD505-2E9C-101B-9397-08002B2CF9AE}" pid="3" name="KSOProductBuildVer">
    <vt:lpwstr>2052-12.1.0.23125</vt:lpwstr>
  </property>
</Properties>
</file>